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0:00–0:15 (15 s).
Say: "Can one digital legal-aid system serve five very different citizens, seven provider roles and eleven technical challenges without splitting the case record or replacing human judgment? This is DLAS: five doors, one record."
Point at the QR code: the jury can open the live prototype now. All data is fictional; 16699 is a web simulation, not a live call.
Before the pitch: open the site about 5 minutes early so the API is awake, and test-scan this slide from the room with two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0:15–1:00 (45 s).
Left: five doors — the 16699 voice route (simulated on the web), a low-data light mode, web/mobile PWA, assisted access at a UDC, and DLAO walk-in or referral. Every door writes to the same record.
Centre: the Application ID is created at submission. The Case ID exists only after a human DLAO officer accepts. Facts, provenance, consent, safe contact, documents, tasks and audit stay on that one record — nobody re-enters the story.
Right: the seven provider roles all work on that record, each seeing only what their role allows.
Bottom: the four layers the challenge asks for. 5 citizens + 7 roles + 11 technical challenges = 23 mandatory items, shown through six connected flows instead of 23 separate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1:00–2:00 (1 min). Covers A1 Moyuri, A2 Ripon, B3 helpline, B1 DLAO officer, T5.
Click path: open /voice → Call. Press 1 (complaint), then 2 (calling as a representative). Give fictional Ripon as caller and brother, fictional Moyuri as the victim, and the district. Press 2 for "NID not known", give the fictional account, press 2 for no current safety risk. Choose a safe contact route.
At read-back, correct one field, then press 1 to submit: the call reads out the Application ID and the 6-digit status PIN. There is no Case ID yet.
Sign in as the DLAO officer, search the exact Application ID: representation, applicant confirmation pending, representative-reported facts, the review task.
Click "Simulate call: unknown person answers": the neutral words reveal nothing; the attempt is logged with a safer follow-up task.
Say honestly: the keyboard-only path is tested; validation with a blind user is still pending, and Moyuri's own confirmation screen is not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2:00–3:00 (1 min). Covers A4 Nuching, B4 UDC entrepreneur, T6 document agent, T10 low-bandwidth PWA. (Offline sync, T9, is kept for the Bad Day slide.)
Click path: sign in as the UDC operator → Assisted intake and offline drafts. Read the free-service notice, enter a local passphrase, select "Load fictional Nuching example".
Show the separate applicant / helper / translator / typist roles, the Marma original next to the Bangla translation, consent and confirmation states, and the safe contact (the helper's phone is not the applicant's contact).
Sign in as the DLAO officer, open the Application, upload the six fictional text samples and generate the provisional document briefing. Click "Open source" on one quoted point. Show the missing witness item and the unreadable deed flagged as uncertain.
Toggle Light mode: the shell stays usable on a weak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3:00–4:00 (1 min). Covers B1 DLAO officer, B7 case support, T3 related incidents, T4 duplicate review, T8 multi-agent triage.
Click path: sign in as the DLAO officer. Show the shared queue: flag reasons, age/status, owner, next action.
Open the seeded triage-disagreement Application → Run triage. Compare the component recommendations and evidence, point at the separate routing/jurisdiction prompt, and record a reasoned disposition. The review does not change priority or route.
Open the "Fictional factory fire — separate claims" group: three separate Cases, one shared evidence reference, no copy or merge.
Search the seeded look-alike duplicate pair: inspect matching and differing attributes, record a reason, mark them different. Both Applications stay separate.
If time allows: sign in as case support and open the reconstruction with the audit integrity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4:00–5:00 (1 min). Covers B2 mediator (with the CLAO certifying), T7 settlement draft, T11 offline e-signature.
Step 1 — the DLAO officer starts mediation and either runs it or appoints a mediator.
Step 2 — Safety &amp; consent: safe for the applicant, the applicant agrees, is available, the other party is willing. No later step runs until a person confirms all four; a "Not safe" decision stops the mediation, and a party with a signing code is told nothing about why.
LIVE DEMO TIP: Rashida's seeded mediation (APP-2026-000008) was created before this check existed. Tick all four boxes, write a short note, and press Consent Confirmed before continuing.
If the CLAO returns the draft for correction, the signed version stays on record and everyone signs the new version with fresh codes.
Step 3 — schedule: mode (in person, remote or hybrid), joint or separate session, language. Step 4 — session notes for each side. Step 5 — issue-by-issue terms. Step 6 — the decision after mediation.
Step 7 — settlement draft: AI only suggests wording, the mediator reviews every field and warning, and both parties confirm they understand.
Step 8 — separate one-time codes: each party signs in their own session; one signs offline and then syncs. Step 9 — the CLAO checks the signatures, records the legal basis, and certifies or returns the draft for correction. Step 10 — certified record. Step 11 — follow-up and compliance.
Say: a signature or certificate is integrity-verifiable, but it is not proof of identity and not a court decree.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5:00–6:00 (1 min). Covers A3 Nabila, B1 DLAO officer, B6 receiving DLAO, T2 jurisdiction ping-pong.
Click path: sign in as the DLAO officer and open the seeded fictional Nabila Application. Review the urgency reasons and record the human priority decision.
Inspect the restricted-evidence metadata. Create a referral with history, expected action, deadline and a named receiving DLAO; share restricted evidence only with a recorded necessity reason.
Sign in as the receiving DLAO: read the package and the safe-contact rules. A user who is not responsible cannot open the restricted item, and the denial is audited.
Return with a reason; after the second return the escalation blocks further transfers until the owning officer records a reasoned routing decision.
Leave a short-deadline referral unacknowledged: an overdue follow-up task and audit event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6:00–7:00 (1 min). Covers A5 Malek, B5 panel lawyer, B3 helpline, T1 lawyer accountability.
Click path: sign in as the DLAO officer and open the seeded fictional Malek record (APP-2026-000006). Show the hearing date, the applicant-safe next action and the contact log: the shop owner answered (nothing disclosed, next attempt planned), then a retry reached Malek.
Show the lawyer's two missed required updates: the overdue alert, the temporary new-assignment hold, and the officer's continue/lift decision. No misconduct finding, automatic reassignment or payment recovery.
Ask by Voice (home page, Track card): say the request, the number digit by digit, "yes" to the read-back, "yes" to listening privately, then the PIN. The PIN is in the private demo credentials — never show it on screen. If the local voice service is not running, type the number and PIN instead.
Mention: a citizen can request a lawyer change; the old lawyer stays assigned until the replacement accepts.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7:00–8:00 (1 min). The one planned failure: T9 offline-first sync on Nuching's intake.
Click path: sign in as the UDC operator → Assisted intake and offline drafts, with the fictional Nuching example loaded. In the browser's network controls, go offline.
Change the fictional original statement and select "Queue encrypted application". Retry once: the retry keeps the same temporary and mutation IDs.
Reconnect: the queued Application syncs once and the encrypted local queue clears. A repeated retry does not create another Application.
Sign in as the DLAO officer and search: exactly one Application.
Close with: each of the other eleven bad-day checks on the right has its own automated test — the jury can ask to see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8:00–9:00 (1 min).
Providers: the story is entered once and follows the record, so nobody re-types it at a referral, a mediation or a lawyer assignment. The queue tells each officer the owner and the next action. Document briefings cite their source lines, so checking is faster. Overdue referrals and lawyer updates raise follow-up tasks on their own instead of relying on memory.
Citizens: Malek and Ripon can use voice without reading; Nuching gets help at a UDC with her own words kept next to the translation; Moyuri is protected because the wrong person hears nothing; weak networks do not lose work.
Do not quote time-saving numbers: none have been measured yet. The pilot metrics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9:00–10:00 (1 min).
Fit: the workflow mirrors how legal aid already works — an Application, a human DLAO acceptance, then a Case. Humans keep eligibility, priority, jurisdiction, lawyer assignment, mediation outcome and closure.
Stack: plain-JavaScript MERN with an installable PWA; the web frontend is on Vercel. AI is optional and every AI step has a manual or rule-based fallback.
Scaling needs: a real 16699 telephony integration (today it is a web simulation), an always-on service for deadline timers, distributed rate limiting, and law-team approval of the placeholder policies (urgency criteria, thresholds, caller-verification wording).
Metrics for a pilot: safe-contact compliance, one-record continuity, accessible completion, tracked responsibility, resilient recovery. We are not claiming values yet.
Close: "One record, five doors, humans in charge." Then move to the closing slide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Leave this slide up so the jury can scan the QR code. The two backup slides after this one map every one of the 23 items to its flow, page and automated test, and list the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Citizen items A1–A5 and provider roles B1–B7, each with the flow that shows it, the page to open and its automated test. A1 and A2 are honestly marked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Technical challenges T1–T11, each with the flow that shows it, the page to open and its automated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Amber items are pending work or approvals; the others are deliberate boundaries of the prototype. Use this slide if the jury asks what is real and what 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legal-tech-rosy.vercel.app/" TargetMode="Externa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legal-tech-rosy.vercel.app/" TargetMode="Externa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562D"/>
        </a:solidFill>
      </p:bgPr>
    </p:bg>
    <p:spTree>
      <p:nvGrpSpPr>
        <p:cNvPr id="1" name=""/>
        <p:cNvGrpSpPr/>
        <p:nvPr/>
      </p:nvGrpSpPr>
      <p:grpSpPr>
        <a:xfrm>
          <a:off x="0" y="0"/>
          <a:ext cx="0" cy="0"/>
          <a:chOff x="0" y="0"/>
          <a:chExt cx="0" cy="0"/>
        </a:xfrm>
      </p:grpSpPr>
      <p:sp>
        <p:nvSpPr>
          <p:cNvPr id="2" name="Text 0"/>
          <p:cNvSpPr txBox="1"/>
          <p:nvPr/>
        </p:nvSpPr>
        <p:spPr>
          <a:xfrm>
            <a:off x="640080" y="868680"/>
            <a:ext cx="6400800" cy="292608"/>
          </a:xfrm>
          <a:prstGeom prst="rect">
            <a:avLst/>
          </a:prstGeom>
          <a:noFill/>
          <a:ln/>
        </p:spPr>
        <p:txBody>
          <a:bodyPr wrap="square" lIns="0" tIns="0" rIns="0" bIns="0" rtlCol="0" anchor="t"/>
          <a:lstStyle/>
          <a:p>
            <a:pPr indent="0" marL="0">
              <a:buNone/>
            </a:pPr>
            <a:r>
              <a:rPr lang="en-US" sz="1300" b="1" spc="200" kern="0" dirty="0">
                <a:solidFill>
                  <a:srgbClr val="EDF3EC"/>
                </a:solidFill>
                <a:latin typeface="Calibri" pitchFamily="34" charset="0"/>
                <a:ea typeface="Calibri" pitchFamily="34" charset="-122"/>
                <a:cs typeface="Calibri" pitchFamily="34" charset="-120"/>
              </a:rPr>
              <a:t>ADLASB GRAND FINALE</a:t>
            </a:r>
            <a:endParaRPr lang="en-US" sz="1300" dirty="0"/>
          </a:p>
        </p:txBody>
      </p:sp>
      <p:sp>
        <p:nvSpPr>
          <p:cNvPr id="3" name="Text 1"/>
          <p:cNvSpPr txBox="1"/>
          <p:nvPr/>
        </p:nvSpPr>
        <p:spPr>
          <a:xfrm>
            <a:off x="640080" y="1234440"/>
            <a:ext cx="6766560" cy="1737360"/>
          </a:xfrm>
          <a:prstGeom prst="rect">
            <a:avLst/>
          </a:prstGeom>
          <a:noFill/>
          <a:ln/>
        </p:spPr>
        <p:txBody>
          <a:bodyPr wrap="square" lIns="0" tIns="0" rIns="0" bIns="0" rtlCol="0" anchor="t"/>
          <a:lstStyle/>
          <a:p>
            <a:pPr indent="0" marL="0">
              <a:buNone/>
            </a:pPr>
            <a:r>
              <a:rPr lang="en-US" sz="6600" b="1" dirty="0">
                <a:solidFill>
                  <a:srgbClr val="FFFFFF"/>
                </a:solidFill>
                <a:latin typeface="Cambria" pitchFamily="34" charset="0"/>
                <a:ea typeface="Cambria" pitchFamily="34" charset="-122"/>
                <a:cs typeface="Cambria" pitchFamily="34" charset="-120"/>
              </a:rPr>
              <a:t>DLAS</a:t>
            </a:r>
            <a:endParaRPr lang="en-US" sz="6600" dirty="0"/>
          </a:p>
          <a:p>
            <a:pPr indent="0" marL="0">
              <a:buNone/>
            </a:pPr>
            <a:r>
              <a:rPr lang="en-US" sz="3400" dirty="0">
                <a:solidFill>
                  <a:srgbClr val="FFFFFF"/>
                </a:solidFill>
                <a:latin typeface="Cambria" pitchFamily="34" charset="0"/>
                <a:ea typeface="Cambria" pitchFamily="34" charset="-122"/>
                <a:cs typeface="Cambria" pitchFamily="34" charset="-120"/>
              </a:rPr>
              <a:t>Digital Legal Aid System</a:t>
            </a:r>
            <a:endParaRPr lang="en-US" sz="6600" dirty="0"/>
          </a:p>
        </p:txBody>
      </p:sp>
      <p:sp>
        <p:nvSpPr>
          <p:cNvPr id="4" name="Text 2"/>
          <p:cNvSpPr txBox="1"/>
          <p:nvPr/>
        </p:nvSpPr>
        <p:spPr>
          <a:xfrm>
            <a:off x="640080" y="3063240"/>
            <a:ext cx="6766560" cy="411480"/>
          </a:xfrm>
          <a:prstGeom prst="rect">
            <a:avLst/>
          </a:prstGeom>
          <a:noFill/>
          <a:ln/>
        </p:spPr>
        <p:txBody>
          <a:bodyPr wrap="square" lIns="0" tIns="0" rIns="0" bIns="0" rtlCol="0" anchor="t"/>
          <a:lstStyle/>
          <a:p>
            <a:pPr indent="0" marL="0">
              <a:buNone/>
            </a:pPr>
            <a:r>
              <a:rPr lang="en-US" sz="2000" dirty="0">
                <a:solidFill>
                  <a:srgbClr val="EDF3EC"/>
                </a:solidFill>
                <a:latin typeface="Calibri" pitchFamily="34" charset="0"/>
                <a:ea typeface="Calibri" pitchFamily="34" charset="-122"/>
                <a:cs typeface="Calibri" pitchFamily="34" charset="-120"/>
              </a:rPr>
              <a:t>Five Doors, One Record · ADLASB Grand Finale</a:t>
            </a:r>
            <a:endParaRPr lang="en-US" sz="2000" dirty="0"/>
          </a:p>
        </p:txBody>
      </p:sp>
      <p:sp>
        <p:nvSpPr>
          <p:cNvPr id="5" name="Text 3"/>
          <p:cNvSpPr txBox="1"/>
          <p:nvPr/>
        </p:nvSpPr>
        <p:spPr>
          <a:xfrm>
            <a:off x="640080" y="4069080"/>
            <a:ext cx="6400800" cy="292608"/>
          </a:xfrm>
          <a:prstGeom prst="rect">
            <a:avLst/>
          </a:prstGeom>
          <a:noFill/>
          <a:ln/>
        </p:spPr>
        <p:txBody>
          <a:bodyPr wrap="square" lIns="0" tIns="0" rIns="0" bIns="0" rtlCol="0" anchor="t"/>
          <a:lstStyle/>
          <a:p>
            <a:pPr indent="0" marL="0">
              <a:buNone/>
            </a:pPr>
            <a:r>
              <a:rPr lang="en-US" sz="1300" b="1" spc="200" kern="0" dirty="0">
                <a:solidFill>
                  <a:srgbClr val="EDF3EC"/>
                </a:solidFill>
                <a:latin typeface="Calibri" pitchFamily="34" charset="0"/>
                <a:ea typeface="Calibri" pitchFamily="34" charset="-122"/>
                <a:cs typeface="Calibri" pitchFamily="34" charset="-120"/>
              </a:rPr>
              <a:t>TRY THE PROTOTYPE</a:t>
            </a:r>
            <a:endParaRPr lang="en-US" sz="1300" dirty="0"/>
          </a:p>
        </p:txBody>
      </p:sp>
      <p:sp>
        <p:nvSpPr>
          <p:cNvPr id="6" name="Text 4"/>
          <p:cNvSpPr txBox="1"/>
          <p:nvPr/>
        </p:nvSpPr>
        <p:spPr>
          <a:xfrm>
            <a:off x="640080" y="4407408"/>
            <a:ext cx="676656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legal-tech-rosy.vercel.app</a:t>
            </a:r>
            <a:endParaRPr lang="en-US" sz="3000" dirty="0"/>
          </a:p>
        </p:txBody>
      </p:sp>
      <p:sp>
        <p:nvSpPr>
          <p:cNvPr id="7" name="Text 5"/>
          <p:cNvSpPr txBox="1"/>
          <p:nvPr/>
        </p:nvSpPr>
        <p:spPr>
          <a:xfrm>
            <a:off x="640080" y="5806440"/>
            <a:ext cx="6766560" cy="320040"/>
          </a:xfrm>
          <a:prstGeom prst="rect">
            <a:avLst/>
          </a:prstGeom>
          <a:noFill/>
          <a:ln/>
        </p:spPr>
        <p:txBody>
          <a:bodyPr wrap="square" lIns="0" tIns="0" rIns="0" bIns="0" rtlCol="0" anchor="t"/>
          <a:lstStyle/>
          <a:p>
            <a:pPr indent="0" marL="0">
              <a:buNone/>
            </a:pPr>
            <a:r>
              <a:rPr lang="en-US" sz="1300" dirty="0">
                <a:solidFill>
                  <a:srgbClr val="EDF3EC"/>
                </a:solidFill>
                <a:latin typeface="Calibri" pitchFamily="34" charset="0"/>
                <a:ea typeface="Calibri" pitchFamily="34" charset="-122"/>
                <a:cs typeface="Calibri" pitchFamily="34" charset="-120"/>
              </a:rPr>
              <a:t>Fictional data only · 16699 is a web simulation</a:t>
            </a:r>
            <a:endParaRPr lang="en-US" sz="1300" dirty="0"/>
          </a:p>
        </p:txBody>
      </p:sp>
      <p:sp>
        <p:nvSpPr>
          <p:cNvPr id="8" name="Shape 6"/>
          <p:cNvSpPr/>
          <p:nvPr/>
        </p:nvSpPr>
        <p:spPr>
          <a:xfrm>
            <a:off x="7635240" y="1097280"/>
            <a:ext cx="4005072" cy="4005072"/>
          </a:xfrm>
          <a:prstGeom prst="roundRect">
            <a:avLst>
              <a:gd name="adj" fmla="val 4566"/>
            </a:avLst>
          </a:prstGeom>
          <a:solidFill>
            <a:srgbClr val="FFFFFF"/>
          </a:solidFill>
          <a:ln/>
        </p:spPr>
      </p:sp>
      <p:pic>
        <p:nvPicPr>
          <p:cNvPr id="9" name="Image 0" descr="QR code for legal-tech-rosy.vercel.app">
            <a:hlinkClick r:id="rId2" tooltip="legal-tech-rosy.vercel.app"/>
          </p:cNvPr>
          <p:cNvPicPr>
            <a:picLocks noChangeAspect="1"/>
          </p:cNvPicPr>
          <p:nvPr/>
        </p:nvPicPr>
        <p:blipFill>
          <a:blip r:embed="rId1"/>
          <a:stretch>
            <a:fillRect/>
          </a:stretch>
        </p:blipFill>
        <p:spPr>
          <a:xfrm>
            <a:off x="7982712" y="1444752"/>
            <a:ext cx="3310128" cy="3310128"/>
          </a:xfrm>
          <a:prstGeom prst="rect">
            <a:avLst/>
          </a:prstGeom>
        </p:spPr>
      </p:pic>
      <p:sp>
        <p:nvSpPr>
          <p:cNvPr id="10" name="Text 7"/>
          <p:cNvSpPr txBox="1"/>
          <p:nvPr/>
        </p:nvSpPr>
        <p:spPr>
          <a:xfrm>
            <a:off x="7635240" y="5230368"/>
            <a:ext cx="4005072" cy="329184"/>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Scan to open the prototype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8562D"/>
        </a:solidFill>
      </p:bgPr>
    </p:bg>
    <p:spTree>
      <p:nvGrpSpPr>
        <p:cNvPr id="1" name=""/>
        <p:cNvGrpSpPr/>
        <p:nvPr/>
      </p:nvGrpSpPr>
      <p:grpSpPr>
        <a:xfrm>
          <a:off x="0" y="0"/>
          <a:ext cx="0" cy="0"/>
          <a:chOff x="0" y="0"/>
          <a:chExt cx="0" cy="0"/>
        </a:xfrm>
      </p:grpSpPr>
      <p:sp>
        <p:nvSpPr>
          <p:cNvPr id="2" name="Text 0"/>
          <p:cNvSpPr txBox="1"/>
          <p:nvPr/>
        </p:nvSpPr>
        <p:spPr>
          <a:xfrm>
            <a:off x="548640" y="384048"/>
            <a:ext cx="713232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One system, not 23 islands</a:t>
            </a:r>
            <a:endParaRPr lang="en-US" sz="3800" dirty="0"/>
          </a:p>
        </p:txBody>
      </p:sp>
      <p:sp>
        <p:nvSpPr>
          <p:cNvPr id="3" name="Text 1"/>
          <p:cNvSpPr txBox="1"/>
          <p:nvPr/>
        </p:nvSpPr>
        <p:spPr>
          <a:xfrm>
            <a:off x="7589520" y="320040"/>
            <a:ext cx="4053535" cy="658368"/>
          </a:xfrm>
          <a:prstGeom prst="rect">
            <a:avLst/>
          </a:prstGeom>
          <a:noFill/>
          <a:ln/>
        </p:spPr>
        <p:txBody>
          <a:bodyPr wrap="square" lIns="0" tIns="0" rIns="0" bIns="0" rtlCol="0" anchor="ctr"/>
          <a:lstStyle/>
          <a:p>
            <a:pPr algn="r" indent="0" marL="0">
              <a:buNone/>
            </a:pPr>
            <a:r>
              <a:rPr lang="en-US" sz="3600" b="1" dirty="0">
                <a:solidFill>
                  <a:srgbClr val="FFFFFF"/>
                </a:solidFill>
                <a:latin typeface="Cambria" pitchFamily="34" charset="0"/>
                <a:ea typeface="Cambria" pitchFamily="34" charset="-122"/>
                <a:cs typeface="Cambria" pitchFamily="34" charset="-120"/>
              </a:rPr>
              <a:t>5 + 7 + 11 = 23</a:t>
            </a:r>
            <a:endParaRPr lang="en-US" sz="3600" dirty="0"/>
          </a:p>
        </p:txBody>
      </p:sp>
      <p:sp>
        <p:nvSpPr>
          <p:cNvPr id="4" name="Text 2"/>
          <p:cNvSpPr txBox="1"/>
          <p:nvPr/>
        </p:nvSpPr>
        <p:spPr>
          <a:xfrm>
            <a:off x="6675120" y="1005840"/>
            <a:ext cx="4967935" cy="274320"/>
          </a:xfrm>
          <a:prstGeom prst="rect">
            <a:avLst/>
          </a:prstGeom>
          <a:noFill/>
          <a:ln/>
        </p:spPr>
        <p:txBody>
          <a:bodyPr wrap="square" lIns="0" tIns="0" rIns="0" bIns="0" rtlCol="0" anchor="t"/>
          <a:lstStyle/>
          <a:p>
            <a:pPr algn="r" indent="0" marL="0">
              <a:buNone/>
            </a:pPr>
            <a:r>
              <a:rPr lang="en-US" sz="1150" dirty="0">
                <a:solidFill>
                  <a:srgbClr val="EDF3EC"/>
                </a:solidFill>
                <a:latin typeface="Calibri" pitchFamily="34" charset="0"/>
                <a:ea typeface="Calibri" pitchFamily="34" charset="-122"/>
                <a:cs typeface="Calibri" pitchFamily="34" charset="-120"/>
              </a:rPr>
              <a:t>citizens + provider roles + technical challenges = 23 mandatory items</a:t>
            </a:r>
            <a:endParaRPr lang="en-US" sz="1150" dirty="0"/>
          </a:p>
        </p:txBody>
      </p:sp>
      <p:sp>
        <p:nvSpPr>
          <p:cNvPr id="5" name="Text 3"/>
          <p:cNvSpPr txBox="1"/>
          <p:nvPr/>
        </p:nvSpPr>
        <p:spPr>
          <a:xfrm>
            <a:off x="548640" y="1572768"/>
            <a:ext cx="2697480" cy="274320"/>
          </a:xfrm>
          <a:prstGeom prst="rect">
            <a:avLst/>
          </a:prstGeom>
          <a:noFill/>
          <a:ln/>
        </p:spPr>
        <p:txBody>
          <a:bodyPr wrap="square" lIns="0" tIns="0" rIns="0" bIns="0" rtlCol="0" anchor="t"/>
          <a:lstStyle/>
          <a:p>
            <a:pPr indent="0" marL="0">
              <a:buNone/>
            </a:pPr>
            <a:r>
              <a:rPr lang="en-US" sz="1200" b="1" spc="200" kern="0" dirty="0">
                <a:solidFill>
                  <a:srgbClr val="EDF3EC"/>
                </a:solidFill>
                <a:latin typeface="Calibri" pitchFamily="34" charset="0"/>
                <a:ea typeface="Calibri" pitchFamily="34" charset="-122"/>
                <a:cs typeface="Calibri" pitchFamily="34" charset="-120"/>
              </a:rPr>
              <a:t>5 DOORS IN</a:t>
            </a:r>
            <a:endParaRPr lang="en-US" sz="1200" dirty="0"/>
          </a:p>
        </p:txBody>
      </p:sp>
      <p:sp>
        <p:nvSpPr>
          <p:cNvPr id="6" name="Text 4"/>
          <p:cNvSpPr txBox="1"/>
          <p:nvPr/>
        </p:nvSpPr>
        <p:spPr>
          <a:xfrm>
            <a:off x="8138160" y="1572768"/>
            <a:ext cx="3502152" cy="274320"/>
          </a:xfrm>
          <a:prstGeom prst="rect">
            <a:avLst/>
          </a:prstGeom>
          <a:noFill/>
          <a:ln/>
        </p:spPr>
        <p:txBody>
          <a:bodyPr wrap="square" lIns="0" tIns="0" rIns="0" bIns="0" rtlCol="0" anchor="t"/>
          <a:lstStyle/>
          <a:p>
            <a:pPr indent="0" marL="0">
              <a:buNone/>
            </a:pPr>
            <a:r>
              <a:rPr lang="en-US" sz="1200" b="1" spc="200" kern="0" dirty="0">
                <a:solidFill>
                  <a:srgbClr val="EDF3EC"/>
                </a:solidFill>
                <a:latin typeface="Calibri" pitchFamily="34" charset="0"/>
                <a:ea typeface="Calibri" pitchFamily="34" charset="-122"/>
                <a:cs typeface="Calibri" pitchFamily="34" charset="-120"/>
              </a:rPr>
              <a:t>7 PROVIDER ROLES</a:t>
            </a:r>
            <a:endParaRPr lang="en-US" sz="1200" dirty="0"/>
          </a:p>
        </p:txBody>
      </p:sp>
      <p:sp>
        <p:nvSpPr>
          <p:cNvPr id="7" name="Shape 5"/>
          <p:cNvSpPr/>
          <p:nvPr/>
        </p:nvSpPr>
        <p:spPr>
          <a:xfrm>
            <a:off x="548640" y="1965960"/>
            <a:ext cx="2697480" cy="502920"/>
          </a:xfrm>
          <a:prstGeom prst="roundRect">
            <a:avLst>
              <a:gd name="adj" fmla="val 21818"/>
            </a:avLst>
          </a:prstGeom>
          <a:solidFill>
            <a:srgbClr val="1E4222"/>
          </a:solidFill>
          <a:ln/>
        </p:spPr>
      </p:sp>
      <p:sp>
        <p:nvSpPr>
          <p:cNvPr id="8" name="Shape 6"/>
          <p:cNvSpPr/>
          <p:nvPr/>
        </p:nvSpPr>
        <p:spPr>
          <a:xfrm>
            <a:off x="640080" y="2043684"/>
            <a:ext cx="347472" cy="347472"/>
          </a:xfrm>
          <a:prstGeom prst="ellipse">
            <a:avLst/>
          </a:prstGeom>
          <a:solidFill>
            <a:srgbClr val="EDF3EC"/>
          </a:solidFill>
          <a:ln/>
        </p:spPr>
      </p:sp>
      <p:pic>
        <p:nvPicPr>
          <p:cNvPr id="9" name="Image 0" descr="preencoded.png">    </p:cNvPr>
          <p:cNvPicPr>
            <a:picLocks noChangeAspect="1"/>
          </p:cNvPicPr>
          <p:nvPr/>
        </p:nvPicPr>
        <p:blipFill>
          <a:blip r:embed="rId1"/>
          <a:stretch>
            <a:fillRect/>
          </a:stretch>
        </p:blipFill>
        <p:spPr>
          <a:xfrm>
            <a:off x="723473" y="2127077"/>
            <a:ext cx="180685" cy="180685"/>
          </a:xfrm>
          <a:prstGeom prst="rect">
            <a:avLst/>
          </a:prstGeom>
        </p:spPr>
      </p:pic>
      <p:sp>
        <p:nvSpPr>
          <p:cNvPr id="10" name="Text 7"/>
          <p:cNvSpPr txBox="1"/>
          <p:nvPr/>
        </p:nvSpPr>
        <p:spPr>
          <a:xfrm>
            <a:off x="1078992" y="1965960"/>
            <a:ext cx="210312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16699 voice (simulated)</a:t>
            </a:r>
            <a:endParaRPr lang="en-US" sz="1300" dirty="0"/>
          </a:p>
        </p:txBody>
      </p:sp>
      <p:sp>
        <p:nvSpPr>
          <p:cNvPr id="11" name="Shape 8"/>
          <p:cNvSpPr/>
          <p:nvPr/>
        </p:nvSpPr>
        <p:spPr>
          <a:xfrm>
            <a:off x="3282696" y="2217420"/>
            <a:ext cx="557784" cy="1367028"/>
          </a:xfrm>
          <a:prstGeom prst="line">
            <a:avLst/>
          </a:prstGeom>
          <a:noFill/>
          <a:ln w="15875">
            <a:solidFill>
              <a:srgbClr val="A9C4AC"/>
            </a:solidFill>
            <a:prstDash val="solid"/>
            <a:tailEnd type="triangle"/>
          </a:ln>
        </p:spPr>
      </p:sp>
      <p:sp>
        <p:nvSpPr>
          <p:cNvPr id="12" name="Shape 9"/>
          <p:cNvSpPr/>
          <p:nvPr/>
        </p:nvSpPr>
        <p:spPr>
          <a:xfrm>
            <a:off x="548640" y="2649474"/>
            <a:ext cx="2697480" cy="502920"/>
          </a:xfrm>
          <a:prstGeom prst="roundRect">
            <a:avLst>
              <a:gd name="adj" fmla="val 21818"/>
            </a:avLst>
          </a:prstGeom>
          <a:solidFill>
            <a:srgbClr val="1E4222"/>
          </a:solidFill>
          <a:ln/>
        </p:spPr>
      </p:sp>
      <p:sp>
        <p:nvSpPr>
          <p:cNvPr id="13" name="Shape 10"/>
          <p:cNvSpPr/>
          <p:nvPr/>
        </p:nvSpPr>
        <p:spPr>
          <a:xfrm>
            <a:off x="640080" y="2727198"/>
            <a:ext cx="347472" cy="347472"/>
          </a:xfrm>
          <a:prstGeom prst="ellipse">
            <a:avLst/>
          </a:prstGeom>
          <a:solidFill>
            <a:srgbClr val="EDF3EC"/>
          </a:solidFill>
          <a:ln/>
        </p:spPr>
      </p:sp>
      <p:pic>
        <p:nvPicPr>
          <p:cNvPr id="14" name="Image 1" descr="preencoded.png">    </p:cNvPr>
          <p:cNvPicPr>
            <a:picLocks noChangeAspect="1"/>
          </p:cNvPicPr>
          <p:nvPr/>
        </p:nvPicPr>
        <p:blipFill>
          <a:blip r:embed="rId2"/>
          <a:stretch>
            <a:fillRect/>
          </a:stretch>
        </p:blipFill>
        <p:spPr>
          <a:xfrm>
            <a:off x="723473" y="2810591"/>
            <a:ext cx="180685" cy="180685"/>
          </a:xfrm>
          <a:prstGeom prst="rect">
            <a:avLst/>
          </a:prstGeom>
        </p:spPr>
      </p:pic>
      <p:sp>
        <p:nvSpPr>
          <p:cNvPr id="15" name="Text 11"/>
          <p:cNvSpPr txBox="1"/>
          <p:nvPr/>
        </p:nvSpPr>
        <p:spPr>
          <a:xfrm>
            <a:off x="1078992" y="2649474"/>
            <a:ext cx="210312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Low-data · light mode</a:t>
            </a:r>
            <a:endParaRPr lang="en-US" sz="1300" dirty="0"/>
          </a:p>
        </p:txBody>
      </p:sp>
      <p:sp>
        <p:nvSpPr>
          <p:cNvPr id="16" name="Shape 12"/>
          <p:cNvSpPr/>
          <p:nvPr/>
        </p:nvSpPr>
        <p:spPr>
          <a:xfrm>
            <a:off x="3282696" y="2900934"/>
            <a:ext cx="557784" cy="683514"/>
          </a:xfrm>
          <a:prstGeom prst="line">
            <a:avLst/>
          </a:prstGeom>
          <a:noFill/>
          <a:ln w="15875">
            <a:solidFill>
              <a:srgbClr val="A9C4AC"/>
            </a:solidFill>
            <a:prstDash val="solid"/>
            <a:tailEnd type="triangle"/>
          </a:ln>
        </p:spPr>
      </p:sp>
      <p:sp>
        <p:nvSpPr>
          <p:cNvPr id="17" name="Shape 13"/>
          <p:cNvSpPr/>
          <p:nvPr/>
        </p:nvSpPr>
        <p:spPr>
          <a:xfrm>
            <a:off x="548640" y="3332988"/>
            <a:ext cx="2697480" cy="502920"/>
          </a:xfrm>
          <a:prstGeom prst="roundRect">
            <a:avLst>
              <a:gd name="adj" fmla="val 21818"/>
            </a:avLst>
          </a:prstGeom>
          <a:solidFill>
            <a:srgbClr val="1E4222"/>
          </a:solidFill>
          <a:ln/>
        </p:spPr>
      </p:sp>
      <p:sp>
        <p:nvSpPr>
          <p:cNvPr id="18" name="Shape 14"/>
          <p:cNvSpPr/>
          <p:nvPr/>
        </p:nvSpPr>
        <p:spPr>
          <a:xfrm>
            <a:off x="640080" y="3410712"/>
            <a:ext cx="347472" cy="347472"/>
          </a:xfrm>
          <a:prstGeom prst="ellipse">
            <a:avLst/>
          </a:prstGeom>
          <a:solidFill>
            <a:srgbClr val="EDF3EC"/>
          </a:solidFill>
          <a:ln/>
        </p:spPr>
      </p:sp>
      <p:pic>
        <p:nvPicPr>
          <p:cNvPr id="19" name="Image 2" descr="preencoded.png">    </p:cNvPr>
          <p:cNvPicPr>
            <a:picLocks noChangeAspect="1"/>
          </p:cNvPicPr>
          <p:nvPr/>
        </p:nvPicPr>
        <p:blipFill>
          <a:blip r:embed="rId3"/>
          <a:stretch>
            <a:fillRect/>
          </a:stretch>
        </p:blipFill>
        <p:spPr>
          <a:xfrm>
            <a:off x="723473" y="3494105"/>
            <a:ext cx="180685" cy="180685"/>
          </a:xfrm>
          <a:prstGeom prst="rect">
            <a:avLst/>
          </a:prstGeom>
        </p:spPr>
      </p:pic>
      <p:sp>
        <p:nvSpPr>
          <p:cNvPr id="20" name="Text 15"/>
          <p:cNvSpPr txBox="1"/>
          <p:nvPr/>
        </p:nvSpPr>
        <p:spPr>
          <a:xfrm>
            <a:off x="1078992" y="3332988"/>
            <a:ext cx="210312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Web / mobile PWA</a:t>
            </a:r>
            <a:endParaRPr lang="en-US" sz="1300" dirty="0"/>
          </a:p>
        </p:txBody>
      </p:sp>
      <p:sp>
        <p:nvSpPr>
          <p:cNvPr id="21" name="Shape 16"/>
          <p:cNvSpPr/>
          <p:nvPr/>
        </p:nvSpPr>
        <p:spPr>
          <a:xfrm>
            <a:off x="3282696" y="3584448"/>
            <a:ext cx="557784" cy="0"/>
          </a:xfrm>
          <a:prstGeom prst="line">
            <a:avLst/>
          </a:prstGeom>
          <a:noFill/>
          <a:ln w="15875">
            <a:solidFill>
              <a:srgbClr val="A9C4AC"/>
            </a:solidFill>
            <a:prstDash val="solid"/>
            <a:tailEnd type="triangle"/>
          </a:ln>
        </p:spPr>
      </p:sp>
      <p:sp>
        <p:nvSpPr>
          <p:cNvPr id="22" name="Shape 17"/>
          <p:cNvSpPr/>
          <p:nvPr/>
        </p:nvSpPr>
        <p:spPr>
          <a:xfrm>
            <a:off x="548640" y="4016502"/>
            <a:ext cx="2697480" cy="502920"/>
          </a:xfrm>
          <a:prstGeom prst="roundRect">
            <a:avLst>
              <a:gd name="adj" fmla="val 21818"/>
            </a:avLst>
          </a:prstGeom>
          <a:solidFill>
            <a:srgbClr val="1E4222"/>
          </a:solidFill>
          <a:ln/>
        </p:spPr>
      </p:sp>
      <p:sp>
        <p:nvSpPr>
          <p:cNvPr id="23" name="Shape 18"/>
          <p:cNvSpPr/>
          <p:nvPr/>
        </p:nvSpPr>
        <p:spPr>
          <a:xfrm>
            <a:off x="640080" y="4094226"/>
            <a:ext cx="347472" cy="347472"/>
          </a:xfrm>
          <a:prstGeom prst="ellipse">
            <a:avLst/>
          </a:prstGeom>
          <a:solidFill>
            <a:srgbClr val="EDF3EC"/>
          </a:solidFill>
          <a:ln/>
        </p:spPr>
      </p:sp>
      <p:pic>
        <p:nvPicPr>
          <p:cNvPr id="24" name="Image 3" descr="preencoded.png">    </p:cNvPr>
          <p:cNvPicPr>
            <a:picLocks noChangeAspect="1"/>
          </p:cNvPicPr>
          <p:nvPr/>
        </p:nvPicPr>
        <p:blipFill>
          <a:blip r:embed="rId4"/>
          <a:stretch>
            <a:fillRect/>
          </a:stretch>
        </p:blipFill>
        <p:spPr>
          <a:xfrm>
            <a:off x="723473" y="4177619"/>
            <a:ext cx="180685" cy="180685"/>
          </a:xfrm>
          <a:prstGeom prst="rect">
            <a:avLst/>
          </a:prstGeom>
        </p:spPr>
      </p:pic>
      <p:sp>
        <p:nvSpPr>
          <p:cNvPr id="25" name="Text 19"/>
          <p:cNvSpPr txBox="1"/>
          <p:nvPr/>
        </p:nvSpPr>
        <p:spPr>
          <a:xfrm>
            <a:off x="1078992" y="4016502"/>
            <a:ext cx="210312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UDC assisted access</a:t>
            </a:r>
            <a:endParaRPr lang="en-US" sz="1300" dirty="0"/>
          </a:p>
        </p:txBody>
      </p:sp>
      <p:sp>
        <p:nvSpPr>
          <p:cNvPr id="26" name="Shape 20"/>
          <p:cNvSpPr/>
          <p:nvPr/>
        </p:nvSpPr>
        <p:spPr>
          <a:xfrm flipV="1">
            <a:off x="3282696" y="3584448"/>
            <a:ext cx="557784" cy="683514"/>
          </a:xfrm>
          <a:prstGeom prst="line">
            <a:avLst/>
          </a:prstGeom>
          <a:noFill/>
          <a:ln w="15875">
            <a:solidFill>
              <a:srgbClr val="A9C4AC"/>
            </a:solidFill>
            <a:prstDash val="solid"/>
            <a:tailEnd type="triangle"/>
          </a:ln>
        </p:spPr>
      </p:sp>
      <p:sp>
        <p:nvSpPr>
          <p:cNvPr id="27" name="Shape 21"/>
          <p:cNvSpPr/>
          <p:nvPr/>
        </p:nvSpPr>
        <p:spPr>
          <a:xfrm>
            <a:off x="548640" y="4700016"/>
            <a:ext cx="2697480" cy="502920"/>
          </a:xfrm>
          <a:prstGeom prst="roundRect">
            <a:avLst>
              <a:gd name="adj" fmla="val 21818"/>
            </a:avLst>
          </a:prstGeom>
          <a:solidFill>
            <a:srgbClr val="1E4222"/>
          </a:solidFill>
          <a:ln/>
        </p:spPr>
      </p:sp>
      <p:sp>
        <p:nvSpPr>
          <p:cNvPr id="28" name="Shape 22"/>
          <p:cNvSpPr/>
          <p:nvPr/>
        </p:nvSpPr>
        <p:spPr>
          <a:xfrm>
            <a:off x="640080" y="4777740"/>
            <a:ext cx="347472" cy="347472"/>
          </a:xfrm>
          <a:prstGeom prst="ellipse">
            <a:avLst/>
          </a:prstGeom>
          <a:solidFill>
            <a:srgbClr val="EDF3EC"/>
          </a:solidFill>
          <a:ln/>
        </p:spPr>
      </p:sp>
      <p:pic>
        <p:nvPicPr>
          <p:cNvPr id="29" name="Image 4" descr="preencoded.png">    </p:cNvPr>
          <p:cNvPicPr>
            <a:picLocks noChangeAspect="1"/>
          </p:cNvPicPr>
          <p:nvPr/>
        </p:nvPicPr>
        <p:blipFill>
          <a:blip r:embed="rId5"/>
          <a:stretch>
            <a:fillRect/>
          </a:stretch>
        </p:blipFill>
        <p:spPr>
          <a:xfrm>
            <a:off x="723473" y="4861133"/>
            <a:ext cx="180685" cy="180685"/>
          </a:xfrm>
          <a:prstGeom prst="rect">
            <a:avLst/>
          </a:prstGeom>
        </p:spPr>
      </p:pic>
      <p:sp>
        <p:nvSpPr>
          <p:cNvPr id="30" name="Text 23"/>
          <p:cNvSpPr txBox="1"/>
          <p:nvPr/>
        </p:nvSpPr>
        <p:spPr>
          <a:xfrm>
            <a:off x="1078992" y="4700016"/>
            <a:ext cx="210312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DLAO walk-in / referral</a:t>
            </a:r>
            <a:endParaRPr lang="en-US" sz="1300" dirty="0"/>
          </a:p>
        </p:txBody>
      </p:sp>
      <p:sp>
        <p:nvSpPr>
          <p:cNvPr id="31" name="Shape 24"/>
          <p:cNvSpPr/>
          <p:nvPr/>
        </p:nvSpPr>
        <p:spPr>
          <a:xfrm flipV="1">
            <a:off x="3282696" y="3584448"/>
            <a:ext cx="557784" cy="1367028"/>
          </a:xfrm>
          <a:prstGeom prst="line">
            <a:avLst/>
          </a:prstGeom>
          <a:noFill/>
          <a:ln w="15875">
            <a:solidFill>
              <a:srgbClr val="A9C4AC"/>
            </a:solidFill>
            <a:prstDash val="solid"/>
            <a:tailEnd type="triangle"/>
          </a:ln>
        </p:spPr>
      </p:sp>
      <p:sp>
        <p:nvSpPr>
          <p:cNvPr id="32" name="Shape 25"/>
          <p:cNvSpPr/>
          <p:nvPr/>
        </p:nvSpPr>
        <p:spPr>
          <a:xfrm>
            <a:off x="3840480" y="1965960"/>
            <a:ext cx="3749040" cy="3236976"/>
          </a:xfrm>
          <a:prstGeom prst="roundRect">
            <a:avLst>
              <a:gd name="adj" fmla="val 4520"/>
            </a:avLst>
          </a:prstGeom>
          <a:solidFill>
            <a:srgbClr val="FFFFFF"/>
          </a:solidFill>
          <a:ln/>
          <a:effectLst>
            <a:outerShdw sx="100000" sy="100000" kx="0" ky="0" algn="bl" rotWithShape="0" blurRad="101600" dist="25400" dir="5400000">
              <a:srgbClr val="000000">
                <a:alpha val="10000"/>
              </a:srgbClr>
            </a:outerShdw>
          </a:effectLst>
        </p:spPr>
      </p:sp>
      <p:sp>
        <p:nvSpPr>
          <p:cNvPr id="33" name="Text 26"/>
          <p:cNvSpPr txBox="1"/>
          <p:nvPr/>
        </p:nvSpPr>
        <p:spPr>
          <a:xfrm>
            <a:off x="4069080" y="2148840"/>
            <a:ext cx="3291840" cy="274320"/>
          </a:xfrm>
          <a:prstGeom prst="rect">
            <a:avLst/>
          </a:prstGeom>
          <a:noFill/>
          <a:ln/>
        </p:spPr>
        <p:txBody>
          <a:bodyPr wrap="square" lIns="0" tIns="0" rIns="0" bIns="0" rtlCol="0" anchor="t"/>
          <a:lstStyle/>
          <a:p>
            <a:pPr indent="0" marL="0">
              <a:buNone/>
            </a:pPr>
            <a:r>
              <a:rPr lang="en-US" sz="1100" b="1" spc="100" kern="0" dirty="0">
                <a:solidFill>
                  <a:srgbClr val="28562D"/>
                </a:solidFill>
                <a:latin typeface="Calibri" pitchFamily="34" charset="0"/>
                <a:ea typeface="Calibri" pitchFamily="34" charset="-122"/>
                <a:cs typeface="Calibri" pitchFamily="34" charset="-120"/>
              </a:rPr>
              <a:t>ONE AUTHORITATIVE RECORD</a:t>
            </a:r>
            <a:endParaRPr lang="en-US" sz="1100" dirty="0"/>
          </a:p>
        </p:txBody>
      </p:sp>
      <p:sp>
        <p:nvSpPr>
          <p:cNvPr id="34" name="Text 27"/>
          <p:cNvSpPr txBox="1"/>
          <p:nvPr/>
        </p:nvSpPr>
        <p:spPr>
          <a:xfrm>
            <a:off x="4069080" y="2532888"/>
            <a:ext cx="3291840" cy="640080"/>
          </a:xfrm>
          <a:prstGeom prst="roundRect">
            <a:avLst>
              <a:gd name="adj" fmla="val 14286"/>
            </a:avLst>
          </a:prstGeom>
          <a:solidFill>
            <a:srgbClr val="EDF3EC"/>
          </a:solidFill>
          <a:ln/>
        </p:spPr>
        <p:txBody>
          <a:bodyPr wrap="square" lIns="152400" tIns="0" rIns="152400" bIns="0" rtlCol="0" anchor="ctr"/>
          <a:lstStyle/>
          <a:p>
            <a:pPr indent="0" marL="0">
              <a:buNone/>
            </a:pPr>
            <a:r>
              <a:rPr lang="en-US" sz="1500" b="1" dirty="0">
                <a:solidFill>
                  <a:srgbClr val="28562D"/>
                </a:solidFill>
                <a:latin typeface="Calibri" pitchFamily="34" charset="0"/>
                <a:ea typeface="Calibri" pitchFamily="34" charset="-122"/>
                <a:cs typeface="Calibri" pitchFamily="34" charset="-120"/>
              </a:rPr>
              <a:t>Application ID</a:t>
            </a:r>
            <a:endParaRPr lang="en-US" sz="1500" dirty="0"/>
          </a:p>
          <a:p>
            <a:pPr indent="0" marL="0">
              <a:buNone/>
            </a:pPr>
            <a:r>
              <a:rPr lang="en-US" sz="1200" dirty="0">
                <a:solidFill>
                  <a:srgbClr val="4E5751"/>
                </a:solidFill>
                <a:latin typeface="Calibri" pitchFamily="34" charset="0"/>
                <a:ea typeface="Calibri" pitchFamily="34" charset="-122"/>
                <a:cs typeface="Calibri" pitchFamily="34" charset="-120"/>
              </a:rPr>
              <a:t>created at submission</a:t>
            </a:r>
            <a:endParaRPr lang="en-US" sz="1500" dirty="0"/>
          </a:p>
        </p:txBody>
      </p:sp>
      <p:sp>
        <p:nvSpPr>
          <p:cNvPr id="35" name="Shape 28"/>
          <p:cNvSpPr/>
          <p:nvPr/>
        </p:nvSpPr>
        <p:spPr>
          <a:xfrm>
            <a:off x="5715000" y="3209544"/>
            <a:ext cx="0" cy="310896"/>
          </a:xfrm>
          <a:prstGeom prst="line">
            <a:avLst/>
          </a:prstGeom>
          <a:noFill/>
          <a:ln w="19050">
            <a:solidFill>
              <a:srgbClr val="28562D"/>
            </a:solidFill>
            <a:prstDash val="solid"/>
            <a:tailEnd type="triangle"/>
          </a:ln>
        </p:spPr>
      </p:sp>
      <p:sp>
        <p:nvSpPr>
          <p:cNvPr id="36" name="Text 29"/>
          <p:cNvSpPr txBox="1"/>
          <p:nvPr/>
        </p:nvSpPr>
        <p:spPr>
          <a:xfrm>
            <a:off x="4069080" y="3557016"/>
            <a:ext cx="3291840" cy="640080"/>
          </a:xfrm>
          <a:prstGeom prst="roundRect">
            <a:avLst>
              <a:gd name="adj" fmla="val 14286"/>
            </a:avLst>
          </a:prstGeom>
          <a:solidFill>
            <a:srgbClr val="28562D"/>
          </a:solidFill>
          <a:ln/>
        </p:spPr>
        <p:txBody>
          <a:bodyPr wrap="square" lIns="152400" tIns="0" rIns="15240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Case ID</a:t>
            </a:r>
            <a:endParaRPr lang="en-US" sz="1500" dirty="0"/>
          </a:p>
          <a:p>
            <a:pPr indent="0" marL="0">
              <a:buNone/>
            </a:pPr>
            <a:r>
              <a:rPr lang="en-US" sz="1200" dirty="0">
                <a:solidFill>
                  <a:srgbClr val="EDF3EC"/>
                </a:solidFill>
                <a:latin typeface="Calibri" pitchFamily="34" charset="0"/>
                <a:ea typeface="Calibri" pitchFamily="34" charset="-122"/>
                <a:cs typeface="Calibri" pitchFamily="34" charset="-120"/>
              </a:rPr>
              <a:t>only after a human DLAO officer accepts</a:t>
            </a:r>
            <a:endParaRPr lang="en-US" sz="1500" dirty="0"/>
          </a:p>
        </p:txBody>
      </p:sp>
      <p:sp>
        <p:nvSpPr>
          <p:cNvPr id="37" name="Text 30"/>
          <p:cNvSpPr txBox="1"/>
          <p:nvPr/>
        </p:nvSpPr>
        <p:spPr>
          <a:xfrm>
            <a:off x="4069080" y="4361688"/>
            <a:ext cx="3291840" cy="685800"/>
          </a:xfrm>
          <a:prstGeom prst="rect">
            <a:avLst/>
          </a:prstGeom>
          <a:noFill/>
          <a:ln/>
        </p:spPr>
        <p:txBody>
          <a:bodyPr wrap="square" lIns="0" tIns="0" rIns="0" bIns="0" rtlCol="0" anchor="t"/>
          <a:lstStyle/>
          <a:p>
            <a:pPr indent="0" marL="0">
              <a:buNone/>
            </a:pPr>
            <a:r>
              <a:rPr lang="en-US" sz="1250" dirty="0">
                <a:solidFill>
                  <a:srgbClr val="4E5751"/>
                </a:solidFill>
                <a:latin typeface="Calibri" pitchFamily="34" charset="0"/>
                <a:ea typeface="Calibri" pitchFamily="34" charset="-122"/>
                <a:cs typeface="Calibri" pitchFamily="34" charset="-120"/>
              </a:rPr>
              <a:t>Facts, provenance, consent, safe contact, documents, tasks and audit stay on this record.</a:t>
            </a:r>
            <a:endParaRPr lang="en-US" sz="1250" dirty="0"/>
          </a:p>
        </p:txBody>
      </p:sp>
      <p:sp>
        <p:nvSpPr>
          <p:cNvPr id="38" name="Text 31"/>
          <p:cNvSpPr txBox="1"/>
          <p:nvPr/>
        </p:nvSpPr>
        <p:spPr>
          <a:xfrm>
            <a:off x="8138160" y="1965960"/>
            <a:ext cx="3504895" cy="384048"/>
          </a:xfrm>
          <a:prstGeom prst="roundRect">
            <a:avLst>
              <a:gd name="adj" fmla="val 23810"/>
            </a:avLst>
          </a:prstGeom>
          <a:solidFill>
            <a:srgbClr val="1E4222"/>
          </a:solidFill>
          <a:ln/>
        </p:spPr>
        <p:txBody>
          <a:bodyPr wrap="square" lIns="152400" tIns="0" rIns="15240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DLAO officer</a:t>
            </a:r>
            <a:endParaRPr lang="en-US" sz="1300" dirty="0"/>
          </a:p>
        </p:txBody>
      </p:sp>
      <p:sp>
        <p:nvSpPr>
          <p:cNvPr id="39" name="Shape 32"/>
          <p:cNvSpPr/>
          <p:nvPr/>
        </p:nvSpPr>
        <p:spPr>
          <a:xfrm flipV="1">
            <a:off x="7626096" y="2157984"/>
            <a:ext cx="475488" cy="1426464"/>
          </a:xfrm>
          <a:prstGeom prst="line">
            <a:avLst/>
          </a:prstGeom>
          <a:noFill/>
          <a:ln w="15875">
            <a:solidFill>
              <a:srgbClr val="A9C4AC"/>
            </a:solidFill>
            <a:prstDash val="solid"/>
            <a:tailEnd type="triangle"/>
          </a:ln>
        </p:spPr>
      </p:sp>
      <p:sp>
        <p:nvSpPr>
          <p:cNvPr id="40" name="Text 33"/>
          <p:cNvSpPr txBox="1"/>
          <p:nvPr/>
        </p:nvSpPr>
        <p:spPr>
          <a:xfrm>
            <a:off x="8138160" y="2441448"/>
            <a:ext cx="3504895" cy="384048"/>
          </a:xfrm>
          <a:prstGeom prst="roundRect">
            <a:avLst>
              <a:gd name="adj" fmla="val 23810"/>
            </a:avLst>
          </a:prstGeom>
          <a:solidFill>
            <a:srgbClr val="1E4222"/>
          </a:solidFill>
          <a:ln/>
        </p:spPr>
        <p:txBody>
          <a:bodyPr wrap="square" lIns="152400" tIns="0" rIns="15240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Mediator</a:t>
            </a:r>
            <a:endParaRPr lang="en-US" sz="1300" dirty="0"/>
          </a:p>
        </p:txBody>
      </p:sp>
      <p:sp>
        <p:nvSpPr>
          <p:cNvPr id="41" name="Shape 34"/>
          <p:cNvSpPr/>
          <p:nvPr/>
        </p:nvSpPr>
        <p:spPr>
          <a:xfrm flipV="1">
            <a:off x="7626096" y="2633472"/>
            <a:ext cx="475488" cy="950976"/>
          </a:xfrm>
          <a:prstGeom prst="line">
            <a:avLst/>
          </a:prstGeom>
          <a:noFill/>
          <a:ln w="15875">
            <a:solidFill>
              <a:srgbClr val="A9C4AC"/>
            </a:solidFill>
            <a:prstDash val="solid"/>
            <a:tailEnd type="triangle"/>
          </a:ln>
        </p:spPr>
      </p:sp>
      <p:sp>
        <p:nvSpPr>
          <p:cNvPr id="42" name="Text 35"/>
          <p:cNvSpPr txBox="1"/>
          <p:nvPr/>
        </p:nvSpPr>
        <p:spPr>
          <a:xfrm>
            <a:off x="8138160" y="2916936"/>
            <a:ext cx="3504895" cy="384048"/>
          </a:xfrm>
          <a:prstGeom prst="roundRect">
            <a:avLst>
              <a:gd name="adj" fmla="val 23810"/>
            </a:avLst>
          </a:prstGeom>
          <a:solidFill>
            <a:srgbClr val="1E4222"/>
          </a:solidFill>
          <a:ln/>
        </p:spPr>
        <p:txBody>
          <a:bodyPr wrap="square" lIns="152400" tIns="0" rIns="15240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16699 helpline agent</a:t>
            </a:r>
            <a:endParaRPr lang="en-US" sz="1300" dirty="0"/>
          </a:p>
        </p:txBody>
      </p:sp>
      <p:sp>
        <p:nvSpPr>
          <p:cNvPr id="43" name="Shape 36"/>
          <p:cNvSpPr/>
          <p:nvPr/>
        </p:nvSpPr>
        <p:spPr>
          <a:xfrm flipV="1">
            <a:off x="7626096" y="3108960"/>
            <a:ext cx="475488" cy="475488"/>
          </a:xfrm>
          <a:prstGeom prst="line">
            <a:avLst/>
          </a:prstGeom>
          <a:noFill/>
          <a:ln w="15875">
            <a:solidFill>
              <a:srgbClr val="A9C4AC"/>
            </a:solidFill>
            <a:prstDash val="solid"/>
            <a:tailEnd type="triangle"/>
          </a:ln>
        </p:spPr>
      </p:sp>
      <p:sp>
        <p:nvSpPr>
          <p:cNvPr id="44" name="Text 37"/>
          <p:cNvSpPr txBox="1"/>
          <p:nvPr/>
        </p:nvSpPr>
        <p:spPr>
          <a:xfrm>
            <a:off x="8138160" y="3392424"/>
            <a:ext cx="3504895" cy="384048"/>
          </a:xfrm>
          <a:prstGeom prst="roundRect">
            <a:avLst>
              <a:gd name="adj" fmla="val 23810"/>
            </a:avLst>
          </a:prstGeom>
          <a:solidFill>
            <a:srgbClr val="1E4222"/>
          </a:solidFill>
          <a:ln/>
        </p:spPr>
        <p:txBody>
          <a:bodyPr wrap="square" lIns="152400" tIns="0" rIns="15240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UDC entrepreneur</a:t>
            </a:r>
            <a:endParaRPr lang="en-US" sz="1300" dirty="0"/>
          </a:p>
        </p:txBody>
      </p:sp>
      <p:sp>
        <p:nvSpPr>
          <p:cNvPr id="45" name="Shape 38"/>
          <p:cNvSpPr/>
          <p:nvPr/>
        </p:nvSpPr>
        <p:spPr>
          <a:xfrm>
            <a:off x="7626096" y="3584448"/>
            <a:ext cx="475488" cy="0"/>
          </a:xfrm>
          <a:prstGeom prst="line">
            <a:avLst/>
          </a:prstGeom>
          <a:noFill/>
          <a:ln w="15875">
            <a:solidFill>
              <a:srgbClr val="A9C4AC"/>
            </a:solidFill>
            <a:prstDash val="solid"/>
            <a:tailEnd type="triangle"/>
          </a:ln>
        </p:spPr>
      </p:sp>
      <p:sp>
        <p:nvSpPr>
          <p:cNvPr id="46" name="Text 39"/>
          <p:cNvSpPr txBox="1"/>
          <p:nvPr/>
        </p:nvSpPr>
        <p:spPr>
          <a:xfrm>
            <a:off x="8138160" y="3867912"/>
            <a:ext cx="3504895" cy="384048"/>
          </a:xfrm>
          <a:prstGeom prst="roundRect">
            <a:avLst>
              <a:gd name="adj" fmla="val 23810"/>
            </a:avLst>
          </a:prstGeom>
          <a:solidFill>
            <a:srgbClr val="1E4222"/>
          </a:solidFill>
          <a:ln/>
        </p:spPr>
        <p:txBody>
          <a:bodyPr wrap="square" lIns="152400" tIns="0" rIns="15240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Panel lawyer</a:t>
            </a:r>
            <a:endParaRPr lang="en-US" sz="1300" dirty="0"/>
          </a:p>
        </p:txBody>
      </p:sp>
      <p:sp>
        <p:nvSpPr>
          <p:cNvPr id="47" name="Shape 40"/>
          <p:cNvSpPr/>
          <p:nvPr/>
        </p:nvSpPr>
        <p:spPr>
          <a:xfrm>
            <a:off x="7626096" y="3584448"/>
            <a:ext cx="475488" cy="475488"/>
          </a:xfrm>
          <a:prstGeom prst="line">
            <a:avLst/>
          </a:prstGeom>
          <a:noFill/>
          <a:ln w="15875">
            <a:solidFill>
              <a:srgbClr val="A9C4AC"/>
            </a:solidFill>
            <a:prstDash val="solid"/>
            <a:tailEnd type="triangle"/>
          </a:ln>
        </p:spPr>
      </p:sp>
      <p:sp>
        <p:nvSpPr>
          <p:cNvPr id="48" name="Text 41"/>
          <p:cNvSpPr txBox="1"/>
          <p:nvPr/>
        </p:nvSpPr>
        <p:spPr>
          <a:xfrm>
            <a:off x="8138160" y="4343400"/>
            <a:ext cx="3504895" cy="384048"/>
          </a:xfrm>
          <a:prstGeom prst="roundRect">
            <a:avLst>
              <a:gd name="adj" fmla="val 23810"/>
            </a:avLst>
          </a:prstGeom>
          <a:solidFill>
            <a:srgbClr val="1E4222"/>
          </a:solidFill>
          <a:ln/>
        </p:spPr>
        <p:txBody>
          <a:bodyPr wrap="square" lIns="152400" tIns="0" rIns="15240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Receiving DLAO</a:t>
            </a:r>
            <a:endParaRPr lang="en-US" sz="1300" dirty="0"/>
          </a:p>
        </p:txBody>
      </p:sp>
      <p:sp>
        <p:nvSpPr>
          <p:cNvPr id="49" name="Shape 42"/>
          <p:cNvSpPr/>
          <p:nvPr/>
        </p:nvSpPr>
        <p:spPr>
          <a:xfrm>
            <a:off x="7626096" y="3584448"/>
            <a:ext cx="475488" cy="950976"/>
          </a:xfrm>
          <a:prstGeom prst="line">
            <a:avLst/>
          </a:prstGeom>
          <a:noFill/>
          <a:ln w="15875">
            <a:solidFill>
              <a:srgbClr val="A9C4AC"/>
            </a:solidFill>
            <a:prstDash val="solid"/>
            <a:tailEnd type="triangle"/>
          </a:ln>
        </p:spPr>
      </p:sp>
      <p:sp>
        <p:nvSpPr>
          <p:cNvPr id="50" name="Text 43"/>
          <p:cNvSpPr txBox="1"/>
          <p:nvPr/>
        </p:nvSpPr>
        <p:spPr>
          <a:xfrm>
            <a:off x="8138160" y="4818888"/>
            <a:ext cx="3504895" cy="384048"/>
          </a:xfrm>
          <a:prstGeom prst="roundRect">
            <a:avLst>
              <a:gd name="adj" fmla="val 23810"/>
            </a:avLst>
          </a:prstGeom>
          <a:solidFill>
            <a:srgbClr val="1E4222"/>
          </a:solidFill>
          <a:ln/>
        </p:spPr>
        <p:txBody>
          <a:bodyPr wrap="square" lIns="152400" tIns="0" rIns="15240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Case-support staff</a:t>
            </a:r>
            <a:endParaRPr lang="en-US" sz="1300" dirty="0"/>
          </a:p>
        </p:txBody>
      </p:sp>
      <p:sp>
        <p:nvSpPr>
          <p:cNvPr id="51" name="Shape 44"/>
          <p:cNvSpPr/>
          <p:nvPr/>
        </p:nvSpPr>
        <p:spPr>
          <a:xfrm>
            <a:off x="7626096" y="3584448"/>
            <a:ext cx="475488" cy="1426464"/>
          </a:xfrm>
          <a:prstGeom prst="line">
            <a:avLst/>
          </a:prstGeom>
          <a:noFill/>
          <a:ln w="15875">
            <a:solidFill>
              <a:srgbClr val="A9C4AC"/>
            </a:solidFill>
            <a:prstDash val="solid"/>
            <a:tailEnd type="triangle"/>
          </a:ln>
        </p:spPr>
      </p:sp>
      <p:sp>
        <p:nvSpPr>
          <p:cNvPr id="52" name="Text 45"/>
          <p:cNvSpPr txBox="1"/>
          <p:nvPr/>
        </p:nvSpPr>
        <p:spPr>
          <a:xfrm>
            <a:off x="548640" y="5577840"/>
            <a:ext cx="2636444" cy="777240"/>
          </a:xfrm>
          <a:prstGeom prst="roundRect">
            <a:avLst>
              <a:gd name="adj" fmla="val 11765"/>
            </a:avLst>
          </a:prstGeom>
          <a:solidFill>
            <a:srgbClr val="3A6B3F"/>
          </a:solidFill>
          <a:ln/>
        </p:spPr>
        <p:txBody>
          <a:bodyPr wrap="square" lIns="177800" tIns="0" rIns="177800" bIns="0" rtlCol="0" anchor="ctr"/>
          <a:lstStyle/>
          <a:p>
            <a:pPr indent="0" marL="0">
              <a:buNone/>
            </a:pPr>
            <a:r>
              <a:rPr lang="en-US" sz="1000" b="1" spc="100" kern="0" dirty="0">
                <a:solidFill>
                  <a:srgbClr val="EDF3EC"/>
                </a:solidFill>
                <a:latin typeface="Calibri" pitchFamily="34" charset="0"/>
                <a:ea typeface="Calibri" pitchFamily="34" charset="-122"/>
                <a:cs typeface="Calibri" pitchFamily="34" charset="-120"/>
              </a:rPr>
              <a:t>LAYER 1</a:t>
            </a:r>
            <a:endParaRPr lang="en-US" sz="1000" dirty="0"/>
          </a:p>
          <a:p>
            <a:pPr indent="0" marL="0">
              <a:buNone/>
            </a:pPr>
            <a:r>
              <a:rPr lang="en-US" sz="1500" b="1" dirty="0">
                <a:solidFill>
                  <a:srgbClr val="FFFFFF"/>
                </a:solidFill>
                <a:latin typeface="Calibri" pitchFamily="34" charset="0"/>
                <a:ea typeface="Calibri" pitchFamily="34" charset="-122"/>
                <a:cs typeface="Calibri" pitchFamily="34" charset="-120"/>
              </a:rPr>
              <a:t>Citizen Access</a:t>
            </a:r>
            <a:endParaRPr lang="en-US" sz="1000" dirty="0"/>
          </a:p>
        </p:txBody>
      </p:sp>
      <p:sp>
        <p:nvSpPr>
          <p:cNvPr id="53" name="Text 46"/>
          <p:cNvSpPr txBox="1"/>
          <p:nvPr/>
        </p:nvSpPr>
        <p:spPr>
          <a:xfrm>
            <a:off x="3367964" y="5577840"/>
            <a:ext cx="2636444" cy="777240"/>
          </a:xfrm>
          <a:prstGeom prst="roundRect">
            <a:avLst>
              <a:gd name="adj" fmla="val 11765"/>
            </a:avLst>
          </a:prstGeom>
          <a:solidFill>
            <a:srgbClr val="3A6B3F"/>
          </a:solidFill>
          <a:ln/>
        </p:spPr>
        <p:txBody>
          <a:bodyPr wrap="square" lIns="177800" tIns="0" rIns="177800" bIns="0" rtlCol="0" anchor="ctr"/>
          <a:lstStyle/>
          <a:p>
            <a:pPr indent="0" marL="0">
              <a:buNone/>
            </a:pPr>
            <a:r>
              <a:rPr lang="en-US" sz="1000" b="1" spc="100" kern="0" dirty="0">
                <a:solidFill>
                  <a:srgbClr val="EDF3EC"/>
                </a:solidFill>
                <a:latin typeface="Calibri" pitchFamily="34" charset="0"/>
                <a:ea typeface="Calibri" pitchFamily="34" charset="-122"/>
                <a:cs typeface="Calibri" pitchFamily="34" charset="-120"/>
              </a:rPr>
              <a:t>LAYER 2</a:t>
            </a:r>
            <a:endParaRPr lang="en-US" sz="1000" dirty="0"/>
          </a:p>
          <a:p>
            <a:pPr indent="0" marL="0">
              <a:buNone/>
            </a:pPr>
            <a:r>
              <a:rPr lang="en-US" sz="1500" b="1" dirty="0">
                <a:solidFill>
                  <a:srgbClr val="FFFFFF"/>
                </a:solidFill>
                <a:latin typeface="Calibri" pitchFamily="34" charset="0"/>
                <a:ea typeface="Calibri" pitchFamily="34" charset="-122"/>
                <a:cs typeface="Calibri" pitchFamily="34" charset="-120"/>
              </a:rPr>
              <a:t>Service Delivery</a:t>
            </a:r>
            <a:endParaRPr lang="en-US" sz="1000" dirty="0"/>
          </a:p>
        </p:txBody>
      </p:sp>
      <p:sp>
        <p:nvSpPr>
          <p:cNvPr id="54" name="Text 47"/>
          <p:cNvSpPr txBox="1"/>
          <p:nvPr/>
        </p:nvSpPr>
        <p:spPr>
          <a:xfrm>
            <a:off x="6187288" y="5577840"/>
            <a:ext cx="2636444" cy="777240"/>
          </a:xfrm>
          <a:prstGeom prst="roundRect">
            <a:avLst>
              <a:gd name="adj" fmla="val 11765"/>
            </a:avLst>
          </a:prstGeom>
          <a:solidFill>
            <a:srgbClr val="3A6B3F"/>
          </a:solidFill>
          <a:ln/>
        </p:spPr>
        <p:txBody>
          <a:bodyPr wrap="square" lIns="177800" tIns="0" rIns="177800" bIns="0" rtlCol="0" anchor="ctr"/>
          <a:lstStyle/>
          <a:p>
            <a:pPr indent="0" marL="0">
              <a:buNone/>
            </a:pPr>
            <a:r>
              <a:rPr lang="en-US" sz="1000" b="1" spc="100" kern="0" dirty="0">
                <a:solidFill>
                  <a:srgbClr val="EDF3EC"/>
                </a:solidFill>
                <a:latin typeface="Calibri" pitchFamily="34" charset="0"/>
                <a:ea typeface="Calibri" pitchFamily="34" charset="-122"/>
                <a:cs typeface="Calibri" pitchFamily="34" charset="-120"/>
              </a:rPr>
              <a:t>LAYER 3</a:t>
            </a:r>
            <a:endParaRPr lang="en-US" sz="1000" dirty="0"/>
          </a:p>
          <a:p>
            <a:pPr indent="0" marL="0">
              <a:buNone/>
            </a:pPr>
            <a:r>
              <a:rPr lang="en-US" sz="1500" b="1" dirty="0">
                <a:solidFill>
                  <a:srgbClr val="FFFFFF"/>
                </a:solidFill>
                <a:latin typeface="Calibri" pitchFamily="34" charset="0"/>
                <a:ea typeface="Calibri" pitchFamily="34" charset="-122"/>
                <a:cs typeface="Calibri" pitchFamily="34" charset="-120"/>
              </a:rPr>
              <a:t>Technical Capability</a:t>
            </a:r>
            <a:endParaRPr lang="en-US" sz="1000" dirty="0"/>
          </a:p>
        </p:txBody>
      </p:sp>
      <p:sp>
        <p:nvSpPr>
          <p:cNvPr id="55" name="Text 48"/>
          <p:cNvSpPr txBox="1"/>
          <p:nvPr/>
        </p:nvSpPr>
        <p:spPr>
          <a:xfrm>
            <a:off x="9006611" y="5577840"/>
            <a:ext cx="2636444" cy="777240"/>
          </a:xfrm>
          <a:prstGeom prst="roundRect">
            <a:avLst>
              <a:gd name="adj" fmla="val 11765"/>
            </a:avLst>
          </a:prstGeom>
          <a:solidFill>
            <a:srgbClr val="3A6B3F"/>
          </a:solidFill>
          <a:ln/>
        </p:spPr>
        <p:txBody>
          <a:bodyPr wrap="square" lIns="177800" tIns="0" rIns="177800" bIns="0" rtlCol="0" anchor="ctr"/>
          <a:lstStyle/>
          <a:p>
            <a:pPr indent="0" marL="0">
              <a:buNone/>
            </a:pPr>
            <a:r>
              <a:rPr lang="en-US" sz="1000" b="1" spc="100" kern="0" dirty="0">
                <a:solidFill>
                  <a:srgbClr val="EDF3EC"/>
                </a:solidFill>
                <a:latin typeface="Calibri" pitchFamily="34" charset="0"/>
                <a:ea typeface="Calibri" pitchFamily="34" charset="-122"/>
                <a:cs typeface="Calibri" pitchFamily="34" charset="-120"/>
              </a:rPr>
              <a:t>LAYER 4</a:t>
            </a:r>
            <a:endParaRPr lang="en-US" sz="1000" dirty="0"/>
          </a:p>
          <a:p>
            <a:pPr indent="0" marL="0">
              <a:buNone/>
            </a:pPr>
            <a:r>
              <a:rPr lang="en-US" sz="1500" b="1" dirty="0">
                <a:solidFill>
                  <a:srgbClr val="FFFFFF"/>
                </a:solidFill>
                <a:latin typeface="Calibri" pitchFamily="34" charset="0"/>
                <a:ea typeface="Calibri" pitchFamily="34" charset="-122"/>
                <a:cs typeface="Calibri" pitchFamily="34" charset="-120"/>
              </a:rPr>
              <a:t>Governance &amp; Trust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28562D"/>
                </a:solidFill>
                <a:latin typeface="Calibri" pitchFamily="34" charset="0"/>
                <a:ea typeface="Calibri" pitchFamily="34" charset="-122"/>
                <a:cs typeface="Calibri" pitchFamily="34" charset="-120"/>
              </a:rPr>
              <a:t>FLOW 1 OF 6</a:t>
            </a:r>
            <a:endParaRPr lang="en-US" sz="1200" dirty="0"/>
          </a:p>
        </p:txBody>
      </p:sp>
      <p:sp>
        <p:nvSpPr>
          <p:cNvPr id="3" name="Text 1"/>
          <p:cNvSpPr txBox="1"/>
          <p:nvPr/>
        </p:nvSpPr>
        <p:spPr>
          <a:xfrm>
            <a:off x="548640" y="713232"/>
            <a:ext cx="7040880" cy="685800"/>
          </a:xfrm>
          <a:prstGeom prst="rect">
            <a:avLst/>
          </a:prstGeom>
          <a:noFill/>
          <a:ln/>
        </p:spPr>
        <p:txBody>
          <a:bodyPr wrap="square" lIns="0" tIns="0" rIns="0" bIns="0" rtlCol="0" anchor="ctr"/>
          <a:lstStyle/>
          <a:p>
            <a:pPr indent="0" marL="0">
              <a:buNone/>
            </a:pPr>
            <a:r>
              <a:rPr lang="en-US" sz="3600" b="1" dirty="0">
                <a:solidFill>
                  <a:srgbClr val="1B1E1D"/>
                </a:solidFill>
                <a:latin typeface="Cambria" pitchFamily="34" charset="0"/>
                <a:ea typeface="Cambria" pitchFamily="34" charset="-122"/>
                <a:cs typeface="Cambria" pitchFamily="34" charset="-120"/>
              </a:rPr>
              <a:t>Safe voice intake</a:t>
            </a:r>
            <a:endParaRPr lang="en-US" sz="3600" dirty="0"/>
          </a:p>
        </p:txBody>
      </p:sp>
      <p:sp>
        <p:nvSpPr>
          <p:cNvPr id="4" name="Shape 2"/>
          <p:cNvSpPr/>
          <p:nvPr/>
        </p:nvSpPr>
        <p:spPr>
          <a:xfrm>
            <a:off x="7708392" y="457200"/>
            <a:ext cx="3934663" cy="731520"/>
          </a:xfrm>
          <a:prstGeom prst="roundRect">
            <a:avLst>
              <a:gd name="adj" fmla="val 150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836408" y="612648"/>
            <a:ext cx="420624" cy="420624"/>
          </a:xfrm>
          <a:prstGeom prst="ellipse">
            <a:avLst/>
          </a:prstGeom>
          <a:solidFill>
            <a:srgbClr val="28562D"/>
          </a:solidFill>
          <a:ln/>
        </p:spPr>
      </p:sp>
      <p:pic>
        <p:nvPicPr>
          <p:cNvPr id="6" name="Image 0" descr="preencoded.png">    </p:cNvPr>
          <p:cNvPicPr>
            <a:picLocks noChangeAspect="1"/>
          </p:cNvPicPr>
          <p:nvPr/>
        </p:nvPicPr>
        <p:blipFill>
          <a:blip r:embed="rId1"/>
          <a:stretch>
            <a:fillRect/>
          </a:stretch>
        </p:blipFill>
        <p:spPr>
          <a:xfrm>
            <a:off x="7937358" y="713598"/>
            <a:ext cx="218724" cy="218724"/>
          </a:xfrm>
          <a:prstGeom prst="rect">
            <a:avLst/>
          </a:prstGeom>
        </p:spPr>
      </p:pic>
      <p:sp>
        <p:nvSpPr>
          <p:cNvPr id="7" name="Text 4"/>
          <p:cNvSpPr txBox="1"/>
          <p:nvPr/>
        </p:nvSpPr>
        <p:spPr>
          <a:xfrm>
            <a:off x="8366760" y="512064"/>
            <a:ext cx="3184855" cy="621792"/>
          </a:xfrm>
          <a:prstGeom prst="rect">
            <a:avLst/>
          </a:prstGeom>
          <a:noFill/>
          <a:ln/>
        </p:spPr>
        <p:txBody>
          <a:bodyPr wrap="square" lIns="0" tIns="0" rIns="0" bIns="0" rtlCol="0" anchor="ctr"/>
          <a:lstStyle/>
          <a:p>
            <a:pPr indent="0" marL="0">
              <a:buNone/>
            </a:pPr>
            <a:r>
              <a:rPr lang="en-US" sz="1000" b="1" spc="100" kern="0" dirty="0">
                <a:solidFill>
                  <a:srgbClr val="28562D"/>
                </a:solidFill>
                <a:latin typeface="Calibri" pitchFamily="34" charset="0"/>
                <a:ea typeface="Calibri" pitchFamily="34" charset="-122"/>
                <a:cs typeface="Calibri" pitchFamily="34" charset="-120"/>
              </a:rPr>
              <a:t>ONE RECORD</a:t>
            </a:r>
            <a:endParaRPr lang="en-US" sz="1000" dirty="0"/>
          </a:p>
          <a:p>
            <a:pPr indent="0" marL="0">
              <a:buNone/>
            </a:pPr>
            <a:r>
              <a:rPr lang="en-US" sz="1200" dirty="0">
                <a:solidFill>
                  <a:srgbClr val="1B1E1D"/>
                </a:solidFill>
                <a:latin typeface="Calibri" pitchFamily="34" charset="0"/>
                <a:ea typeface="Calibri" pitchFamily="34" charset="-122"/>
                <a:cs typeface="Calibri" pitchFamily="34" charset="-120"/>
              </a:rPr>
              <a:t>Application ID at submission · no Case ID yet</a:t>
            </a:r>
            <a:endParaRPr lang="en-US" sz="1000" dirty="0"/>
          </a:p>
        </p:txBody>
      </p:sp>
      <p:sp>
        <p:nvSpPr>
          <p:cNvPr id="8" name="Text 5"/>
          <p:cNvSpPr txBox="1"/>
          <p:nvPr/>
        </p:nvSpPr>
        <p:spPr>
          <a:xfrm>
            <a:off x="548640" y="1645920"/>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CITIZENS</a:t>
            </a:r>
            <a:endParaRPr lang="en-US" sz="1000" dirty="0"/>
          </a:p>
        </p:txBody>
      </p:sp>
      <p:sp>
        <p:nvSpPr>
          <p:cNvPr id="9" name="Text 6"/>
          <p:cNvSpPr txBox="1"/>
          <p:nvPr/>
        </p:nvSpPr>
        <p:spPr>
          <a:xfrm>
            <a:off x="1691640" y="1645920"/>
            <a:ext cx="973836" cy="329184"/>
          </a:xfrm>
          <a:prstGeom prst="roundRect">
            <a:avLst>
              <a:gd name="adj" fmla="val 50000"/>
            </a:avLst>
          </a:prstGeom>
          <a:solidFill>
            <a:srgbClr val="2856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A1 Moyuri</a:t>
            </a:r>
            <a:endParaRPr lang="en-US" sz="1200" dirty="0"/>
          </a:p>
        </p:txBody>
      </p:sp>
      <p:sp>
        <p:nvSpPr>
          <p:cNvPr id="10" name="Text 7"/>
          <p:cNvSpPr txBox="1"/>
          <p:nvPr/>
        </p:nvSpPr>
        <p:spPr>
          <a:xfrm>
            <a:off x="2756916" y="1645920"/>
            <a:ext cx="2119884" cy="329184"/>
          </a:xfrm>
          <a:prstGeom prst="roundRect">
            <a:avLst>
              <a:gd name="adj" fmla="val 50000"/>
            </a:avLst>
          </a:prstGeom>
          <a:solidFill>
            <a:srgbClr val="2856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A2 Ripon (representative)</a:t>
            </a:r>
            <a:endParaRPr lang="en-US" sz="1200" dirty="0"/>
          </a:p>
        </p:txBody>
      </p:sp>
      <p:sp>
        <p:nvSpPr>
          <p:cNvPr id="11" name="Text 8"/>
          <p:cNvSpPr txBox="1"/>
          <p:nvPr/>
        </p:nvSpPr>
        <p:spPr>
          <a:xfrm>
            <a:off x="548640" y="2084832"/>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PROVIDERS</a:t>
            </a:r>
            <a:endParaRPr lang="en-US" sz="1000" dirty="0"/>
          </a:p>
        </p:txBody>
      </p:sp>
      <p:sp>
        <p:nvSpPr>
          <p:cNvPr id="12" name="Text 9"/>
          <p:cNvSpPr txBox="1"/>
          <p:nvPr/>
        </p:nvSpPr>
        <p:spPr>
          <a:xfrm>
            <a:off x="1691640" y="2084832"/>
            <a:ext cx="1546860"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B3 16699 helpline</a:t>
            </a:r>
            <a:endParaRPr lang="en-US" sz="1200" dirty="0"/>
          </a:p>
        </p:txBody>
      </p:sp>
      <p:sp>
        <p:nvSpPr>
          <p:cNvPr id="13" name="Text 10"/>
          <p:cNvSpPr txBox="1"/>
          <p:nvPr/>
        </p:nvSpPr>
        <p:spPr>
          <a:xfrm>
            <a:off x="3329940" y="2084832"/>
            <a:ext cx="1403604"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B1 DLAO officer</a:t>
            </a:r>
            <a:endParaRPr lang="en-US" sz="1200" dirty="0"/>
          </a:p>
        </p:txBody>
      </p:sp>
      <p:sp>
        <p:nvSpPr>
          <p:cNvPr id="14" name="Text 11"/>
          <p:cNvSpPr txBox="1"/>
          <p:nvPr/>
        </p:nvSpPr>
        <p:spPr>
          <a:xfrm>
            <a:off x="548640" y="2523744"/>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MODULES</a:t>
            </a:r>
            <a:endParaRPr lang="en-US" sz="1000" dirty="0"/>
          </a:p>
        </p:txBody>
      </p:sp>
      <p:sp>
        <p:nvSpPr>
          <p:cNvPr id="15" name="Text 12"/>
          <p:cNvSpPr txBox="1"/>
          <p:nvPr/>
        </p:nvSpPr>
        <p:spPr>
          <a:xfrm>
            <a:off x="1691640" y="2523744"/>
            <a:ext cx="1837944" cy="329184"/>
          </a:xfrm>
          <a:prstGeom prst="roundRect">
            <a:avLst>
              <a:gd name="adj" fmla="val 50000"/>
            </a:avLst>
          </a:prstGeom>
          <a:solidFill>
            <a:srgbClr val="FFFFFF"/>
          </a:solidFill>
          <a:ln w="9525">
            <a:solidFill>
              <a:srgbClr val="E3E2DC"/>
            </a:solidFill>
          </a:ln>
        </p:spPr>
        <p:txBody>
          <a:bodyPr wrap="square" lIns="0" tIns="0" rIns="0" bIns="0" rtlCol="0" anchor="ctr"/>
          <a:lstStyle/>
          <a:p>
            <a:pPr algn="ctr" indent="0" marL="0">
              <a:buNone/>
            </a:pPr>
            <a:r>
              <a:rPr lang="en-US" sz="1200" dirty="0">
                <a:solidFill>
                  <a:srgbClr val="1B1E1D"/>
                </a:solidFill>
                <a:latin typeface="Calibri" pitchFamily="34" charset="0"/>
                <a:ea typeface="Calibri" pitchFamily="34" charset="-122"/>
                <a:cs typeface="Calibri" pitchFamily="34" charset="-120"/>
              </a:rPr>
              <a:t>T5 Bangla intake agent</a:t>
            </a:r>
            <a:endParaRPr lang="en-US" sz="1200" dirty="0"/>
          </a:p>
        </p:txBody>
      </p:sp>
      <p:sp>
        <p:nvSpPr>
          <p:cNvPr id="16" name="Text 13"/>
          <p:cNvSpPr txBox="1"/>
          <p:nvPr/>
        </p:nvSpPr>
        <p:spPr>
          <a:xfrm>
            <a:off x="548640" y="3182112"/>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4"/>
          <p:cNvSpPr txBox="1"/>
          <p:nvPr/>
        </p:nvSpPr>
        <p:spPr>
          <a:xfrm>
            <a:off x="1097280" y="3163824"/>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Ripon calls for his sister Moyuri</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38 recorded Bangla prompts guide the call; he answers by voice or keypad. Every fact stays marked representative-reported.</a:t>
            </a:r>
            <a:endParaRPr lang="en-US" sz="1500" dirty="0"/>
          </a:p>
        </p:txBody>
      </p:sp>
      <p:sp>
        <p:nvSpPr>
          <p:cNvPr id="18" name="Text 15"/>
          <p:cNvSpPr txBox="1"/>
          <p:nvPr/>
        </p:nvSpPr>
        <p:spPr>
          <a:xfrm>
            <a:off x="548640" y="3986784"/>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6"/>
          <p:cNvSpPr txBox="1"/>
          <p:nvPr/>
        </p:nvSpPr>
        <p:spPr>
          <a:xfrm>
            <a:off x="1097280" y="3968496"/>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Read-back before submit</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The caller corrects any field. The call ends with an Application ID and a 6-digit status PIN.</a:t>
            </a:r>
            <a:endParaRPr lang="en-US" sz="1500" dirty="0"/>
          </a:p>
        </p:txBody>
      </p:sp>
      <p:sp>
        <p:nvSpPr>
          <p:cNvPr id="20" name="Text 17"/>
          <p:cNvSpPr txBox="1"/>
          <p:nvPr/>
        </p:nvSpPr>
        <p:spPr>
          <a:xfrm>
            <a:off x="548640" y="4791456"/>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1097280" y="4773168"/>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The wrong person answers</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The officer's neutral script reveals nothing; the attempt is logged and a safer follow-up task appears.</a:t>
            </a:r>
            <a:endParaRPr lang="en-US" sz="1500" dirty="0"/>
          </a:p>
        </p:txBody>
      </p:sp>
      <p:sp>
        <p:nvSpPr>
          <p:cNvPr id="22" name="Shape 19"/>
          <p:cNvSpPr/>
          <p:nvPr/>
        </p:nvSpPr>
        <p:spPr>
          <a:xfrm>
            <a:off x="6355080" y="1645920"/>
            <a:ext cx="5287975" cy="3108960"/>
          </a:xfrm>
          <a:prstGeom prst="roundRect">
            <a:avLst>
              <a:gd name="adj" fmla="val 3529"/>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pic>
        <p:nvPicPr>
          <p:cNvPr id="23" name="Image 1" descr="Prototype screen: /voice">    </p:cNvPr>
          <p:cNvPicPr>
            <a:picLocks noChangeAspect="1"/>
          </p:cNvPicPr>
          <p:nvPr/>
        </p:nvPicPr>
        <p:blipFill>
          <a:blip r:embed="rId2"/>
          <a:stretch>
            <a:fillRect/>
          </a:stretch>
        </p:blipFill>
        <p:spPr>
          <a:xfrm>
            <a:off x="6446520" y="1764592"/>
            <a:ext cx="5105095" cy="2871616"/>
          </a:xfrm>
          <a:prstGeom prst="rect">
            <a:avLst/>
          </a:prstGeom>
        </p:spPr>
      </p:pic>
      <p:sp>
        <p:nvSpPr>
          <p:cNvPr id="24" name="Text 20"/>
          <p:cNvSpPr txBox="1"/>
          <p:nvPr/>
        </p:nvSpPr>
        <p:spPr>
          <a:xfrm>
            <a:off x="6355080" y="4809744"/>
            <a:ext cx="5287975" cy="237744"/>
          </a:xfrm>
          <a:prstGeom prst="rect">
            <a:avLst/>
          </a:prstGeom>
          <a:noFill/>
          <a:ln/>
        </p:spPr>
        <p:txBody>
          <a:bodyPr wrap="square" lIns="0" tIns="0" rIns="0" bIns="0" rtlCol="0" anchor="t"/>
          <a:lstStyle/>
          <a:p>
            <a:pPr indent="0" marL="0">
              <a:buNone/>
            </a:pPr>
            <a:r>
              <a:rPr lang="en-US" sz="1100" dirty="0">
                <a:solidFill>
                  <a:srgbClr val="4E5751"/>
                </a:solidFill>
                <a:latin typeface="Calibri" pitchFamily="34" charset="0"/>
                <a:ea typeface="Calibri" pitchFamily="34" charset="-122"/>
                <a:cs typeface="Calibri" pitchFamily="34" charset="-120"/>
              </a:rPr>
              <a:t>Screen: /voice</a:t>
            </a:r>
            <a:endParaRPr lang="en-US" sz="1100" dirty="0"/>
          </a:p>
        </p:txBody>
      </p:sp>
      <p:sp>
        <p:nvSpPr>
          <p:cNvPr id="25" name="Shape 21"/>
          <p:cNvSpPr/>
          <p:nvPr/>
        </p:nvSpPr>
        <p:spPr>
          <a:xfrm>
            <a:off x="548640" y="5669280"/>
            <a:ext cx="11094415" cy="621792"/>
          </a:xfrm>
          <a:prstGeom prst="roundRect">
            <a:avLst>
              <a:gd name="adj" fmla="val 17647"/>
            </a:avLst>
          </a:prstGeom>
          <a:solidFill>
            <a:srgbClr val="EDF3EC"/>
          </a:solidFill>
          <a:ln/>
        </p:spPr>
      </p:sp>
      <p:sp>
        <p:nvSpPr>
          <p:cNvPr id="26" name="Shape 22"/>
          <p:cNvSpPr/>
          <p:nvPr/>
        </p:nvSpPr>
        <p:spPr>
          <a:xfrm>
            <a:off x="694944" y="5788152"/>
            <a:ext cx="384048" cy="384048"/>
          </a:xfrm>
          <a:prstGeom prst="ellipse">
            <a:avLst/>
          </a:prstGeom>
          <a:solidFill>
            <a:srgbClr val="28562D"/>
          </a:solidFill>
          <a:ln/>
        </p:spPr>
      </p:sp>
      <p:pic>
        <p:nvPicPr>
          <p:cNvPr id="27" name="Image 2" descr="preencoded.png">    </p:cNvPr>
          <p:cNvPicPr>
            <a:picLocks noChangeAspect="1"/>
          </p:cNvPicPr>
          <p:nvPr/>
        </p:nvPicPr>
        <p:blipFill>
          <a:blip r:embed="rId3"/>
          <a:stretch>
            <a:fillRect/>
          </a:stretch>
        </p:blipFill>
        <p:spPr>
          <a:xfrm>
            <a:off x="787116" y="5880324"/>
            <a:ext cx="199705" cy="199705"/>
          </a:xfrm>
          <a:prstGeom prst="rect">
            <a:avLst/>
          </a:prstGeom>
        </p:spPr>
      </p:pic>
      <p:sp>
        <p:nvSpPr>
          <p:cNvPr id="28" name="Text 23"/>
          <p:cNvSpPr txBox="1"/>
          <p:nvPr/>
        </p:nvSpPr>
        <p:spPr>
          <a:xfrm>
            <a:off x="1234440" y="5669280"/>
            <a:ext cx="10271455" cy="621792"/>
          </a:xfrm>
          <a:prstGeom prst="rect">
            <a:avLst/>
          </a:prstGeom>
          <a:noFill/>
          <a:ln/>
        </p:spPr>
        <p:txBody>
          <a:bodyPr wrap="square" lIns="0" tIns="0" rIns="0" bIns="0" rtlCol="0" anchor="ctr"/>
          <a:lstStyle/>
          <a:p>
            <a:pPr indent="0" marL="0">
              <a:buNone/>
            </a:pPr>
            <a:r>
              <a:rPr lang="en-US" sz="1450" b="1" dirty="0">
                <a:solidFill>
                  <a:srgbClr val="28562D"/>
                </a:solidFill>
                <a:latin typeface="Calibri" pitchFamily="34" charset="0"/>
                <a:ea typeface="Calibri" pitchFamily="34" charset="-122"/>
                <a:cs typeface="Calibri" pitchFamily="34" charset="-120"/>
              </a:rPr>
              <a:t>Human decides: </a:t>
            </a:r>
            <a:pPr indent="0" marL="0">
              <a:buNone/>
            </a:pPr>
            <a:r>
              <a:rPr lang="en-US" sz="1450" dirty="0">
                <a:solidFill>
                  <a:srgbClr val="1B1E1D"/>
                </a:solidFill>
                <a:latin typeface="Calibri" pitchFamily="34" charset="0"/>
                <a:ea typeface="Calibri" pitchFamily="34" charset="-122"/>
                <a:cs typeface="Calibri" pitchFamily="34" charset="-120"/>
              </a:rPr>
              <a:t>the DLAO officer verifies safety, identity and eligibility. The AI never sets priority or eligibility.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28562D"/>
                </a:solidFill>
                <a:latin typeface="Calibri" pitchFamily="34" charset="0"/>
                <a:ea typeface="Calibri" pitchFamily="34" charset="-122"/>
                <a:cs typeface="Calibri" pitchFamily="34" charset="-120"/>
              </a:rPr>
              <a:t>FLOW 2 OF 6</a:t>
            </a:r>
            <a:endParaRPr lang="en-US" sz="1200" dirty="0"/>
          </a:p>
        </p:txBody>
      </p:sp>
      <p:sp>
        <p:nvSpPr>
          <p:cNvPr id="3" name="Text 1"/>
          <p:cNvSpPr txBox="1"/>
          <p:nvPr/>
        </p:nvSpPr>
        <p:spPr>
          <a:xfrm>
            <a:off x="548640" y="713232"/>
            <a:ext cx="7040880" cy="685800"/>
          </a:xfrm>
          <a:prstGeom prst="rect">
            <a:avLst/>
          </a:prstGeom>
          <a:noFill/>
          <a:ln/>
        </p:spPr>
        <p:txBody>
          <a:bodyPr wrap="square" lIns="0" tIns="0" rIns="0" bIns="0" rtlCol="0" anchor="ctr"/>
          <a:lstStyle/>
          <a:p>
            <a:pPr indent="0" marL="0">
              <a:buNone/>
            </a:pPr>
            <a:r>
              <a:rPr lang="en-US" sz="3600" b="1" dirty="0">
                <a:solidFill>
                  <a:srgbClr val="1B1E1D"/>
                </a:solidFill>
                <a:latin typeface="Cambria" pitchFamily="34" charset="0"/>
                <a:ea typeface="Cambria" pitchFamily="34" charset="-122"/>
                <a:cs typeface="Cambria" pitchFamily="34" charset="-120"/>
              </a:rPr>
              <a:t>Assisted intake at a UDC</a:t>
            </a:r>
            <a:endParaRPr lang="en-US" sz="3600" dirty="0"/>
          </a:p>
        </p:txBody>
      </p:sp>
      <p:sp>
        <p:nvSpPr>
          <p:cNvPr id="4" name="Shape 2"/>
          <p:cNvSpPr/>
          <p:nvPr/>
        </p:nvSpPr>
        <p:spPr>
          <a:xfrm>
            <a:off x="7708392" y="457200"/>
            <a:ext cx="3934663" cy="731520"/>
          </a:xfrm>
          <a:prstGeom prst="roundRect">
            <a:avLst>
              <a:gd name="adj" fmla="val 150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836408" y="612648"/>
            <a:ext cx="420624" cy="420624"/>
          </a:xfrm>
          <a:prstGeom prst="ellipse">
            <a:avLst/>
          </a:prstGeom>
          <a:solidFill>
            <a:srgbClr val="28562D"/>
          </a:solidFill>
          <a:ln/>
        </p:spPr>
      </p:sp>
      <p:pic>
        <p:nvPicPr>
          <p:cNvPr id="6" name="Image 0" descr="preencoded.png">    </p:cNvPr>
          <p:cNvPicPr>
            <a:picLocks noChangeAspect="1"/>
          </p:cNvPicPr>
          <p:nvPr/>
        </p:nvPicPr>
        <p:blipFill>
          <a:blip r:embed="rId1"/>
          <a:stretch>
            <a:fillRect/>
          </a:stretch>
        </p:blipFill>
        <p:spPr>
          <a:xfrm>
            <a:off x="7937358" y="713598"/>
            <a:ext cx="218724" cy="218724"/>
          </a:xfrm>
          <a:prstGeom prst="rect">
            <a:avLst/>
          </a:prstGeom>
        </p:spPr>
      </p:pic>
      <p:sp>
        <p:nvSpPr>
          <p:cNvPr id="7" name="Text 4"/>
          <p:cNvSpPr txBox="1"/>
          <p:nvPr/>
        </p:nvSpPr>
        <p:spPr>
          <a:xfrm>
            <a:off x="8366760" y="512064"/>
            <a:ext cx="3184855" cy="621792"/>
          </a:xfrm>
          <a:prstGeom prst="rect">
            <a:avLst/>
          </a:prstGeom>
          <a:noFill/>
          <a:ln/>
        </p:spPr>
        <p:txBody>
          <a:bodyPr wrap="square" lIns="0" tIns="0" rIns="0" bIns="0" rtlCol="0" anchor="ctr"/>
          <a:lstStyle/>
          <a:p>
            <a:pPr indent="0" marL="0">
              <a:buNone/>
            </a:pPr>
            <a:r>
              <a:rPr lang="en-US" sz="1000" b="1" spc="100" kern="0" dirty="0">
                <a:solidFill>
                  <a:srgbClr val="28562D"/>
                </a:solidFill>
                <a:latin typeface="Calibri" pitchFamily="34" charset="0"/>
                <a:ea typeface="Calibri" pitchFamily="34" charset="-122"/>
                <a:cs typeface="Calibri" pitchFamily="34" charset="-120"/>
              </a:rPr>
              <a:t>ONE RECORD</a:t>
            </a:r>
            <a:endParaRPr lang="en-US" sz="1000" dirty="0"/>
          </a:p>
          <a:p>
            <a:pPr indent="0" marL="0">
              <a:buNone/>
            </a:pPr>
            <a:r>
              <a:rPr lang="en-US" sz="1200" dirty="0">
                <a:solidFill>
                  <a:srgbClr val="1B1E1D"/>
                </a:solidFill>
                <a:latin typeface="Calibri" pitchFamily="34" charset="0"/>
                <a:ea typeface="Calibri" pitchFamily="34" charset="-122"/>
                <a:cs typeface="Calibri" pitchFamily="34" charset="-120"/>
              </a:rPr>
              <a:t>Same Application · original and translation kept</a:t>
            </a:r>
            <a:endParaRPr lang="en-US" sz="1000" dirty="0"/>
          </a:p>
        </p:txBody>
      </p:sp>
      <p:sp>
        <p:nvSpPr>
          <p:cNvPr id="8" name="Text 5"/>
          <p:cNvSpPr txBox="1"/>
          <p:nvPr/>
        </p:nvSpPr>
        <p:spPr>
          <a:xfrm>
            <a:off x="548640" y="1645920"/>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CITIZENS</a:t>
            </a:r>
            <a:endParaRPr lang="en-US" sz="1000" dirty="0"/>
          </a:p>
        </p:txBody>
      </p:sp>
      <p:sp>
        <p:nvSpPr>
          <p:cNvPr id="9" name="Text 6"/>
          <p:cNvSpPr txBox="1"/>
          <p:nvPr/>
        </p:nvSpPr>
        <p:spPr>
          <a:xfrm>
            <a:off x="1691640" y="1645920"/>
            <a:ext cx="1475232" cy="329184"/>
          </a:xfrm>
          <a:prstGeom prst="roundRect">
            <a:avLst>
              <a:gd name="adj" fmla="val 50000"/>
            </a:avLst>
          </a:prstGeom>
          <a:solidFill>
            <a:srgbClr val="2856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A4 Nuching Marma</a:t>
            </a:r>
            <a:endParaRPr lang="en-US" sz="1200" dirty="0"/>
          </a:p>
        </p:txBody>
      </p:sp>
      <p:sp>
        <p:nvSpPr>
          <p:cNvPr id="10" name="Text 7"/>
          <p:cNvSpPr txBox="1"/>
          <p:nvPr/>
        </p:nvSpPr>
        <p:spPr>
          <a:xfrm>
            <a:off x="548640" y="2084832"/>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PROVIDERS</a:t>
            </a:r>
            <a:endParaRPr lang="en-US" sz="1000" dirty="0"/>
          </a:p>
        </p:txBody>
      </p:sp>
      <p:sp>
        <p:nvSpPr>
          <p:cNvPr id="11" name="Text 8"/>
          <p:cNvSpPr txBox="1"/>
          <p:nvPr/>
        </p:nvSpPr>
        <p:spPr>
          <a:xfrm>
            <a:off x="1691640" y="2084832"/>
            <a:ext cx="1690116"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B4 UDC entrepreneur</a:t>
            </a:r>
            <a:endParaRPr lang="en-US" sz="1200" dirty="0"/>
          </a:p>
        </p:txBody>
      </p:sp>
      <p:sp>
        <p:nvSpPr>
          <p:cNvPr id="12" name="Text 9"/>
          <p:cNvSpPr txBox="1"/>
          <p:nvPr/>
        </p:nvSpPr>
        <p:spPr>
          <a:xfrm>
            <a:off x="3473196" y="2084832"/>
            <a:ext cx="1403604"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B1 DLAO officer</a:t>
            </a:r>
            <a:endParaRPr lang="en-US" sz="1200" dirty="0"/>
          </a:p>
        </p:txBody>
      </p:sp>
      <p:sp>
        <p:nvSpPr>
          <p:cNvPr id="13" name="Text 10"/>
          <p:cNvSpPr txBox="1"/>
          <p:nvPr/>
        </p:nvSpPr>
        <p:spPr>
          <a:xfrm>
            <a:off x="548640" y="2523744"/>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MODULES</a:t>
            </a:r>
            <a:endParaRPr lang="en-US" sz="1000" dirty="0"/>
          </a:p>
        </p:txBody>
      </p:sp>
      <p:sp>
        <p:nvSpPr>
          <p:cNvPr id="14" name="Text 11"/>
          <p:cNvSpPr txBox="1"/>
          <p:nvPr/>
        </p:nvSpPr>
        <p:spPr>
          <a:xfrm>
            <a:off x="1691640" y="2523744"/>
            <a:ext cx="1495044" cy="329184"/>
          </a:xfrm>
          <a:prstGeom prst="roundRect">
            <a:avLst>
              <a:gd name="adj" fmla="val 50000"/>
            </a:avLst>
          </a:prstGeom>
          <a:solidFill>
            <a:srgbClr val="FFFFFF"/>
          </a:solidFill>
          <a:ln w="9525">
            <a:solidFill>
              <a:srgbClr val="E3E2DC"/>
            </a:solidFill>
          </a:ln>
        </p:spPr>
        <p:txBody>
          <a:bodyPr wrap="square" lIns="0" tIns="0" rIns="0" bIns="0" rtlCol="0" anchor="ctr"/>
          <a:lstStyle/>
          <a:p>
            <a:pPr algn="ctr" indent="0" marL="0">
              <a:buNone/>
            </a:pPr>
            <a:r>
              <a:rPr lang="en-US" sz="1200" dirty="0">
                <a:solidFill>
                  <a:srgbClr val="1B1E1D"/>
                </a:solidFill>
                <a:latin typeface="Calibri" pitchFamily="34" charset="0"/>
                <a:ea typeface="Calibri" pitchFamily="34" charset="-122"/>
                <a:cs typeface="Calibri" pitchFamily="34" charset="-120"/>
              </a:rPr>
              <a:t>T6 Document agent</a:t>
            </a:r>
            <a:endParaRPr lang="en-US" sz="1200" dirty="0"/>
          </a:p>
        </p:txBody>
      </p:sp>
      <p:sp>
        <p:nvSpPr>
          <p:cNvPr id="15" name="Text 12"/>
          <p:cNvSpPr txBox="1"/>
          <p:nvPr/>
        </p:nvSpPr>
        <p:spPr>
          <a:xfrm>
            <a:off x="3278124" y="2523744"/>
            <a:ext cx="1769364" cy="329184"/>
          </a:xfrm>
          <a:prstGeom prst="roundRect">
            <a:avLst>
              <a:gd name="adj" fmla="val 50000"/>
            </a:avLst>
          </a:prstGeom>
          <a:solidFill>
            <a:srgbClr val="FFFFFF"/>
          </a:solidFill>
          <a:ln w="9525">
            <a:solidFill>
              <a:srgbClr val="E3E2DC"/>
            </a:solidFill>
          </a:ln>
        </p:spPr>
        <p:txBody>
          <a:bodyPr wrap="square" lIns="0" tIns="0" rIns="0" bIns="0" rtlCol="0" anchor="ctr"/>
          <a:lstStyle/>
          <a:p>
            <a:pPr algn="ctr" indent="0" marL="0">
              <a:buNone/>
            </a:pPr>
            <a:r>
              <a:rPr lang="en-US" sz="1200" dirty="0">
                <a:solidFill>
                  <a:srgbClr val="1B1E1D"/>
                </a:solidFill>
                <a:latin typeface="Calibri" pitchFamily="34" charset="0"/>
                <a:ea typeface="Calibri" pitchFamily="34" charset="-122"/>
                <a:cs typeface="Calibri" pitchFamily="34" charset="-120"/>
              </a:rPr>
              <a:t>T10 Low-bandwidth PWA</a:t>
            </a:r>
            <a:endParaRPr lang="en-US" sz="1200" dirty="0"/>
          </a:p>
        </p:txBody>
      </p:sp>
      <p:sp>
        <p:nvSpPr>
          <p:cNvPr id="16" name="Text 13"/>
          <p:cNvSpPr txBox="1"/>
          <p:nvPr/>
        </p:nvSpPr>
        <p:spPr>
          <a:xfrm>
            <a:off x="548640" y="3182112"/>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4"/>
          <p:cNvSpPr txBox="1"/>
          <p:nvPr/>
        </p:nvSpPr>
        <p:spPr>
          <a:xfrm>
            <a:off x="1097280" y="3163824"/>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Everyone's role is recorded</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Applicant, helper, translator and typist stay separate. The helper's phone never becomes the applicant's contact.</a:t>
            </a:r>
            <a:endParaRPr lang="en-US" sz="1500" dirty="0"/>
          </a:p>
        </p:txBody>
      </p:sp>
      <p:sp>
        <p:nvSpPr>
          <p:cNvPr id="18" name="Text 15"/>
          <p:cNvSpPr txBox="1"/>
          <p:nvPr/>
        </p:nvSpPr>
        <p:spPr>
          <a:xfrm>
            <a:off x="548640" y="3986784"/>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6"/>
          <p:cNvSpPr txBox="1"/>
          <p:nvPr/>
        </p:nvSpPr>
        <p:spPr>
          <a:xfrm>
            <a:off x="1097280" y="3968496"/>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Marma original, Bangla translation</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Both versions are kept, with who said and who confirmed each.</a:t>
            </a:r>
            <a:endParaRPr lang="en-US" sz="1500" dirty="0"/>
          </a:p>
        </p:txBody>
      </p:sp>
      <p:sp>
        <p:nvSpPr>
          <p:cNvPr id="20" name="Text 17"/>
          <p:cNvSpPr txBox="1"/>
          <p:nvPr/>
        </p:nvSpPr>
        <p:spPr>
          <a:xfrm>
            <a:off x="548640" y="4791456"/>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1097280" y="4773168"/>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Cited document briefing</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AI summarises; every point quotes its source line. The unreadable deed is flagged, not guessed.</a:t>
            </a:r>
            <a:endParaRPr lang="en-US" sz="1500" dirty="0"/>
          </a:p>
        </p:txBody>
      </p:sp>
      <p:sp>
        <p:nvSpPr>
          <p:cNvPr id="22" name="Shape 19"/>
          <p:cNvSpPr/>
          <p:nvPr/>
        </p:nvSpPr>
        <p:spPr>
          <a:xfrm>
            <a:off x="6355080" y="1645920"/>
            <a:ext cx="5287975" cy="3108960"/>
          </a:xfrm>
          <a:prstGeom prst="roundRect">
            <a:avLst>
              <a:gd name="adj" fmla="val 3529"/>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pic>
        <p:nvPicPr>
          <p:cNvPr id="23" name="Image 1" descr="Prototype screen: /assisted">    </p:cNvPr>
          <p:cNvPicPr>
            <a:picLocks noChangeAspect="1"/>
          </p:cNvPicPr>
          <p:nvPr/>
        </p:nvPicPr>
        <p:blipFill>
          <a:blip r:embed="rId2"/>
          <a:stretch>
            <a:fillRect/>
          </a:stretch>
        </p:blipFill>
        <p:spPr>
          <a:xfrm>
            <a:off x="6446520" y="1764592"/>
            <a:ext cx="5105095" cy="2871616"/>
          </a:xfrm>
          <a:prstGeom prst="rect">
            <a:avLst/>
          </a:prstGeom>
        </p:spPr>
      </p:pic>
      <p:sp>
        <p:nvSpPr>
          <p:cNvPr id="24" name="Text 20"/>
          <p:cNvSpPr txBox="1"/>
          <p:nvPr/>
        </p:nvSpPr>
        <p:spPr>
          <a:xfrm>
            <a:off x="6355080" y="4809744"/>
            <a:ext cx="5287975" cy="237744"/>
          </a:xfrm>
          <a:prstGeom prst="rect">
            <a:avLst/>
          </a:prstGeom>
          <a:noFill/>
          <a:ln/>
        </p:spPr>
        <p:txBody>
          <a:bodyPr wrap="square" lIns="0" tIns="0" rIns="0" bIns="0" rtlCol="0" anchor="t"/>
          <a:lstStyle/>
          <a:p>
            <a:pPr indent="0" marL="0">
              <a:buNone/>
            </a:pPr>
            <a:r>
              <a:rPr lang="en-US" sz="1100" dirty="0">
                <a:solidFill>
                  <a:srgbClr val="4E5751"/>
                </a:solidFill>
                <a:latin typeface="Calibri" pitchFamily="34" charset="0"/>
                <a:ea typeface="Calibri" pitchFamily="34" charset="-122"/>
                <a:cs typeface="Calibri" pitchFamily="34" charset="-120"/>
              </a:rPr>
              <a:t>Screen: /assisted</a:t>
            </a:r>
            <a:endParaRPr lang="en-US" sz="1100" dirty="0"/>
          </a:p>
        </p:txBody>
      </p:sp>
      <p:sp>
        <p:nvSpPr>
          <p:cNvPr id="25" name="Shape 21"/>
          <p:cNvSpPr/>
          <p:nvPr/>
        </p:nvSpPr>
        <p:spPr>
          <a:xfrm>
            <a:off x="548640" y="5669280"/>
            <a:ext cx="11094415" cy="621792"/>
          </a:xfrm>
          <a:prstGeom prst="roundRect">
            <a:avLst>
              <a:gd name="adj" fmla="val 17647"/>
            </a:avLst>
          </a:prstGeom>
          <a:solidFill>
            <a:srgbClr val="EDF3EC"/>
          </a:solidFill>
          <a:ln/>
        </p:spPr>
      </p:sp>
      <p:sp>
        <p:nvSpPr>
          <p:cNvPr id="26" name="Shape 22"/>
          <p:cNvSpPr/>
          <p:nvPr/>
        </p:nvSpPr>
        <p:spPr>
          <a:xfrm>
            <a:off x="694944" y="5788152"/>
            <a:ext cx="384048" cy="384048"/>
          </a:xfrm>
          <a:prstGeom prst="ellipse">
            <a:avLst/>
          </a:prstGeom>
          <a:solidFill>
            <a:srgbClr val="28562D"/>
          </a:solidFill>
          <a:ln/>
        </p:spPr>
      </p:sp>
      <p:pic>
        <p:nvPicPr>
          <p:cNvPr id="27" name="Image 2" descr="preencoded.png">    </p:cNvPr>
          <p:cNvPicPr>
            <a:picLocks noChangeAspect="1"/>
          </p:cNvPicPr>
          <p:nvPr/>
        </p:nvPicPr>
        <p:blipFill>
          <a:blip r:embed="rId3"/>
          <a:stretch>
            <a:fillRect/>
          </a:stretch>
        </p:blipFill>
        <p:spPr>
          <a:xfrm>
            <a:off x="787116" y="5880324"/>
            <a:ext cx="199705" cy="199705"/>
          </a:xfrm>
          <a:prstGeom prst="rect">
            <a:avLst/>
          </a:prstGeom>
        </p:spPr>
      </p:pic>
      <p:sp>
        <p:nvSpPr>
          <p:cNvPr id="28" name="Text 23"/>
          <p:cNvSpPr txBox="1"/>
          <p:nvPr/>
        </p:nvSpPr>
        <p:spPr>
          <a:xfrm>
            <a:off x="1234440" y="5669280"/>
            <a:ext cx="10271455" cy="621792"/>
          </a:xfrm>
          <a:prstGeom prst="rect">
            <a:avLst/>
          </a:prstGeom>
          <a:noFill/>
          <a:ln/>
        </p:spPr>
        <p:txBody>
          <a:bodyPr wrap="square" lIns="0" tIns="0" rIns="0" bIns="0" rtlCol="0" anchor="ctr"/>
          <a:lstStyle/>
          <a:p>
            <a:pPr indent="0" marL="0">
              <a:buNone/>
            </a:pPr>
            <a:r>
              <a:rPr lang="en-US" sz="1450" b="1" dirty="0">
                <a:solidFill>
                  <a:srgbClr val="28562D"/>
                </a:solidFill>
                <a:latin typeface="Calibri" pitchFamily="34" charset="0"/>
                <a:ea typeface="Calibri" pitchFamily="34" charset="-122"/>
                <a:cs typeface="Calibri" pitchFamily="34" charset="-120"/>
              </a:rPr>
              <a:t>Human decides: </a:t>
            </a:r>
            <a:pPr indent="0" marL="0">
              <a:buNone/>
            </a:pPr>
            <a:r>
              <a:rPr lang="en-US" sz="1450" dirty="0">
                <a:solidFill>
                  <a:srgbClr val="1B1E1D"/>
                </a:solidFill>
                <a:latin typeface="Calibri" pitchFamily="34" charset="0"/>
                <a:ea typeface="Calibri" pitchFamily="34" charset="-122"/>
                <a:cs typeface="Calibri" pitchFamily="34" charset="-120"/>
              </a:rPr>
              <a:t>the owning DLAO officer checks each cited point and approves the briefing with a reason.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28562D"/>
                </a:solidFill>
                <a:latin typeface="Calibri" pitchFamily="34" charset="0"/>
                <a:ea typeface="Calibri" pitchFamily="34" charset="-122"/>
                <a:cs typeface="Calibri" pitchFamily="34" charset="-120"/>
              </a:rPr>
              <a:t>FLOW 3 OF 6</a:t>
            </a:r>
            <a:endParaRPr lang="en-US" sz="1200" dirty="0"/>
          </a:p>
        </p:txBody>
      </p:sp>
      <p:sp>
        <p:nvSpPr>
          <p:cNvPr id="3" name="Text 1"/>
          <p:cNvSpPr txBox="1"/>
          <p:nvPr/>
        </p:nvSpPr>
        <p:spPr>
          <a:xfrm>
            <a:off x="548640" y="713232"/>
            <a:ext cx="7040880" cy="685800"/>
          </a:xfrm>
          <a:prstGeom prst="rect">
            <a:avLst/>
          </a:prstGeom>
          <a:noFill/>
          <a:ln/>
        </p:spPr>
        <p:txBody>
          <a:bodyPr wrap="square" lIns="0" tIns="0" rIns="0" bIns="0" rtlCol="0" anchor="ctr"/>
          <a:lstStyle/>
          <a:p>
            <a:pPr indent="0" marL="0">
              <a:buNone/>
            </a:pPr>
            <a:r>
              <a:rPr lang="en-US" sz="3600" b="1" dirty="0">
                <a:solidFill>
                  <a:srgbClr val="1B1E1D"/>
                </a:solidFill>
                <a:latin typeface="Cambria" pitchFamily="34" charset="0"/>
                <a:ea typeface="Cambria" pitchFamily="34" charset="-122"/>
                <a:cs typeface="Cambria" pitchFamily="34" charset="-120"/>
              </a:rPr>
              <a:t>A DLAO officer's day</a:t>
            </a:r>
            <a:endParaRPr lang="en-US" sz="3600" dirty="0"/>
          </a:p>
        </p:txBody>
      </p:sp>
      <p:sp>
        <p:nvSpPr>
          <p:cNvPr id="4" name="Shape 2"/>
          <p:cNvSpPr/>
          <p:nvPr/>
        </p:nvSpPr>
        <p:spPr>
          <a:xfrm>
            <a:off x="7708392" y="457200"/>
            <a:ext cx="3934663" cy="731520"/>
          </a:xfrm>
          <a:prstGeom prst="roundRect">
            <a:avLst>
              <a:gd name="adj" fmla="val 150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836408" y="612648"/>
            <a:ext cx="420624" cy="420624"/>
          </a:xfrm>
          <a:prstGeom prst="ellipse">
            <a:avLst/>
          </a:prstGeom>
          <a:solidFill>
            <a:srgbClr val="28562D"/>
          </a:solidFill>
          <a:ln/>
        </p:spPr>
      </p:sp>
      <p:pic>
        <p:nvPicPr>
          <p:cNvPr id="6" name="Image 0" descr="preencoded.png">    </p:cNvPr>
          <p:cNvPicPr>
            <a:picLocks noChangeAspect="1"/>
          </p:cNvPicPr>
          <p:nvPr/>
        </p:nvPicPr>
        <p:blipFill>
          <a:blip r:embed="rId1"/>
          <a:stretch>
            <a:fillRect/>
          </a:stretch>
        </p:blipFill>
        <p:spPr>
          <a:xfrm>
            <a:off x="7937358" y="713598"/>
            <a:ext cx="218724" cy="218724"/>
          </a:xfrm>
          <a:prstGeom prst="rect">
            <a:avLst/>
          </a:prstGeom>
        </p:spPr>
      </p:pic>
      <p:sp>
        <p:nvSpPr>
          <p:cNvPr id="7" name="Text 4"/>
          <p:cNvSpPr txBox="1"/>
          <p:nvPr/>
        </p:nvSpPr>
        <p:spPr>
          <a:xfrm>
            <a:off x="8366760" y="512064"/>
            <a:ext cx="3184855" cy="621792"/>
          </a:xfrm>
          <a:prstGeom prst="rect">
            <a:avLst/>
          </a:prstGeom>
          <a:noFill/>
          <a:ln/>
        </p:spPr>
        <p:txBody>
          <a:bodyPr wrap="square" lIns="0" tIns="0" rIns="0" bIns="0" rtlCol="0" anchor="ctr"/>
          <a:lstStyle/>
          <a:p>
            <a:pPr indent="0" marL="0">
              <a:buNone/>
            </a:pPr>
            <a:r>
              <a:rPr lang="en-US" sz="1000" b="1" spc="100" kern="0" dirty="0">
                <a:solidFill>
                  <a:srgbClr val="28562D"/>
                </a:solidFill>
                <a:latin typeface="Calibri" pitchFamily="34" charset="0"/>
                <a:ea typeface="Calibri" pitchFamily="34" charset="-122"/>
                <a:cs typeface="Calibri" pitchFamily="34" charset="-120"/>
              </a:rPr>
              <a:t>ONE RECORD</a:t>
            </a:r>
            <a:endParaRPr lang="en-US" sz="1000" dirty="0"/>
          </a:p>
          <a:p>
            <a:pPr indent="0" marL="0">
              <a:buNone/>
            </a:pPr>
            <a:r>
              <a:rPr lang="en-US" sz="1200" dirty="0">
                <a:solidFill>
                  <a:srgbClr val="1B1E1D"/>
                </a:solidFill>
                <a:latin typeface="Calibri" pitchFamily="34" charset="0"/>
                <a:ea typeface="Calibri" pitchFamily="34" charset="-122"/>
                <a:cs typeface="Calibri" pitchFamily="34" charset="-120"/>
              </a:rPr>
              <a:t>Related Cases linked by reference · never merged</a:t>
            </a:r>
            <a:endParaRPr lang="en-US" sz="1000" dirty="0"/>
          </a:p>
        </p:txBody>
      </p:sp>
      <p:sp>
        <p:nvSpPr>
          <p:cNvPr id="8" name="Text 5"/>
          <p:cNvSpPr txBox="1"/>
          <p:nvPr/>
        </p:nvSpPr>
        <p:spPr>
          <a:xfrm>
            <a:off x="548640" y="1645920"/>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PROVIDERS</a:t>
            </a:r>
            <a:endParaRPr lang="en-US" sz="1000" dirty="0"/>
          </a:p>
        </p:txBody>
      </p:sp>
      <p:sp>
        <p:nvSpPr>
          <p:cNvPr id="9" name="Text 6"/>
          <p:cNvSpPr txBox="1"/>
          <p:nvPr/>
        </p:nvSpPr>
        <p:spPr>
          <a:xfrm>
            <a:off x="1691640" y="1645920"/>
            <a:ext cx="1403604"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B1 DLAO officer</a:t>
            </a:r>
            <a:endParaRPr lang="en-US" sz="1200" dirty="0"/>
          </a:p>
        </p:txBody>
      </p:sp>
      <p:sp>
        <p:nvSpPr>
          <p:cNvPr id="10" name="Text 7"/>
          <p:cNvSpPr txBox="1"/>
          <p:nvPr/>
        </p:nvSpPr>
        <p:spPr>
          <a:xfrm>
            <a:off x="3186684" y="1645920"/>
            <a:ext cx="1833372"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B7 Case-support staff</a:t>
            </a:r>
            <a:endParaRPr lang="en-US" sz="1200" dirty="0"/>
          </a:p>
        </p:txBody>
      </p:sp>
      <p:sp>
        <p:nvSpPr>
          <p:cNvPr id="11" name="Text 8"/>
          <p:cNvSpPr txBox="1"/>
          <p:nvPr/>
        </p:nvSpPr>
        <p:spPr>
          <a:xfrm>
            <a:off x="548640" y="2084832"/>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MODULES</a:t>
            </a:r>
            <a:endParaRPr lang="en-US" sz="1000" dirty="0"/>
          </a:p>
        </p:txBody>
      </p:sp>
      <p:sp>
        <p:nvSpPr>
          <p:cNvPr id="12" name="Text 9"/>
          <p:cNvSpPr txBox="1"/>
          <p:nvPr/>
        </p:nvSpPr>
        <p:spPr>
          <a:xfrm>
            <a:off x="1691640" y="2084832"/>
            <a:ext cx="1700784" cy="329184"/>
          </a:xfrm>
          <a:prstGeom prst="roundRect">
            <a:avLst>
              <a:gd name="adj" fmla="val 50000"/>
            </a:avLst>
          </a:prstGeom>
          <a:solidFill>
            <a:srgbClr val="FFFFFF"/>
          </a:solidFill>
          <a:ln w="9525">
            <a:solidFill>
              <a:srgbClr val="E3E2DC"/>
            </a:solidFill>
          </a:ln>
        </p:spPr>
        <p:txBody>
          <a:bodyPr wrap="square" lIns="0" tIns="0" rIns="0" bIns="0" rtlCol="0" anchor="ctr"/>
          <a:lstStyle/>
          <a:p>
            <a:pPr algn="ctr" indent="0" marL="0">
              <a:buNone/>
            </a:pPr>
            <a:r>
              <a:rPr lang="en-US" sz="1200" dirty="0">
                <a:solidFill>
                  <a:srgbClr val="1B1E1D"/>
                </a:solidFill>
                <a:latin typeface="Calibri" pitchFamily="34" charset="0"/>
                <a:ea typeface="Calibri" pitchFamily="34" charset="-122"/>
                <a:cs typeface="Calibri" pitchFamily="34" charset="-120"/>
              </a:rPr>
              <a:t>T3 Related incidents</a:t>
            </a:r>
            <a:endParaRPr lang="en-US" sz="1200" dirty="0"/>
          </a:p>
        </p:txBody>
      </p:sp>
      <p:sp>
        <p:nvSpPr>
          <p:cNvPr id="13" name="Text 10"/>
          <p:cNvSpPr txBox="1"/>
          <p:nvPr/>
        </p:nvSpPr>
        <p:spPr>
          <a:xfrm>
            <a:off x="3483864" y="2084832"/>
            <a:ext cx="1632204" cy="329184"/>
          </a:xfrm>
          <a:prstGeom prst="roundRect">
            <a:avLst>
              <a:gd name="adj" fmla="val 50000"/>
            </a:avLst>
          </a:prstGeom>
          <a:solidFill>
            <a:srgbClr val="FFFFFF"/>
          </a:solidFill>
          <a:ln w="9525">
            <a:solidFill>
              <a:srgbClr val="E3E2DC"/>
            </a:solidFill>
          </a:ln>
        </p:spPr>
        <p:txBody>
          <a:bodyPr wrap="square" lIns="0" tIns="0" rIns="0" bIns="0" rtlCol="0" anchor="ctr"/>
          <a:lstStyle/>
          <a:p>
            <a:pPr algn="ctr" indent="0" marL="0">
              <a:buNone/>
            </a:pPr>
            <a:r>
              <a:rPr lang="en-US" sz="1200" dirty="0">
                <a:solidFill>
                  <a:srgbClr val="1B1E1D"/>
                </a:solidFill>
                <a:latin typeface="Calibri" pitchFamily="34" charset="0"/>
                <a:ea typeface="Calibri" pitchFamily="34" charset="-122"/>
                <a:cs typeface="Calibri" pitchFamily="34" charset="-120"/>
              </a:rPr>
              <a:t>T4 Duplicate review</a:t>
            </a:r>
            <a:endParaRPr lang="en-US" sz="1200" dirty="0"/>
          </a:p>
        </p:txBody>
      </p:sp>
      <p:sp>
        <p:nvSpPr>
          <p:cNvPr id="14" name="Text 11"/>
          <p:cNvSpPr txBox="1"/>
          <p:nvPr/>
        </p:nvSpPr>
        <p:spPr>
          <a:xfrm>
            <a:off x="1691640" y="2487168"/>
            <a:ext cx="1769364" cy="329184"/>
          </a:xfrm>
          <a:prstGeom prst="roundRect">
            <a:avLst>
              <a:gd name="adj" fmla="val 50000"/>
            </a:avLst>
          </a:prstGeom>
          <a:solidFill>
            <a:srgbClr val="FFFFFF"/>
          </a:solidFill>
          <a:ln w="9525">
            <a:solidFill>
              <a:srgbClr val="E3E2DC"/>
            </a:solidFill>
          </a:ln>
        </p:spPr>
        <p:txBody>
          <a:bodyPr wrap="square" lIns="0" tIns="0" rIns="0" bIns="0" rtlCol="0" anchor="ctr"/>
          <a:lstStyle/>
          <a:p>
            <a:pPr algn="ctr" indent="0" marL="0">
              <a:buNone/>
            </a:pPr>
            <a:r>
              <a:rPr lang="en-US" sz="1200" dirty="0">
                <a:solidFill>
                  <a:srgbClr val="1B1E1D"/>
                </a:solidFill>
                <a:latin typeface="Calibri" pitchFamily="34" charset="0"/>
                <a:ea typeface="Calibri" pitchFamily="34" charset="-122"/>
                <a:cs typeface="Calibri" pitchFamily="34" charset="-120"/>
              </a:rPr>
              <a:t>T8 Multi-agent triage</a:t>
            </a:r>
            <a:endParaRPr lang="en-US" sz="1200" dirty="0"/>
          </a:p>
        </p:txBody>
      </p:sp>
      <p:sp>
        <p:nvSpPr>
          <p:cNvPr id="15" name="Text 12"/>
          <p:cNvSpPr txBox="1"/>
          <p:nvPr/>
        </p:nvSpPr>
        <p:spPr>
          <a:xfrm>
            <a:off x="548640" y="3145536"/>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 name="Text 13"/>
          <p:cNvSpPr txBox="1"/>
          <p:nvPr/>
        </p:nvSpPr>
        <p:spPr>
          <a:xfrm>
            <a:off x="1097280" y="3127248"/>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One queue, a clear next action</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Flag reasons, age, owner and next step for every Application.</a:t>
            </a:r>
            <a:endParaRPr lang="en-US" sz="1500" dirty="0"/>
          </a:p>
        </p:txBody>
      </p:sp>
      <p:sp>
        <p:nvSpPr>
          <p:cNvPr id="17" name="Text 14"/>
          <p:cNvSpPr txBox="1"/>
          <p:nvPr/>
        </p:nvSpPr>
        <p:spPr>
          <a:xfrm>
            <a:off x="548640" y="3950208"/>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5"/>
          <p:cNvSpPr txBox="1"/>
          <p:nvPr/>
        </p:nvSpPr>
        <p:spPr>
          <a:xfrm>
            <a:off x="1097280" y="3931920"/>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Triage that disagrees out loud</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Three components assess the case; a HIGH-vs-LOW conflict is shown to the officer, never settled silently.</a:t>
            </a:r>
            <a:endParaRPr lang="en-US" sz="1500" dirty="0"/>
          </a:p>
        </p:txBody>
      </p:sp>
      <p:sp>
        <p:nvSpPr>
          <p:cNvPr id="19" name="Text 16"/>
          <p:cNvSpPr txBox="1"/>
          <p:nvPr/>
        </p:nvSpPr>
        <p:spPr>
          <a:xfrm>
            <a:off x="548640" y="4754880"/>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1097280" y="4736592"/>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Look-alikes stay separate</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A similar-but-different pair gets a reasoned review; nothing is merged or rejected automatically.</a:t>
            </a:r>
            <a:endParaRPr lang="en-US" sz="1500" dirty="0"/>
          </a:p>
        </p:txBody>
      </p:sp>
      <p:sp>
        <p:nvSpPr>
          <p:cNvPr id="21" name="Shape 18"/>
          <p:cNvSpPr/>
          <p:nvPr/>
        </p:nvSpPr>
        <p:spPr>
          <a:xfrm>
            <a:off x="6355080" y="1645920"/>
            <a:ext cx="5287975" cy="3108960"/>
          </a:xfrm>
          <a:prstGeom prst="roundRect">
            <a:avLst>
              <a:gd name="adj" fmla="val 3529"/>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pic>
        <p:nvPicPr>
          <p:cNvPr id="22" name="Image 1" descr="Prototype screen: DLAO queue ( / )">    </p:cNvPr>
          <p:cNvPicPr>
            <a:picLocks noChangeAspect="1"/>
          </p:cNvPicPr>
          <p:nvPr/>
        </p:nvPicPr>
        <p:blipFill>
          <a:blip r:embed="rId2"/>
          <a:stretch>
            <a:fillRect/>
          </a:stretch>
        </p:blipFill>
        <p:spPr>
          <a:xfrm>
            <a:off x="6446520" y="1764592"/>
            <a:ext cx="5105095" cy="2871616"/>
          </a:xfrm>
          <a:prstGeom prst="rect">
            <a:avLst/>
          </a:prstGeom>
        </p:spPr>
      </p:pic>
      <p:sp>
        <p:nvSpPr>
          <p:cNvPr id="23" name="Text 19"/>
          <p:cNvSpPr txBox="1"/>
          <p:nvPr/>
        </p:nvSpPr>
        <p:spPr>
          <a:xfrm>
            <a:off x="6355080" y="4809744"/>
            <a:ext cx="5287975" cy="237744"/>
          </a:xfrm>
          <a:prstGeom prst="rect">
            <a:avLst/>
          </a:prstGeom>
          <a:noFill/>
          <a:ln/>
        </p:spPr>
        <p:txBody>
          <a:bodyPr wrap="square" lIns="0" tIns="0" rIns="0" bIns="0" rtlCol="0" anchor="t"/>
          <a:lstStyle/>
          <a:p>
            <a:pPr indent="0" marL="0">
              <a:buNone/>
            </a:pPr>
            <a:r>
              <a:rPr lang="en-US" sz="1100" dirty="0">
                <a:solidFill>
                  <a:srgbClr val="4E5751"/>
                </a:solidFill>
                <a:latin typeface="Calibri" pitchFamily="34" charset="0"/>
                <a:ea typeface="Calibri" pitchFamily="34" charset="-122"/>
                <a:cs typeface="Calibri" pitchFamily="34" charset="-120"/>
              </a:rPr>
              <a:t>Screen: DLAO queue ( / )</a:t>
            </a:r>
            <a:endParaRPr lang="en-US" sz="1100" dirty="0"/>
          </a:p>
        </p:txBody>
      </p:sp>
      <p:sp>
        <p:nvSpPr>
          <p:cNvPr id="24" name="Shape 20"/>
          <p:cNvSpPr/>
          <p:nvPr/>
        </p:nvSpPr>
        <p:spPr>
          <a:xfrm>
            <a:off x="548640" y="5669280"/>
            <a:ext cx="11094415" cy="621792"/>
          </a:xfrm>
          <a:prstGeom prst="roundRect">
            <a:avLst>
              <a:gd name="adj" fmla="val 17647"/>
            </a:avLst>
          </a:prstGeom>
          <a:solidFill>
            <a:srgbClr val="EDF3EC"/>
          </a:solidFill>
          <a:ln/>
        </p:spPr>
      </p:sp>
      <p:sp>
        <p:nvSpPr>
          <p:cNvPr id="25" name="Shape 21"/>
          <p:cNvSpPr/>
          <p:nvPr/>
        </p:nvSpPr>
        <p:spPr>
          <a:xfrm>
            <a:off x="694944" y="5788152"/>
            <a:ext cx="384048" cy="384048"/>
          </a:xfrm>
          <a:prstGeom prst="ellipse">
            <a:avLst/>
          </a:prstGeom>
          <a:solidFill>
            <a:srgbClr val="28562D"/>
          </a:solidFill>
          <a:ln/>
        </p:spPr>
      </p:sp>
      <p:pic>
        <p:nvPicPr>
          <p:cNvPr id="26" name="Image 2" descr="preencoded.png">    </p:cNvPr>
          <p:cNvPicPr>
            <a:picLocks noChangeAspect="1"/>
          </p:cNvPicPr>
          <p:nvPr/>
        </p:nvPicPr>
        <p:blipFill>
          <a:blip r:embed="rId3"/>
          <a:stretch>
            <a:fillRect/>
          </a:stretch>
        </p:blipFill>
        <p:spPr>
          <a:xfrm>
            <a:off x="787116" y="5880324"/>
            <a:ext cx="199705" cy="199705"/>
          </a:xfrm>
          <a:prstGeom prst="rect">
            <a:avLst/>
          </a:prstGeom>
        </p:spPr>
      </p:pic>
      <p:sp>
        <p:nvSpPr>
          <p:cNvPr id="27" name="Text 22"/>
          <p:cNvSpPr txBox="1"/>
          <p:nvPr/>
        </p:nvSpPr>
        <p:spPr>
          <a:xfrm>
            <a:off x="1234440" y="5669280"/>
            <a:ext cx="10271455" cy="621792"/>
          </a:xfrm>
          <a:prstGeom prst="rect">
            <a:avLst/>
          </a:prstGeom>
          <a:noFill/>
          <a:ln/>
        </p:spPr>
        <p:txBody>
          <a:bodyPr wrap="square" lIns="0" tIns="0" rIns="0" bIns="0" rtlCol="0" anchor="ctr"/>
          <a:lstStyle/>
          <a:p>
            <a:pPr indent="0" marL="0">
              <a:buNone/>
            </a:pPr>
            <a:r>
              <a:rPr lang="en-US" sz="1450" b="1" dirty="0">
                <a:solidFill>
                  <a:srgbClr val="28562D"/>
                </a:solidFill>
                <a:latin typeface="Calibri" pitchFamily="34" charset="0"/>
                <a:ea typeface="Calibri" pitchFamily="34" charset="-122"/>
                <a:cs typeface="Calibri" pitchFamily="34" charset="-120"/>
              </a:rPr>
              <a:t>Human decides: </a:t>
            </a:r>
            <a:pPr indent="0" marL="0">
              <a:buNone/>
            </a:pPr>
            <a:r>
              <a:rPr lang="en-US" sz="1450" dirty="0">
                <a:solidFill>
                  <a:srgbClr val="1B1E1D"/>
                </a:solidFill>
                <a:latin typeface="Calibri" pitchFamily="34" charset="0"/>
                <a:ea typeface="Calibri" pitchFamily="34" charset="-122"/>
                <a:cs typeface="Calibri" pitchFamily="34" charset="-120"/>
              </a:rPr>
              <a:t>the officer records the priority, the triage disposition and each duplicate decision, every one with a reason.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28562D"/>
                </a:solidFill>
                <a:latin typeface="Calibri" pitchFamily="34" charset="0"/>
                <a:ea typeface="Calibri" pitchFamily="34" charset="-122"/>
                <a:cs typeface="Calibri" pitchFamily="34" charset="-120"/>
              </a:rPr>
              <a:t>FLOW 4 OF 6</a:t>
            </a:r>
            <a:endParaRPr lang="en-US" sz="1200" dirty="0"/>
          </a:p>
        </p:txBody>
      </p:sp>
      <p:sp>
        <p:nvSpPr>
          <p:cNvPr id="3" name="Text 1"/>
          <p:cNvSpPr txBox="1"/>
          <p:nvPr/>
        </p:nvSpPr>
        <p:spPr>
          <a:xfrm>
            <a:off x="548640" y="713232"/>
            <a:ext cx="7040880" cy="685800"/>
          </a:xfrm>
          <a:prstGeom prst="rect">
            <a:avLst/>
          </a:prstGeom>
          <a:noFill/>
          <a:ln/>
        </p:spPr>
        <p:txBody>
          <a:bodyPr wrap="square" lIns="0" tIns="0" rIns="0" bIns="0" rtlCol="0" anchor="ctr"/>
          <a:lstStyle/>
          <a:p>
            <a:pPr indent="0" marL="0">
              <a:buNone/>
            </a:pPr>
            <a:r>
              <a:rPr lang="en-US" sz="3600" b="1" dirty="0">
                <a:solidFill>
                  <a:srgbClr val="1B1E1D"/>
                </a:solidFill>
                <a:latin typeface="Cambria" pitchFamily="34" charset="0"/>
                <a:ea typeface="Cambria" pitchFamily="34" charset="-122"/>
                <a:cs typeface="Cambria" pitchFamily="34" charset="-120"/>
              </a:rPr>
              <a:t>Mediation in 11 steps</a:t>
            </a:r>
            <a:endParaRPr lang="en-US" sz="3600" dirty="0"/>
          </a:p>
        </p:txBody>
      </p:sp>
      <p:sp>
        <p:nvSpPr>
          <p:cNvPr id="4" name="Shape 2"/>
          <p:cNvSpPr/>
          <p:nvPr/>
        </p:nvSpPr>
        <p:spPr>
          <a:xfrm>
            <a:off x="7708392" y="457200"/>
            <a:ext cx="3934663" cy="731520"/>
          </a:xfrm>
          <a:prstGeom prst="roundRect">
            <a:avLst>
              <a:gd name="adj" fmla="val 150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836408" y="612648"/>
            <a:ext cx="420624" cy="420624"/>
          </a:xfrm>
          <a:prstGeom prst="ellipse">
            <a:avLst/>
          </a:prstGeom>
          <a:solidFill>
            <a:srgbClr val="28562D"/>
          </a:solidFill>
          <a:ln/>
        </p:spPr>
      </p:sp>
      <p:pic>
        <p:nvPicPr>
          <p:cNvPr id="6" name="Image 0" descr="preencoded.png">    </p:cNvPr>
          <p:cNvPicPr>
            <a:picLocks noChangeAspect="1"/>
          </p:cNvPicPr>
          <p:nvPr/>
        </p:nvPicPr>
        <p:blipFill>
          <a:blip r:embed="rId1"/>
          <a:stretch>
            <a:fillRect/>
          </a:stretch>
        </p:blipFill>
        <p:spPr>
          <a:xfrm>
            <a:off x="7937358" y="713598"/>
            <a:ext cx="218724" cy="218724"/>
          </a:xfrm>
          <a:prstGeom prst="rect">
            <a:avLst/>
          </a:prstGeom>
        </p:spPr>
      </p:pic>
      <p:sp>
        <p:nvSpPr>
          <p:cNvPr id="7" name="Text 4"/>
          <p:cNvSpPr txBox="1"/>
          <p:nvPr/>
        </p:nvSpPr>
        <p:spPr>
          <a:xfrm>
            <a:off x="8366760" y="512064"/>
            <a:ext cx="3184855" cy="621792"/>
          </a:xfrm>
          <a:prstGeom prst="rect">
            <a:avLst/>
          </a:prstGeom>
          <a:noFill/>
          <a:ln/>
        </p:spPr>
        <p:txBody>
          <a:bodyPr wrap="square" lIns="0" tIns="0" rIns="0" bIns="0" rtlCol="0" anchor="ctr"/>
          <a:lstStyle/>
          <a:p>
            <a:pPr indent="0" marL="0">
              <a:buNone/>
            </a:pPr>
            <a:r>
              <a:rPr lang="en-US" sz="1000" b="1" spc="100" kern="0" dirty="0">
                <a:solidFill>
                  <a:srgbClr val="28562D"/>
                </a:solidFill>
                <a:latin typeface="Calibri" pitchFamily="34" charset="0"/>
                <a:ea typeface="Calibri" pitchFamily="34" charset="-122"/>
                <a:cs typeface="Calibri" pitchFamily="34" charset="-120"/>
              </a:rPr>
              <a:t>ONE RECORD</a:t>
            </a:r>
            <a:endParaRPr lang="en-US" sz="1000" dirty="0"/>
          </a:p>
          <a:p>
            <a:pPr indent="0" marL="0">
              <a:buNone/>
            </a:pPr>
            <a:r>
              <a:rPr lang="en-US" sz="1200" dirty="0">
                <a:solidFill>
                  <a:srgbClr val="1B1E1D"/>
                </a:solidFill>
                <a:latin typeface="Calibri" pitchFamily="34" charset="0"/>
                <a:ea typeface="Calibri" pitchFamily="34" charset="-122"/>
                <a:cs typeface="Calibri" pitchFamily="34" charset="-120"/>
              </a:rPr>
              <a:t>Mediation runs on the same Case</a:t>
            </a:r>
            <a:endParaRPr lang="en-US" sz="1000" dirty="0"/>
          </a:p>
        </p:txBody>
      </p:sp>
      <p:sp>
        <p:nvSpPr>
          <p:cNvPr id="8" name="Shape 5"/>
          <p:cNvSpPr/>
          <p:nvPr/>
        </p:nvSpPr>
        <p:spPr>
          <a:xfrm>
            <a:off x="1052932" y="1645920"/>
            <a:ext cx="10085832" cy="0"/>
          </a:xfrm>
          <a:prstGeom prst="line">
            <a:avLst/>
          </a:prstGeom>
          <a:noFill/>
          <a:ln w="19050">
            <a:solidFill>
              <a:srgbClr val="A9C4AC"/>
            </a:solidFill>
            <a:prstDash val="solid"/>
          </a:ln>
        </p:spPr>
      </p:sp>
      <p:sp>
        <p:nvSpPr>
          <p:cNvPr id="9" name="Text 6"/>
          <p:cNvSpPr txBox="1"/>
          <p:nvPr/>
        </p:nvSpPr>
        <p:spPr>
          <a:xfrm>
            <a:off x="888340" y="1481328"/>
            <a:ext cx="329184" cy="329184"/>
          </a:xfrm>
          <a:prstGeom prst="ellipse">
            <a:avLst/>
          </a:prstGeom>
          <a:solidFill>
            <a:srgbClr val="2856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566928" y="1865376"/>
            <a:ext cx="972007" cy="457200"/>
          </a:xfrm>
          <a:prstGeom prst="rect">
            <a:avLst/>
          </a:prstGeom>
          <a:noFill/>
          <a:ln/>
        </p:spPr>
        <p:txBody>
          <a:bodyPr wrap="square" lIns="0" tIns="0" rIns="0" bIns="0" rtlCol="0" anchor="t"/>
          <a:lstStyle/>
          <a:p>
            <a:pPr algn="ctr" indent="0" marL="0">
              <a:buNone/>
            </a:pPr>
            <a:r>
              <a:rPr lang="en-US" sz="1050" dirty="0">
                <a:solidFill>
                  <a:srgbClr val="1B1E1D"/>
                </a:solidFill>
                <a:latin typeface="Calibri" pitchFamily="34" charset="0"/>
                <a:ea typeface="Calibri" pitchFamily="34" charset="-122"/>
                <a:cs typeface="Calibri" pitchFamily="34" charset="-120"/>
              </a:rPr>
              <a:t>Start</a:t>
            </a:r>
            <a:endParaRPr lang="en-US" sz="1050" dirty="0"/>
          </a:p>
        </p:txBody>
      </p:sp>
      <p:sp>
        <p:nvSpPr>
          <p:cNvPr id="11" name="Text 8"/>
          <p:cNvSpPr txBox="1"/>
          <p:nvPr/>
        </p:nvSpPr>
        <p:spPr>
          <a:xfrm>
            <a:off x="1896923" y="1481328"/>
            <a:ext cx="329184" cy="329184"/>
          </a:xfrm>
          <a:prstGeom prst="ellipse">
            <a:avLst/>
          </a:prstGeom>
          <a:solidFill>
            <a:srgbClr val="2856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575511" y="1865376"/>
            <a:ext cx="972007" cy="457200"/>
          </a:xfrm>
          <a:prstGeom prst="rect">
            <a:avLst/>
          </a:prstGeom>
          <a:noFill/>
          <a:ln/>
        </p:spPr>
        <p:txBody>
          <a:bodyPr wrap="square" lIns="0" tIns="0" rIns="0" bIns="0" rtlCol="0" anchor="t"/>
          <a:lstStyle/>
          <a:p>
            <a:pPr algn="ctr" indent="0" marL="0">
              <a:buNone/>
            </a:pPr>
            <a:r>
              <a:rPr lang="en-US" sz="1050" dirty="0">
                <a:solidFill>
                  <a:srgbClr val="1B1E1D"/>
                </a:solidFill>
                <a:latin typeface="Calibri" pitchFamily="34" charset="0"/>
                <a:ea typeface="Calibri" pitchFamily="34" charset="-122"/>
                <a:cs typeface="Calibri" pitchFamily="34" charset="-120"/>
              </a:rPr>
              <a:t>Safety &amp; consent</a:t>
            </a:r>
            <a:endParaRPr lang="en-US" sz="1050" dirty="0"/>
          </a:p>
        </p:txBody>
      </p:sp>
      <p:sp>
        <p:nvSpPr>
          <p:cNvPr id="13" name="Text 10"/>
          <p:cNvSpPr txBox="1"/>
          <p:nvPr/>
        </p:nvSpPr>
        <p:spPr>
          <a:xfrm>
            <a:off x="2905506" y="1481328"/>
            <a:ext cx="329184" cy="329184"/>
          </a:xfrm>
          <a:prstGeom prst="ellipse">
            <a:avLst/>
          </a:prstGeom>
          <a:solidFill>
            <a:srgbClr val="2856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1"/>
          <p:cNvSpPr txBox="1"/>
          <p:nvPr/>
        </p:nvSpPr>
        <p:spPr>
          <a:xfrm>
            <a:off x="2584094" y="1865376"/>
            <a:ext cx="972007" cy="457200"/>
          </a:xfrm>
          <a:prstGeom prst="rect">
            <a:avLst/>
          </a:prstGeom>
          <a:noFill/>
          <a:ln/>
        </p:spPr>
        <p:txBody>
          <a:bodyPr wrap="square" lIns="0" tIns="0" rIns="0" bIns="0" rtlCol="0" anchor="t"/>
          <a:lstStyle/>
          <a:p>
            <a:pPr algn="ctr" indent="0" marL="0">
              <a:buNone/>
            </a:pPr>
            <a:r>
              <a:rPr lang="en-US" sz="1050" dirty="0">
                <a:solidFill>
                  <a:srgbClr val="1B1E1D"/>
                </a:solidFill>
                <a:latin typeface="Calibri" pitchFamily="34" charset="0"/>
                <a:ea typeface="Calibri" pitchFamily="34" charset="-122"/>
                <a:cs typeface="Calibri" pitchFamily="34" charset="-120"/>
              </a:rPr>
              <a:t>Schedule</a:t>
            </a:r>
            <a:endParaRPr lang="en-US" sz="1050" dirty="0"/>
          </a:p>
        </p:txBody>
      </p:sp>
      <p:sp>
        <p:nvSpPr>
          <p:cNvPr id="15" name="Text 12"/>
          <p:cNvSpPr txBox="1"/>
          <p:nvPr/>
        </p:nvSpPr>
        <p:spPr>
          <a:xfrm>
            <a:off x="3914089" y="1481328"/>
            <a:ext cx="329184" cy="329184"/>
          </a:xfrm>
          <a:prstGeom prst="ellipse">
            <a:avLst/>
          </a:prstGeom>
          <a:solidFill>
            <a:srgbClr val="2856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3"/>
          <p:cNvSpPr txBox="1"/>
          <p:nvPr/>
        </p:nvSpPr>
        <p:spPr>
          <a:xfrm>
            <a:off x="3592678" y="1865376"/>
            <a:ext cx="972007" cy="457200"/>
          </a:xfrm>
          <a:prstGeom prst="rect">
            <a:avLst/>
          </a:prstGeom>
          <a:noFill/>
          <a:ln/>
        </p:spPr>
        <p:txBody>
          <a:bodyPr wrap="square" lIns="0" tIns="0" rIns="0" bIns="0" rtlCol="0" anchor="t"/>
          <a:lstStyle/>
          <a:p>
            <a:pPr algn="ctr" indent="0" marL="0">
              <a:buNone/>
            </a:pPr>
            <a:r>
              <a:rPr lang="en-US" sz="1050" dirty="0">
                <a:solidFill>
                  <a:srgbClr val="1B1E1D"/>
                </a:solidFill>
                <a:latin typeface="Calibri" pitchFamily="34" charset="0"/>
                <a:ea typeface="Calibri" pitchFamily="34" charset="-122"/>
                <a:cs typeface="Calibri" pitchFamily="34" charset="-120"/>
              </a:rPr>
              <a:t>Session</a:t>
            </a:r>
            <a:endParaRPr lang="en-US" sz="1050" dirty="0"/>
          </a:p>
        </p:txBody>
      </p:sp>
      <p:sp>
        <p:nvSpPr>
          <p:cNvPr id="17" name="Text 14"/>
          <p:cNvSpPr txBox="1"/>
          <p:nvPr/>
        </p:nvSpPr>
        <p:spPr>
          <a:xfrm>
            <a:off x="4922672" y="1481328"/>
            <a:ext cx="329184" cy="329184"/>
          </a:xfrm>
          <a:prstGeom prst="ellipse">
            <a:avLst/>
          </a:prstGeom>
          <a:solidFill>
            <a:srgbClr val="2856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5"/>
          <p:cNvSpPr txBox="1"/>
          <p:nvPr/>
        </p:nvSpPr>
        <p:spPr>
          <a:xfrm>
            <a:off x="4601261" y="1865376"/>
            <a:ext cx="972007" cy="457200"/>
          </a:xfrm>
          <a:prstGeom prst="rect">
            <a:avLst/>
          </a:prstGeom>
          <a:noFill/>
          <a:ln/>
        </p:spPr>
        <p:txBody>
          <a:bodyPr wrap="square" lIns="0" tIns="0" rIns="0" bIns="0" rtlCol="0" anchor="t"/>
          <a:lstStyle/>
          <a:p>
            <a:pPr algn="ctr" indent="0" marL="0">
              <a:buNone/>
            </a:pPr>
            <a:r>
              <a:rPr lang="en-US" sz="1050" dirty="0">
                <a:solidFill>
                  <a:srgbClr val="1B1E1D"/>
                </a:solidFill>
                <a:latin typeface="Calibri" pitchFamily="34" charset="0"/>
                <a:ea typeface="Calibri" pitchFamily="34" charset="-122"/>
                <a:cs typeface="Calibri" pitchFamily="34" charset="-120"/>
              </a:rPr>
              <a:t>Terms</a:t>
            </a:r>
            <a:endParaRPr lang="en-US" sz="1050" dirty="0"/>
          </a:p>
        </p:txBody>
      </p:sp>
      <p:sp>
        <p:nvSpPr>
          <p:cNvPr id="19" name="Text 16"/>
          <p:cNvSpPr txBox="1"/>
          <p:nvPr/>
        </p:nvSpPr>
        <p:spPr>
          <a:xfrm>
            <a:off x="5931256" y="1481328"/>
            <a:ext cx="329184" cy="329184"/>
          </a:xfrm>
          <a:prstGeom prst="ellipse">
            <a:avLst/>
          </a:prstGeom>
          <a:solidFill>
            <a:srgbClr val="2856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0" name="Text 17"/>
          <p:cNvSpPr txBox="1"/>
          <p:nvPr/>
        </p:nvSpPr>
        <p:spPr>
          <a:xfrm>
            <a:off x="5609844" y="1865376"/>
            <a:ext cx="972007" cy="457200"/>
          </a:xfrm>
          <a:prstGeom prst="rect">
            <a:avLst/>
          </a:prstGeom>
          <a:noFill/>
          <a:ln/>
        </p:spPr>
        <p:txBody>
          <a:bodyPr wrap="square" lIns="0" tIns="0" rIns="0" bIns="0" rtlCol="0" anchor="t"/>
          <a:lstStyle/>
          <a:p>
            <a:pPr algn="ctr" indent="0" marL="0">
              <a:buNone/>
            </a:pPr>
            <a:r>
              <a:rPr lang="en-US" sz="1050" dirty="0">
                <a:solidFill>
                  <a:srgbClr val="1B1E1D"/>
                </a:solidFill>
                <a:latin typeface="Calibri" pitchFamily="34" charset="0"/>
                <a:ea typeface="Calibri" pitchFamily="34" charset="-122"/>
                <a:cs typeface="Calibri" pitchFamily="34" charset="-120"/>
              </a:rPr>
              <a:t>Decision</a:t>
            </a:r>
            <a:endParaRPr lang="en-US" sz="1050" dirty="0"/>
          </a:p>
        </p:txBody>
      </p:sp>
      <p:sp>
        <p:nvSpPr>
          <p:cNvPr id="21" name="Text 18"/>
          <p:cNvSpPr txBox="1"/>
          <p:nvPr/>
        </p:nvSpPr>
        <p:spPr>
          <a:xfrm>
            <a:off x="6939839" y="1481328"/>
            <a:ext cx="329184" cy="329184"/>
          </a:xfrm>
          <a:prstGeom prst="ellipse">
            <a:avLst/>
          </a:prstGeom>
          <a:solidFill>
            <a:srgbClr val="2856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2" name="Text 19"/>
          <p:cNvSpPr txBox="1"/>
          <p:nvPr/>
        </p:nvSpPr>
        <p:spPr>
          <a:xfrm>
            <a:off x="6618427" y="1865376"/>
            <a:ext cx="972007" cy="457200"/>
          </a:xfrm>
          <a:prstGeom prst="rect">
            <a:avLst/>
          </a:prstGeom>
          <a:noFill/>
          <a:ln/>
        </p:spPr>
        <p:txBody>
          <a:bodyPr wrap="square" lIns="0" tIns="0" rIns="0" bIns="0" rtlCol="0" anchor="t"/>
          <a:lstStyle/>
          <a:p>
            <a:pPr algn="ctr" indent="0" marL="0">
              <a:buNone/>
            </a:pPr>
            <a:r>
              <a:rPr lang="en-US" sz="1050" dirty="0">
                <a:solidFill>
                  <a:srgbClr val="1B1E1D"/>
                </a:solidFill>
                <a:latin typeface="Calibri" pitchFamily="34" charset="0"/>
                <a:ea typeface="Calibri" pitchFamily="34" charset="-122"/>
                <a:cs typeface="Calibri" pitchFamily="34" charset="-120"/>
              </a:rPr>
              <a:t>Draft</a:t>
            </a:r>
            <a:endParaRPr lang="en-US" sz="1050" dirty="0"/>
          </a:p>
        </p:txBody>
      </p:sp>
      <p:sp>
        <p:nvSpPr>
          <p:cNvPr id="23" name="Text 20"/>
          <p:cNvSpPr txBox="1"/>
          <p:nvPr/>
        </p:nvSpPr>
        <p:spPr>
          <a:xfrm>
            <a:off x="7948422" y="1481328"/>
            <a:ext cx="329184" cy="329184"/>
          </a:xfrm>
          <a:prstGeom prst="ellipse">
            <a:avLst/>
          </a:prstGeom>
          <a:solidFill>
            <a:srgbClr val="2856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4" name="Text 21"/>
          <p:cNvSpPr txBox="1"/>
          <p:nvPr/>
        </p:nvSpPr>
        <p:spPr>
          <a:xfrm>
            <a:off x="7627010" y="1865376"/>
            <a:ext cx="972007" cy="457200"/>
          </a:xfrm>
          <a:prstGeom prst="rect">
            <a:avLst/>
          </a:prstGeom>
          <a:noFill/>
          <a:ln/>
        </p:spPr>
        <p:txBody>
          <a:bodyPr wrap="square" lIns="0" tIns="0" rIns="0" bIns="0" rtlCol="0" anchor="t"/>
          <a:lstStyle/>
          <a:p>
            <a:pPr algn="ctr" indent="0" marL="0">
              <a:buNone/>
            </a:pPr>
            <a:r>
              <a:rPr lang="en-US" sz="1050" dirty="0">
                <a:solidFill>
                  <a:srgbClr val="1B1E1D"/>
                </a:solidFill>
                <a:latin typeface="Calibri" pitchFamily="34" charset="0"/>
                <a:ea typeface="Calibri" pitchFamily="34" charset="-122"/>
                <a:cs typeface="Calibri" pitchFamily="34" charset="-120"/>
              </a:rPr>
              <a:t>Signatures</a:t>
            </a:r>
            <a:endParaRPr lang="en-US" sz="1050" dirty="0"/>
          </a:p>
        </p:txBody>
      </p:sp>
      <p:sp>
        <p:nvSpPr>
          <p:cNvPr id="25" name="Text 22"/>
          <p:cNvSpPr txBox="1"/>
          <p:nvPr/>
        </p:nvSpPr>
        <p:spPr>
          <a:xfrm>
            <a:off x="8957005" y="1481328"/>
            <a:ext cx="329184" cy="329184"/>
          </a:xfrm>
          <a:prstGeom prst="ellipse">
            <a:avLst/>
          </a:prstGeom>
          <a:solidFill>
            <a:srgbClr val="2856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26" name="Text 23"/>
          <p:cNvSpPr txBox="1"/>
          <p:nvPr/>
        </p:nvSpPr>
        <p:spPr>
          <a:xfrm>
            <a:off x="8635594" y="1865376"/>
            <a:ext cx="972007" cy="457200"/>
          </a:xfrm>
          <a:prstGeom prst="rect">
            <a:avLst/>
          </a:prstGeom>
          <a:noFill/>
          <a:ln/>
        </p:spPr>
        <p:txBody>
          <a:bodyPr wrap="square" lIns="0" tIns="0" rIns="0" bIns="0" rtlCol="0" anchor="t"/>
          <a:lstStyle/>
          <a:p>
            <a:pPr algn="ctr" indent="0" marL="0">
              <a:buNone/>
            </a:pPr>
            <a:r>
              <a:rPr lang="en-US" sz="1050" dirty="0">
                <a:solidFill>
                  <a:srgbClr val="1B1E1D"/>
                </a:solidFill>
                <a:latin typeface="Calibri" pitchFamily="34" charset="0"/>
                <a:ea typeface="Calibri" pitchFamily="34" charset="-122"/>
                <a:cs typeface="Calibri" pitchFamily="34" charset="-120"/>
              </a:rPr>
              <a:t>CLAO certify / return</a:t>
            </a:r>
            <a:endParaRPr lang="en-US" sz="1050" dirty="0"/>
          </a:p>
        </p:txBody>
      </p:sp>
      <p:sp>
        <p:nvSpPr>
          <p:cNvPr id="27" name="Text 24"/>
          <p:cNvSpPr txBox="1"/>
          <p:nvPr/>
        </p:nvSpPr>
        <p:spPr>
          <a:xfrm>
            <a:off x="9965588" y="1481328"/>
            <a:ext cx="329184" cy="329184"/>
          </a:xfrm>
          <a:prstGeom prst="ellipse">
            <a:avLst/>
          </a:prstGeom>
          <a:solidFill>
            <a:srgbClr val="2856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28" name="Text 25"/>
          <p:cNvSpPr txBox="1"/>
          <p:nvPr/>
        </p:nvSpPr>
        <p:spPr>
          <a:xfrm>
            <a:off x="9644177" y="1865376"/>
            <a:ext cx="972007" cy="457200"/>
          </a:xfrm>
          <a:prstGeom prst="rect">
            <a:avLst/>
          </a:prstGeom>
          <a:noFill/>
          <a:ln/>
        </p:spPr>
        <p:txBody>
          <a:bodyPr wrap="square" lIns="0" tIns="0" rIns="0" bIns="0" rtlCol="0" anchor="t"/>
          <a:lstStyle/>
          <a:p>
            <a:pPr algn="ctr" indent="0" marL="0">
              <a:buNone/>
            </a:pPr>
            <a:r>
              <a:rPr lang="en-US" sz="1050" dirty="0">
                <a:solidFill>
                  <a:srgbClr val="1B1E1D"/>
                </a:solidFill>
                <a:latin typeface="Calibri" pitchFamily="34" charset="0"/>
                <a:ea typeface="Calibri" pitchFamily="34" charset="-122"/>
                <a:cs typeface="Calibri" pitchFamily="34" charset="-120"/>
              </a:rPr>
              <a:t>Certified</a:t>
            </a:r>
            <a:endParaRPr lang="en-US" sz="1050" dirty="0"/>
          </a:p>
        </p:txBody>
      </p:sp>
      <p:sp>
        <p:nvSpPr>
          <p:cNvPr id="29" name="Text 26"/>
          <p:cNvSpPr txBox="1"/>
          <p:nvPr/>
        </p:nvSpPr>
        <p:spPr>
          <a:xfrm>
            <a:off x="10974172" y="1481328"/>
            <a:ext cx="329184" cy="329184"/>
          </a:xfrm>
          <a:prstGeom prst="ellipse">
            <a:avLst/>
          </a:prstGeom>
          <a:solidFill>
            <a:srgbClr val="28562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30" name="Text 27"/>
          <p:cNvSpPr txBox="1"/>
          <p:nvPr/>
        </p:nvSpPr>
        <p:spPr>
          <a:xfrm>
            <a:off x="10652760" y="1865376"/>
            <a:ext cx="972007" cy="457200"/>
          </a:xfrm>
          <a:prstGeom prst="rect">
            <a:avLst/>
          </a:prstGeom>
          <a:noFill/>
          <a:ln/>
        </p:spPr>
        <p:txBody>
          <a:bodyPr wrap="square" lIns="0" tIns="0" rIns="0" bIns="0" rtlCol="0" anchor="t"/>
          <a:lstStyle/>
          <a:p>
            <a:pPr algn="ctr" indent="0" marL="0">
              <a:buNone/>
            </a:pPr>
            <a:r>
              <a:rPr lang="en-US" sz="1050" dirty="0">
                <a:solidFill>
                  <a:srgbClr val="1B1E1D"/>
                </a:solidFill>
                <a:latin typeface="Calibri" pitchFamily="34" charset="0"/>
                <a:ea typeface="Calibri" pitchFamily="34" charset="-122"/>
                <a:cs typeface="Calibri" pitchFamily="34" charset="-120"/>
              </a:rPr>
              <a:t>Follow-up</a:t>
            </a:r>
            <a:endParaRPr lang="en-US" sz="1050" dirty="0"/>
          </a:p>
        </p:txBody>
      </p:sp>
      <p:sp>
        <p:nvSpPr>
          <p:cNvPr id="31" name="Text 28"/>
          <p:cNvSpPr txBox="1"/>
          <p:nvPr/>
        </p:nvSpPr>
        <p:spPr>
          <a:xfrm>
            <a:off x="548640" y="2560320"/>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PROVIDERS</a:t>
            </a:r>
            <a:endParaRPr lang="en-US" sz="1000" dirty="0"/>
          </a:p>
        </p:txBody>
      </p:sp>
      <p:sp>
        <p:nvSpPr>
          <p:cNvPr id="32" name="Text 29"/>
          <p:cNvSpPr txBox="1"/>
          <p:nvPr/>
        </p:nvSpPr>
        <p:spPr>
          <a:xfrm>
            <a:off x="1691640" y="2560320"/>
            <a:ext cx="1403604"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B1 DLAO officer</a:t>
            </a:r>
            <a:endParaRPr lang="en-US" sz="1200" dirty="0"/>
          </a:p>
        </p:txBody>
      </p:sp>
      <p:sp>
        <p:nvSpPr>
          <p:cNvPr id="33" name="Text 30"/>
          <p:cNvSpPr txBox="1"/>
          <p:nvPr/>
        </p:nvSpPr>
        <p:spPr>
          <a:xfrm>
            <a:off x="3186684" y="2560320"/>
            <a:ext cx="1117092"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B2 Mediator</a:t>
            </a:r>
            <a:endParaRPr lang="en-US" sz="1200" dirty="0"/>
          </a:p>
        </p:txBody>
      </p:sp>
      <p:sp>
        <p:nvSpPr>
          <p:cNvPr id="34" name="Text 31"/>
          <p:cNvSpPr txBox="1"/>
          <p:nvPr/>
        </p:nvSpPr>
        <p:spPr>
          <a:xfrm>
            <a:off x="4395216" y="2560320"/>
            <a:ext cx="1331976"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CLAO certifies</a:t>
            </a:r>
            <a:endParaRPr lang="en-US" sz="1200" dirty="0"/>
          </a:p>
        </p:txBody>
      </p:sp>
      <p:sp>
        <p:nvSpPr>
          <p:cNvPr id="35" name="Text 32"/>
          <p:cNvSpPr txBox="1"/>
          <p:nvPr/>
        </p:nvSpPr>
        <p:spPr>
          <a:xfrm>
            <a:off x="548640" y="2999232"/>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MODULES</a:t>
            </a:r>
            <a:endParaRPr lang="en-US" sz="1000" dirty="0"/>
          </a:p>
        </p:txBody>
      </p:sp>
      <p:sp>
        <p:nvSpPr>
          <p:cNvPr id="36" name="Text 33"/>
          <p:cNvSpPr txBox="1"/>
          <p:nvPr/>
        </p:nvSpPr>
        <p:spPr>
          <a:xfrm>
            <a:off x="1691640" y="2999232"/>
            <a:ext cx="1632204" cy="329184"/>
          </a:xfrm>
          <a:prstGeom prst="roundRect">
            <a:avLst>
              <a:gd name="adj" fmla="val 50000"/>
            </a:avLst>
          </a:prstGeom>
          <a:solidFill>
            <a:srgbClr val="FFFFFF"/>
          </a:solidFill>
          <a:ln w="9525">
            <a:solidFill>
              <a:srgbClr val="E3E2DC"/>
            </a:solidFill>
          </a:ln>
        </p:spPr>
        <p:txBody>
          <a:bodyPr wrap="square" lIns="0" tIns="0" rIns="0" bIns="0" rtlCol="0" anchor="ctr"/>
          <a:lstStyle/>
          <a:p>
            <a:pPr algn="ctr" indent="0" marL="0">
              <a:buNone/>
            </a:pPr>
            <a:r>
              <a:rPr lang="en-US" sz="1200" dirty="0">
                <a:solidFill>
                  <a:srgbClr val="1B1E1D"/>
                </a:solidFill>
                <a:latin typeface="Calibri" pitchFamily="34" charset="0"/>
                <a:ea typeface="Calibri" pitchFamily="34" charset="-122"/>
                <a:cs typeface="Calibri" pitchFamily="34" charset="-120"/>
              </a:rPr>
              <a:t>T7 Settlement draft</a:t>
            </a:r>
            <a:endParaRPr lang="en-US" sz="1200" dirty="0"/>
          </a:p>
        </p:txBody>
      </p:sp>
      <p:sp>
        <p:nvSpPr>
          <p:cNvPr id="37" name="Text 34"/>
          <p:cNvSpPr txBox="1"/>
          <p:nvPr/>
        </p:nvSpPr>
        <p:spPr>
          <a:xfrm>
            <a:off x="3415284" y="2999232"/>
            <a:ext cx="1906524" cy="329184"/>
          </a:xfrm>
          <a:prstGeom prst="roundRect">
            <a:avLst>
              <a:gd name="adj" fmla="val 50000"/>
            </a:avLst>
          </a:prstGeom>
          <a:solidFill>
            <a:srgbClr val="FFFFFF"/>
          </a:solidFill>
          <a:ln w="9525">
            <a:solidFill>
              <a:srgbClr val="E3E2DC"/>
            </a:solidFill>
          </a:ln>
        </p:spPr>
        <p:txBody>
          <a:bodyPr wrap="square" lIns="0" tIns="0" rIns="0" bIns="0" rtlCol="0" anchor="ctr"/>
          <a:lstStyle/>
          <a:p>
            <a:pPr algn="ctr" indent="0" marL="0">
              <a:buNone/>
            </a:pPr>
            <a:r>
              <a:rPr lang="en-US" sz="1200" dirty="0">
                <a:solidFill>
                  <a:srgbClr val="1B1E1D"/>
                </a:solidFill>
                <a:latin typeface="Calibri" pitchFamily="34" charset="0"/>
                <a:ea typeface="Calibri" pitchFamily="34" charset="-122"/>
                <a:cs typeface="Calibri" pitchFamily="34" charset="-120"/>
              </a:rPr>
              <a:t>T11 Offline e-signature</a:t>
            </a:r>
            <a:endParaRPr lang="en-US" sz="1200" dirty="0"/>
          </a:p>
        </p:txBody>
      </p:sp>
      <p:sp>
        <p:nvSpPr>
          <p:cNvPr id="38" name="Text 35"/>
          <p:cNvSpPr txBox="1"/>
          <p:nvPr/>
        </p:nvSpPr>
        <p:spPr>
          <a:xfrm>
            <a:off x="548640" y="3657600"/>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9" name="Text 36"/>
          <p:cNvSpPr txBox="1"/>
          <p:nvPr/>
        </p:nvSpPr>
        <p:spPr>
          <a:xfrm>
            <a:off x="1097280" y="3639312"/>
            <a:ext cx="4937760" cy="59131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Safety comes first</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No step runs until a person confirms safety; "Not safe" stops it.</a:t>
            </a:r>
            <a:endParaRPr lang="en-US" sz="1500" dirty="0"/>
          </a:p>
        </p:txBody>
      </p:sp>
      <p:sp>
        <p:nvSpPr>
          <p:cNvPr id="40" name="Text 37"/>
          <p:cNvSpPr txBox="1"/>
          <p:nvPr/>
        </p:nvSpPr>
        <p:spPr>
          <a:xfrm>
            <a:off x="548640" y="4303776"/>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1" name="Text 38"/>
          <p:cNvSpPr txBox="1"/>
          <p:nvPr/>
        </p:nvSpPr>
        <p:spPr>
          <a:xfrm>
            <a:off x="1097280" y="4285488"/>
            <a:ext cx="4937760" cy="59131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AI suggests, people decide</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AI only suggests wording; the mediator reviews, both parties confirm.</a:t>
            </a:r>
            <a:endParaRPr lang="en-US" sz="1500" dirty="0"/>
          </a:p>
        </p:txBody>
      </p:sp>
      <p:sp>
        <p:nvSpPr>
          <p:cNvPr id="42" name="Text 39"/>
          <p:cNvSpPr txBox="1"/>
          <p:nvPr/>
        </p:nvSpPr>
        <p:spPr>
          <a:xfrm>
            <a:off x="548640" y="4949952"/>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3" name="Text 40"/>
          <p:cNvSpPr txBox="1"/>
          <p:nvPr/>
        </p:nvSpPr>
        <p:spPr>
          <a:xfrm>
            <a:off x="1097280" y="4931664"/>
            <a:ext cx="4937760" cy="59131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Integrity-verifiable signatures</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Each party signs, even offline; a changed copy fails verification.</a:t>
            </a:r>
            <a:endParaRPr lang="en-US" sz="1500" dirty="0"/>
          </a:p>
        </p:txBody>
      </p:sp>
      <p:sp>
        <p:nvSpPr>
          <p:cNvPr id="44" name="Shape 41"/>
          <p:cNvSpPr/>
          <p:nvPr/>
        </p:nvSpPr>
        <p:spPr>
          <a:xfrm>
            <a:off x="6355080" y="2560320"/>
            <a:ext cx="5287975" cy="2926080"/>
          </a:xfrm>
          <a:prstGeom prst="roundRect">
            <a:avLst>
              <a:gd name="adj" fmla="val 375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pic>
        <p:nvPicPr>
          <p:cNvPr id="45" name="Image 1" descr="Prototype screen: Mediation panel · /applications/:id">    </p:cNvPr>
          <p:cNvPicPr>
            <a:picLocks noChangeAspect="1"/>
          </p:cNvPicPr>
          <p:nvPr/>
        </p:nvPicPr>
        <p:blipFill>
          <a:blip r:embed="rId2"/>
          <a:stretch>
            <a:fillRect/>
          </a:stretch>
        </p:blipFill>
        <p:spPr>
          <a:xfrm>
            <a:off x="6560668" y="2651760"/>
            <a:ext cx="4876800" cy="2743200"/>
          </a:xfrm>
          <a:prstGeom prst="rect">
            <a:avLst/>
          </a:prstGeom>
        </p:spPr>
      </p:pic>
      <p:sp>
        <p:nvSpPr>
          <p:cNvPr id="46" name="Shape 42"/>
          <p:cNvSpPr/>
          <p:nvPr/>
        </p:nvSpPr>
        <p:spPr>
          <a:xfrm>
            <a:off x="548640" y="5669280"/>
            <a:ext cx="11094415" cy="621792"/>
          </a:xfrm>
          <a:prstGeom prst="roundRect">
            <a:avLst>
              <a:gd name="adj" fmla="val 17647"/>
            </a:avLst>
          </a:prstGeom>
          <a:solidFill>
            <a:srgbClr val="EDF3EC"/>
          </a:solidFill>
          <a:ln/>
        </p:spPr>
      </p:sp>
      <p:sp>
        <p:nvSpPr>
          <p:cNvPr id="47" name="Shape 43"/>
          <p:cNvSpPr/>
          <p:nvPr/>
        </p:nvSpPr>
        <p:spPr>
          <a:xfrm>
            <a:off x="694944" y="5788152"/>
            <a:ext cx="384048" cy="384048"/>
          </a:xfrm>
          <a:prstGeom prst="ellipse">
            <a:avLst/>
          </a:prstGeom>
          <a:solidFill>
            <a:srgbClr val="28562D"/>
          </a:solidFill>
          <a:ln/>
        </p:spPr>
      </p:sp>
      <p:pic>
        <p:nvPicPr>
          <p:cNvPr id="48" name="Image 2" descr="preencoded.png">    </p:cNvPr>
          <p:cNvPicPr>
            <a:picLocks noChangeAspect="1"/>
          </p:cNvPicPr>
          <p:nvPr/>
        </p:nvPicPr>
        <p:blipFill>
          <a:blip r:embed="rId3"/>
          <a:stretch>
            <a:fillRect/>
          </a:stretch>
        </p:blipFill>
        <p:spPr>
          <a:xfrm>
            <a:off x="787116" y="5880324"/>
            <a:ext cx="199705" cy="199705"/>
          </a:xfrm>
          <a:prstGeom prst="rect">
            <a:avLst/>
          </a:prstGeom>
        </p:spPr>
      </p:pic>
      <p:sp>
        <p:nvSpPr>
          <p:cNvPr id="49" name="Text 44"/>
          <p:cNvSpPr txBox="1"/>
          <p:nvPr/>
        </p:nvSpPr>
        <p:spPr>
          <a:xfrm>
            <a:off x="1234440" y="5669280"/>
            <a:ext cx="10271455" cy="621792"/>
          </a:xfrm>
          <a:prstGeom prst="rect">
            <a:avLst/>
          </a:prstGeom>
          <a:noFill/>
          <a:ln/>
        </p:spPr>
        <p:txBody>
          <a:bodyPr wrap="square" lIns="0" tIns="0" rIns="0" bIns="0" rtlCol="0" anchor="ctr"/>
          <a:lstStyle/>
          <a:p>
            <a:pPr indent="0" marL="0">
              <a:buNone/>
            </a:pPr>
            <a:r>
              <a:rPr lang="en-US" sz="1450" b="1" dirty="0">
                <a:solidFill>
                  <a:srgbClr val="28562D"/>
                </a:solidFill>
                <a:latin typeface="Calibri" pitchFamily="34" charset="0"/>
                <a:ea typeface="Calibri" pitchFamily="34" charset="-122"/>
                <a:cs typeface="Calibri" pitchFamily="34" charset="-120"/>
              </a:rPr>
              <a:t>Human decides: </a:t>
            </a:r>
            <a:pPr indent="0" marL="0">
              <a:buNone/>
            </a:pPr>
            <a:r>
              <a:rPr lang="en-US" sz="1450" dirty="0">
                <a:solidFill>
                  <a:srgbClr val="1B1E1D"/>
                </a:solidFill>
                <a:latin typeface="Calibri" pitchFamily="34" charset="0"/>
                <a:ea typeface="Calibri" pitchFamily="34" charset="-122"/>
                <a:cs typeface="Calibri" pitchFamily="34" charset="-120"/>
              </a:rPr>
              <a:t>the parties agree the terms with the mediator; the CLAO certifies the settlement or returns it for correction.</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28562D"/>
                </a:solidFill>
                <a:latin typeface="Calibri" pitchFamily="34" charset="0"/>
                <a:ea typeface="Calibri" pitchFamily="34" charset="-122"/>
                <a:cs typeface="Calibri" pitchFamily="34" charset="-120"/>
              </a:rPr>
              <a:t>FLOW 5 OF 6</a:t>
            </a:r>
            <a:endParaRPr lang="en-US" sz="1200" dirty="0"/>
          </a:p>
        </p:txBody>
      </p:sp>
      <p:sp>
        <p:nvSpPr>
          <p:cNvPr id="3" name="Text 1"/>
          <p:cNvSpPr txBox="1"/>
          <p:nvPr/>
        </p:nvSpPr>
        <p:spPr>
          <a:xfrm>
            <a:off x="548640" y="713232"/>
            <a:ext cx="7040880" cy="685800"/>
          </a:xfrm>
          <a:prstGeom prst="rect">
            <a:avLst/>
          </a:prstGeom>
          <a:noFill/>
          <a:ln/>
        </p:spPr>
        <p:txBody>
          <a:bodyPr wrap="square" lIns="0" tIns="0" rIns="0" bIns="0" rtlCol="0" anchor="ctr"/>
          <a:lstStyle/>
          <a:p>
            <a:pPr indent="0" marL="0">
              <a:buNone/>
            </a:pPr>
            <a:r>
              <a:rPr lang="en-US" sz="3600" b="1" dirty="0">
                <a:solidFill>
                  <a:srgbClr val="1B1E1D"/>
                </a:solidFill>
                <a:latin typeface="Cambria" pitchFamily="34" charset="0"/>
                <a:ea typeface="Cambria" pitchFamily="34" charset="-122"/>
                <a:cs typeface="Cambria" pitchFamily="34" charset="-120"/>
              </a:rPr>
              <a:t>Urgent referral</a:t>
            </a:r>
            <a:endParaRPr lang="en-US" sz="3600" dirty="0"/>
          </a:p>
        </p:txBody>
      </p:sp>
      <p:sp>
        <p:nvSpPr>
          <p:cNvPr id="4" name="Shape 2"/>
          <p:cNvSpPr/>
          <p:nvPr/>
        </p:nvSpPr>
        <p:spPr>
          <a:xfrm>
            <a:off x="7708392" y="457200"/>
            <a:ext cx="3934663" cy="731520"/>
          </a:xfrm>
          <a:prstGeom prst="roundRect">
            <a:avLst>
              <a:gd name="adj" fmla="val 150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836408" y="612648"/>
            <a:ext cx="420624" cy="420624"/>
          </a:xfrm>
          <a:prstGeom prst="ellipse">
            <a:avLst/>
          </a:prstGeom>
          <a:solidFill>
            <a:srgbClr val="28562D"/>
          </a:solidFill>
          <a:ln/>
        </p:spPr>
      </p:sp>
      <p:pic>
        <p:nvPicPr>
          <p:cNvPr id="6" name="Image 0" descr="preencoded.png">    </p:cNvPr>
          <p:cNvPicPr>
            <a:picLocks noChangeAspect="1"/>
          </p:cNvPicPr>
          <p:nvPr/>
        </p:nvPicPr>
        <p:blipFill>
          <a:blip r:embed="rId1"/>
          <a:stretch>
            <a:fillRect/>
          </a:stretch>
        </p:blipFill>
        <p:spPr>
          <a:xfrm>
            <a:off x="7937358" y="713598"/>
            <a:ext cx="218724" cy="218724"/>
          </a:xfrm>
          <a:prstGeom prst="rect">
            <a:avLst/>
          </a:prstGeom>
        </p:spPr>
      </p:pic>
      <p:sp>
        <p:nvSpPr>
          <p:cNvPr id="7" name="Text 4"/>
          <p:cNvSpPr txBox="1"/>
          <p:nvPr/>
        </p:nvSpPr>
        <p:spPr>
          <a:xfrm>
            <a:off x="8366760" y="512064"/>
            <a:ext cx="3184855" cy="621792"/>
          </a:xfrm>
          <a:prstGeom prst="rect">
            <a:avLst/>
          </a:prstGeom>
          <a:noFill/>
          <a:ln/>
        </p:spPr>
        <p:txBody>
          <a:bodyPr wrap="square" lIns="0" tIns="0" rIns="0" bIns="0" rtlCol="0" anchor="ctr"/>
          <a:lstStyle/>
          <a:p>
            <a:pPr indent="0" marL="0">
              <a:buNone/>
            </a:pPr>
            <a:r>
              <a:rPr lang="en-US" sz="1000" b="1" spc="100" kern="0" dirty="0">
                <a:solidFill>
                  <a:srgbClr val="28562D"/>
                </a:solidFill>
                <a:latin typeface="Calibri" pitchFamily="34" charset="0"/>
                <a:ea typeface="Calibri" pitchFamily="34" charset="-122"/>
                <a:cs typeface="Calibri" pitchFamily="34" charset="-120"/>
              </a:rPr>
              <a:t>ONE RECORD</a:t>
            </a:r>
            <a:endParaRPr lang="en-US" sz="1000" dirty="0"/>
          </a:p>
          <a:p>
            <a:pPr indent="0" marL="0">
              <a:buNone/>
            </a:pPr>
            <a:r>
              <a:rPr lang="en-US" sz="1200" dirty="0">
                <a:solidFill>
                  <a:srgbClr val="1B1E1D"/>
                </a:solidFill>
                <a:latin typeface="Calibri" pitchFamily="34" charset="0"/>
                <a:ea typeface="Calibri" pitchFamily="34" charset="-122"/>
                <a:cs typeface="Calibri" pitchFamily="34" charset="-120"/>
              </a:rPr>
              <a:t>Referral travels with the record · no re-entry</a:t>
            </a:r>
            <a:endParaRPr lang="en-US" sz="1000" dirty="0"/>
          </a:p>
        </p:txBody>
      </p:sp>
      <p:sp>
        <p:nvSpPr>
          <p:cNvPr id="8" name="Text 5"/>
          <p:cNvSpPr txBox="1"/>
          <p:nvPr/>
        </p:nvSpPr>
        <p:spPr>
          <a:xfrm>
            <a:off x="548640" y="1645920"/>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CITIZENS</a:t>
            </a:r>
            <a:endParaRPr lang="en-US" sz="1000" dirty="0"/>
          </a:p>
        </p:txBody>
      </p:sp>
      <p:sp>
        <p:nvSpPr>
          <p:cNvPr id="9" name="Text 6"/>
          <p:cNvSpPr txBox="1"/>
          <p:nvPr/>
        </p:nvSpPr>
        <p:spPr>
          <a:xfrm>
            <a:off x="1691640" y="1645920"/>
            <a:ext cx="973836" cy="329184"/>
          </a:xfrm>
          <a:prstGeom prst="roundRect">
            <a:avLst>
              <a:gd name="adj" fmla="val 50000"/>
            </a:avLst>
          </a:prstGeom>
          <a:solidFill>
            <a:srgbClr val="2856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A3 Nabila</a:t>
            </a:r>
            <a:endParaRPr lang="en-US" sz="1200" dirty="0"/>
          </a:p>
        </p:txBody>
      </p:sp>
      <p:sp>
        <p:nvSpPr>
          <p:cNvPr id="10" name="Text 7"/>
          <p:cNvSpPr txBox="1"/>
          <p:nvPr/>
        </p:nvSpPr>
        <p:spPr>
          <a:xfrm>
            <a:off x="548640" y="2084832"/>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PROVIDERS</a:t>
            </a:r>
            <a:endParaRPr lang="en-US" sz="1000" dirty="0"/>
          </a:p>
        </p:txBody>
      </p:sp>
      <p:sp>
        <p:nvSpPr>
          <p:cNvPr id="11" name="Text 8"/>
          <p:cNvSpPr txBox="1"/>
          <p:nvPr/>
        </p:nvSpPr>
        <p:spPr>
          <a:xfrm>
            <a:off x="1691640" y="2084832"/>
            <a:ext cx="1403604"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B1 DLAO officer</a:t>
            </a:r>
            <a:endParaRPr lang="en-US" sz="1200" dirty="0"/>
          </a:p>
        </p:txBody>
      </p:sp>
      <p:sp>
        <p:nvSpPr>
          <p:cNvPr id="12" name="Text 9"/>
          <p:cNvSpPr txBox="1"/>
          <p:nvPr/>
        </p:nvSpPr>
        <p:spPr>
          <a:xfrm>
            <a:off x="3186684" y="2084832"/>
            <a:ext cx="1546860"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B6 Receiving DLAO</a:t>
            </a:r>
            <a:endParaRPr lang="en-US" sz="1200" dirty="0"/>
          </a:p>
        </p:txBody>
      </p:sp>
      <p:sp>
        <p:nvSpPr>
          <p:cNvPr id="13" name="Text 10"/>
          <p:cNvSpPr txBox="1"/>
          <p:nvPr/>
        </p:nvSpPr>
        <p:spPr>
          <a:xfrm>
            <a:off x="548640" y="2523744"/>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MODULES</a:t>
            </a:r>
            <a:endParaRPr lang="en-US" sz="1000" dirty="0"/>
          </a:p>
        </p:txBody>
      </p:sp>
      <p:sp>
        <p:nvSpPr>
          <p:cNvPr id="14" name="Text 11"/>
          <p:cNvSpPr txBox="1"/>
          <p:nvPr/>
        </p:nvSpPr>
        <p:spPr>
          <a:xfrm>
            <a:off x="1691640" y="2523744"/>
            <a:ext cx="2043684" cy="329184"/>
          </a:xfrm>
          <a:prstGeom prst="roundRect">
            <a:avLst>
              <a:gd name="adj" fmla="val 50000"/>
            </a:avLst>
          </a:prstGeom>
          <a:solidFill>
            <a:srgbClr val="FFFFFF"/>
          </a:solidFill>
          <a:ln w="9525">
            <a:solidFill>
              <a:srgbClr val="E3E2DC"/>
            </a:solidFill>
          </a:ln>
        </p:spPr>
        <p:txBody>
          <a:bodyPr wrap="square" lIns="0" tIns="0" rIns="0" bIns="0" rtlCol="0" anchor="ctr"/>
          <a:lstStyle/>
          <a:p>
            <a:pPr algn="ctr" indent="0" marL="0">
              <a:buNone/>
            </a:pPr>
            <a:r>
              <a:rPr lang="en-US" sz="1200" dirty="0">
                <a:solidFill>
                  <a:srgbClr val="1B1E1D"/>
                </a:solidFill>
                <a:latin typeface="Calibri" pitchFamily="34" charset="0"/>
                <a:ea typeface="Calibri" pitchFamily="34" charset="-122"/>
                <a:cs typeface="Calibri" pitchFamily="34" charset="-120"/>
              </a:rPr>
              <a:t>T2 Jurisdiction ping-pong</a:t>
            </a:r>
            <a:endParaRPr lang="en-US" sz="1200" dirty="0"/>
          </a:p>
        </p:txBody>
      </p:sp>
      <p:sp>
        <p:nvSpPr>
          <p:cNvPr id="15" name="Text 12"/>
          <p:cNvSpPr txBox="1"/>
          <p:nvPr/>
        </p:nvSpPr>
        <p:spPr>
          <a:xfrm>
            <a:off x="548640" y="3182112"/>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 name="Text 13"/>
          <p:cNvSpPr txBox="1"/>
          <p:nvPr/>
        </p:nvSpPr>
        <p:spPr>
          <a:xfrm>
            <a:off x="1097280" y="3163824"/>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Urgency, with reasons</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Rules show why the case looks urgent, with evidence references. The officer sets the priority.</a:t>
            </a:r>
            <a:endParaRPr lang="en-US" sz="1500" dirty="0"/>
          </a:p>
        </p:txBody>
      </p:sp>
      <p:sp>
        <p:nvSpPr>
          <p:cNvPr id="17" name="Text 14"/>
          <p:cNvSpPr txBox="1"/>
          <p:nvPr/>
        </p:nvSpPr>
        <p:spPr>
          <a:xfrm>
            <a:off x="548640" y="3986784"/>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5"/>
          <p:cNvSpPr txBox="1"/>
          <p:nvPr/>
        </p:nvSpPr>
        <p:spPr>
          <a:xfrm>
            <a:off x="1097280" y="3968496"/>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Restricted evidence stays restricted</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Office role alone cannot open it; every open or denial is logged.</a:t>
            </a:r>
            <a:endParaRPr lang="en-US" sz="1500" dirty="0"/>
          </a:p>
        </p:txBody>
      </p:sp>
      <p:sp>
        <p:nvSpPr>
          <p:cNvPr id="19" name="Text 16"/>
          <p:cNvSpPr txBox="1"/>
          <p:nvPr/>
        </p:nvSpPr>
        <p:spPr>
          <a:xfrm>
            <a:off x="548640" y="4791456"/>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1097280" y="4773168"/>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Nobody can drop it</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An unacknowledged referral creates a follow-up task; two returns block transfers until a human decides.</a:t>
            </a:r>
            <a:endParaRPr lang="en-US" sz="1500" dirty="0"/>
          </a:p>
        </p:txBody>
      </p:sp>
      <p:sp>
        <p:nvSpPr>
          <p:cNvPr id="21" name="Shape 18"/>
          <p:cNvSpPr/>
          <p:nvPr/>
        </p:nvSpPr>
        <p:spPr>
          <a:xfrm>
            <a:off x="6355080" y="1645920"/>
            <a:ext cx="5287975" cy="3108960"/>
          </a:xfrm>
          <a:prstGeom prst="roundRect">
            <a:avLst>
              <a:gd name="adj" fmla="val 3529"/>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pic>
        <p:nvPicPr>
          <p:cNvPr id="22" name="Image 1" descr="Prototype screen: Referral handover · /applications/:id">    </p:cNvPr>
          <p:cNvPicPr>
            <a:picLocks noChangeAspect="1"/>
          </p:cNvPicPr>
          <p:nvPr/>
        </p:nvPicPr>
        <p:blipFill>
          <a:blip r:embed="rId2"/>
          <a:stretch>
            <a:fillRect/>
          </a:stretch>
        </p:blipFill>
        <p:spPr>
          <a:xfrm>
            <a:off x="6446520" y="1764592"/>
            <a:ext cx="5105095" cy="2871616"/>
          </a:xfrm>
          <a:prstGeom prst="rect">
            <a:avLst/>
          </a:prstGeom>
        </p:spPr>
      </p:pic>
      <p:sp>
        <p:nvSpPr>
          <p:cNvPr id="23" name="Text 19"/>
          <p:cNvSpPr txBox="1"/>
          <p:nvPr/>
        </p:nvSpPr>
        <p:spPr>
          <a:xfrm>
            <a:off x="6355080" y="4809744"/>
            <a:ext cx="5287975" cy="237744"/>
          </a:xfrm>
          <a:prstGeom prst="rect">
            <a:avLst/>
          </a:prstGeom>
          <a:noFill/>
          <a:ln/>
        </p:spPr>
        <p:txBody>
          <a:bodyPr wrap="square" lIns="0" tIns="0" rIns="0" bIns="0" rtlCol="0" anchor="t"/>
          <a:lstStyle/>
          <a:p>
            <a:pPr indent="0" marL="0">
              <a:buNone/>
            </a:pPr>
            <a:r>
              <a:rPr lang="en-US" sz="1100" dirty="0">
                <a:solidFill>
                  <a:srgbClr val="4E5751"/>
                </a:solidFill>
                <a:latin typeface="Calibri" pitchFamily="34" charset="0"/>
                <a:ea typeface="Calibri" pitchFamily="34" charset="-122"/>
                <a:cs typeface="Calibri" pitchFamily="34" charset="-120"/>
              </a:rPr>
              <a:t>Screen: Referral handover · /applications/:id</a:t>
            </a:r>
            <a:endParaRPr lang="en-US" sz="1100" dirty="0"/>
          </a:p>
        </p:txBody>
      </p:sp>
      <p:sp>
        <p:nvSpPr>
          <p:cNvPr id="24" name="Shape 20"/>
          <p:cNvSpPr/>
          <p:nvPr/>
        </p:nvSpPr>
        <p:spPr>
          <a:xfrm>
            <a:off x="548640" y="5669280"/>
            <a:ext cx="11094415" cy="621792"/>
          </a:xfrm>
          <a:prstGeom prst="roundRect">
            <a:avLst>
              <a:gd name="adj" fmla="val 17647"/>
            </a:avLst>
          </a:prstGeom>
          <a:solidFill>
            <a:srgbClr val="EDF3EC"/>
          </a:solidFill>
          <a:ln/>
        </p:spPr>
      </p:sp>
      <p:sp>
        <p:nvSpPr>
          <p:cNvPr id="25" name="Shape 21"/>
          <p:cNvSpPr/>
          <p:nvPr/>
        </p:nvSpPr>
        <p:spPr>
          <a:xfrm>
            <a:off x="694944" y="5788152"/>
            <a:ext cx="384048" cy="384048"/>
          </a:xfrm>
          <a:prstGeom prst="ellipse">
            <a:avLst/>
          </a:prstGeom>
          <a:solidFill>
            <a:srgbClr val="28562D"/>
          </a:solidFill>
          <a:ln/>
        </p:spPr>
      </p:sp>
      <p:pic>
        <p:nvPicPr>
          <p:cNvPr id="26" name="Image 2" descr="preencoded.png">    </p:cNvPr>
          <p:cNvPicPr>
            <a:picLocks noChangeAspect="1"/>
          </p:cNvPicPr>
          <p:nvPr/>
        </p:nvPicPr>
        <p:blipFill>
          <a:blip r:embed="rId3"/>
          <a:stretch>
            <a:fillRect/>
          </a:stretch>
        </p:blipFill>
        <p:spPr>
          <a:xfrm>
            <a:off x="787116" y="5880324"/>
            <a:ext cx="199705" cy="199705"/>
          </a:xfrm>
          <a:prstGeom prst="rect">
            <a:avLst/>
          </a:prstGeom>
        </p:spPr>
      </p:pic>
      <p:sp>
        <p:nvSpPr>
          <p:cNvPr id="27" name="Text 22"/>
          <p:cNvSpPr txBox="1"/>
          <p:nvPr/>
        </p:nvSpPr>
        <p:spPr>
          <a:xfrm>
            <a:off x="1234440" y="5669280"/>
            <a:ext cx="10271455" cy="621792"/>
          </a:xfrm>
          <a:prstGeom prst="rect">
            <a:avLst/>
          </a:prstGeom>
          <a:noFill/>
          <a:ln/>
        </p:spPr>
        <p:txBody>
          <a:bodyPr wrap="square" lIns="0" tIns="0" rIns="0" bIns="0" rtlCol="0" anchor="ctr"/>
          <a:lstStyle/>
          <a:p>
            <a:pPr indent="0" marL="0">
              <a:buNone/>
            </a:pPr>
            <a:r>
              <a:rPr lang="en-US" sz="1450" b="1" dirty="0">
                <a:solidFill>
                  <a:srgbClr val="28562D"/>
                </a:solidFill>
                <a:latin typeface="Calibri" pitchFamily="34" charset="0"/>
                <a:ea typeface="Calibri" pitchFamily="34" charset="-122"/>
                <a:cs typeface="Calibri" pitchFamily="34" charset="-120"/>
              </a:rPr>
              <a:t>Human decides: </a:t>
            </a:r>
            <a:pPr indent="0" marL="0">
              <a:buNone/>
            </a:pPr>
            <a:r>
              <a:rPr lang="en-US" sz="1450" dirty="0">
                <a:solidFill>
                  <a:srgbClr val="1B1E1D"/>
                </a:solidFill>
                <a:latin typeface="Calibri" pitchFamily="34" charset="0"/>
                <a:ea typeface="Calibri" pitchFamily="34" charset="-122"/>
                <a:cs typeface="Calibri" pitchFamily="34" charset="-120"/>
              </a:rPr>
              <a:t>the owning DLAO officer records the routing decision. The timer never decides jurisdiction.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28562D"/>
                </a:solidFill>
                <a:latin typeface="Calibri" pitchFamily="34" charset="0"/>
                <a:ea typeface="Calibri" pitchFamily="34" charset="-122"/>
                <a:cs typeface="Calibri" pitchFamily="34" charset="-120"/>
              </a:rPr>
              <a:t>FLOW 6 OF 6</a:t>
            </a:r>
            <a:endParaRPr lang="en-US" sz="1200" dirty="0"/>
          </a:p>
        </p:txBody>
      </p:sp>
      <p:sp>
        <p:nvSpPr>
          <p:cNvPr id="3" name="Text 1"/>
          <p:cNvSpPr txBox="1"/>
          <p:nvPr/>
        </p:nvSpPr>
        <p:spPr>
          <a:xfrm>
            <a:off x="548640" y="713232"/>
            <a:ext cx="7040880" cy="685800"/>
          </a:xfrm>
          <a:prstGeom prst="rect">
            <a:avLst/>
          </a:prstGeom>
          <a:noFill/>
          <a:ln/>
        </p:spPr>
        <p:txBody>
          <a:bodyPr wrap="square" lIns="0" tIns="0" rIns="0" bIns="0" rtlCol="0" anchor="ctr"/>
          <a:lstStyle/>
          <a:p>
            <a:pPr indent="0" marL="0">
              <a:buNone/>
            </a:pPr>
            <a:r>
              <a:rPr lang="en-US" sz="3600" b="1" dirty="0">
                <a:solidFill>
                  <a:srgbClr val="1B1E1D"/>
                </a:solidFill>
                <a:latin typeface="Cambria" pitchFamily="34" charset="0"/>
                <a:ea typeface="Cambria" pitchFamily="34" charset="-122"/>
                <a:cs typeface="Cambria" pitchFamily="34" charset="-120"/>
              </a:rPr>
              <a:t>A long-running case</a:t>
            </a:r>
            <a:endParaRPr lang="en-US" sz="3600" dirty="0"/>
          </a:p>
        </p:txBody>
      </p:sp>
      <p:sp>
        <p:nvSpPr>
          <p:cNvPr id="4" name="Shape 2"/>
          <p:cNvSpPr/>
          <p:nvPr/>
        </p:nvSpPr>
        <p:spPr>
          <a:xfrm>
            <a:off x="7708392" y="457200"/>
            <a:ext cx="3934663" cy="731520"/>
          </a:xfrm>
          <a:prstGeom prst="roundRect">
            <a:avLst>
              <a:gd name="adj" fmla="val 150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836408" y="612648"/>
            <a:ext cx="420624" cy="420624"/>
          </a:xfrm>
          <a:prstGeom prst="ellipse">
            <a:avLst/>
          </a:prstGeom>
          <a:solidFill>
            <a:srgbClr val="28562D"/>
          </a:solidFill>
          <a:ln/>
        </p:spPr>
      </p:sp>
      <p:pic>
        <p:nvPicPr>
          <p:cNvPr id="6" name="Image 0" descr="preencoded.png">    </p:cNvPr>
          <p:cNvPicPr>
            <a:picLocks noChangeAspect="1"/>
          </p:cNvPicPr>
          <p:nvPr/>
        </p:nvPicPr>
        <p:blipFill>
          <a:blip r:embed="rId1"/>
          <a:stretch>
            <a:fillRect/>
          </a:stretch>
        </p:blipFill>
        <p:spPr>
          <a:xfrm>
            <a:off x="7937358" y="713598"/>
            <a:ext cx="218724" cy="218724"/>
          </a:xfrm>
          <a:prstGeom prst="rect">
            <a:avLst/>
          </a:prstGeom>
        </p:spPr>
      </p:pic>
      <p:sp>
        <p:nvSpPr>
          <p:cNvPr id="7" name="Text 4"/>
          <p:cNvSpPr txBox="1"/>
          <p:nvPr/>
        </p:nvSpPr>
        <p:spPr>
          <a:xfrm>
            <a:off x="8366760" y="512064"/>
            <a:ext cx="3184855" cy="621792"/>
          </a:xfrm>
          <a:prstGeom prst="rect">
            <a:avLst/>
          </a:prstGeom>
          <a:noFill/>
          <a:ln/>
        </p:spPr>
        <p:txBody>
          <a:bodyPr wrap="square" lIns="0" tIns="0" rIns="0" bIns="0" rtlCol="0" anchor="ctr"/>
          <a:lstStyle/>
          <a:p>
            <a:pPr indent="0" marL="0">
              <a:buNone/>
            </a:pPr>
            <a:r>
              <a:rPr lang="en-US" sz="1000" b="1" spc="100" kern="0" dirty="0">
                <a:solidFill>
                  <a:srgbClr val="28562D"/>
                </a:solidFill>
                <a:latin typeface="Calibri" pitchFamily="34" charset="0"/>
                <a:ea typeface="Calibri" pitchFamily="34" charset="-122"/>
                <a:cs typeface="Calibri" pitchFamily="34" charset="-120"/>
              </a:rPr>
              <a:t>ONE RECORD</a:t>
            </a:r>
            <a:endParaRPr lang="en-US" sz="1000" dirty="0"/>
          </a:p>
          <a:p>
            <a:pPr indent="0" marL="0">
              <a:buNone/>
            </a:pPr>
            <a:r>
              <a:rPr lang="en-US" sz="1200" dirty="0">
                <a:solidFill>
                  <a:srgbClr val="1B1E1D"/>
                </a:solidFill>
                <a:latin typeface="Calibri" pitchFamily="34" charset="0"/>
                <a:ea typeface="Calibri" pitchFamily="34" charset="-122"/>
                <a:cs typeface="Calibri" pitchFamily="34" charset="-120"/>
              </a:rPr>
              <a:t>Same Application and Case, seven months on</a:t>
            </a:r>
            <a:endParaRPr lang="en-US" sz="1000" dirty="0"/>
          </a:p>
        </p:txBody>
      </p:sp>
      <p:sp>
        <p:nvSpPr>
          <p:cNvPr id="8" name="Text 5"/>
          <p:cNvSpPr txBox="1"/>
          <p:nvPr/>
        </p:nvSpPr>
        <p:spPr>
          <a:xfrm>
            <a:off x="548640" y="1645920"/>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CITIZENS</a:t>
            </a:r>
            <a:endParaRPr lang="en-US" sz="1000" dirty="0"/>
          </a:p>
        </p:txBody>
      </p:sp>
      <p:sp>
        <p:nvSpPr>
          <p:cNvPr id="9" name="Text 6"/>
          <p:cNvSpPr txBox="1"/>
          <p:nvPr/>
        </p:nvSpPr>
        <p:spPr>
          <a:xfrm>
            <a:off x="1691640" y="1645920"/>
            <a:ext cx="1331976" cy="329184"/>
          </a:xfrm>
          <a:prstGeom prst="roundRect">
            <a:avLst>
              <a:gd name="adj" fmla="val 50000"/>
            </a:avLst>
          </a:prstGeom>
          <a:solidFill>
            <a:srgbClr val="28562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A5 Abdul Malek</a:t>
            </a:r>
            <a:endParaRPr lang="en-US" sz="1200" dirty="0"/>
          </a:p>
        </p:txBody>
      </p:sp>
      <p:sp>
        <p:nvSpPr>
          <p:cNvPr id="10" name="Text 7"/>
          <p:cNvSpPr txBox="1"/>
          <p:nvPr/>
        </p:nvSpPr>
        <p:spPr>
          <a:xfrm>
            <a:off x="548640" y="2084832"/>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PROVIDERS</a:t>
            </a:r>
            <a:endParaRPr lang="en-US" sz="1000" dirty="0"/>
          </a:p>
        </p:txBody>
      </p:sp>
      <p:sp>
        <p:nvSpPr>
          <p:cNvPr id="11" name="Text 8"/>
          <p:cNvSpPr txBox="1"/>
          <p:nvPr/>
        </p:nvSpPr>
        <p:spPr>
          <a:xfrm>
            <a:off x="1691640" y="2084832"/>
            <a:ext cx="1403604"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B5 Panel lawyer</a:t>
            </a:r>
            <a:endParaRPr lang="en-US" sz="1200" dirty="0"/>
          </a:p>
        </p:txBody>
      </p:sp>
      <p:sp>
        <p:nvSpPr>
          <p:cNvPr id="12" name="Text 9"/>
          <p:cNvSpPr txBox="1"/>
          <p:nvPr/>
        </p:nvSpPr>
        <p:spPr>
          <a:xfrm>
            <a:off x="3186684" y="2084832"/>
            <a:ext cx="1546860" cy="329184"/>
          </a:xfrm>
          <a:prstGeom prst="roundRect">
            <a:avLst>
              <a:gd name="adj" fmla="val 50000"/>
            </a:avLst>
          </a:prstGeom>
          <a:solidFill>
            <a:srgbClr val="EDF3EC"/>
          </a:solidFill>
          <a:ln/>
        </p:spPr>
        <p:txBody>
          <a:bodyPr wrap="square" lIns="0" tIns="0" rIns="0" bIns="0" rtlCol="0" anchor="ctr"/>
          <a:lstStyle/>
          <a:p>
            <a:pPr algn="ctr" indent="0" marL="0">
              <a:buNone/>
            </a:pPr>
            <a:r>
              <a:rPr lang="en-US" sz="1200" b="1" dirty="0">
                <a:solidFill>
                  <a:srgbClr val="28562D"/>
                </a:solidFill>
                <a:latin typeface="Calibri" pitchFamily="34" charset="0"/>
                <a:ea typeface="Calibri" pitchFamily="34" charset="-122"/>
                <a:cs typeface="Calibri" pitchFamily="34" charset="-120"/>
              </a:rPr>
              <a:t>B3 16699 helpline</a:t>
            </a:r>
            <a:endParaRPr lang="en-US" sz="1200" dirty="0"/>
          </a:p>
        </p:txBody>
      </p:sp>
      <p:sp>
        <p:nvSpPr>
          <p:cNvPr id="13" name="Text 10"/>
          <p:cNvSpPr txBox="1"/>
          <p:nvPr/>
        </p:nvSpPr>
        <p:spPr>
          <a:xfrm>
            <a:off x="548640" y="2523744"/>
            <a:ext cx="1097280" cy="329184"/>
          </a:xfrm>
          <a:prstGeom prst="rect">
            <a:avLst/>
          </a:prstGeom>
          <a:noFill/>
          <a:ln/>
        </p:spPr>
        <p:txBody>
          <a:bodyPr wrap="square" lIns="0" tIns="0" rIns="0" bIns="0" rtlCol="0" anchor="ctr"/>
          <a:lstStyle/>
          <a:p>
            <a:pPr indent="0" marL="0">
              <a:buNone/>
            </a:pPr>
            <a:r>
              <a:rPr lang="en-US" sz="1000" b="1" spc="100" kern="0" dirty="0">
                <a:solidFill>
                  <a:srgbClr val="4E5751"/>
                </a:solidFill>
                <a:latin typeface="Calibri" pitchFamily="34" charset="0"/>
                <a:ea typeface="Calibri" pitchFamily="34" charset="-122"/>
                <a:cs typeface="Calibri" pitchFamily="34" charset="-120"/>
              </a:rPr>
              <a:t>MODULES</a:t>
            </a:r>
            <a:endParaRPr lang="en-US" sz="1000" dirty="0"/>
          </a:p>
        </p:txBody>
      </p:sp>
      <p:sp>
        <p:nvSpPr>
          <p:cNvPr id="14" name="Text 11"/>
          <p:cNvSpPr txBox="1"/>
          <p:nvPr/>
        </p:nvSpPr>
        <p:spPr>
          <a:xfrm>
            <a:off x="1691640" y="2523744"/>
            <a:ext cx="1975104" cy="329184"/>
          </a:xfrm>
          <a:prstGeom prst="roundRect">
            <a:avLst>
              <a:gd name="adj" fmla="val 50000"/>
            </a:avLst>
          </a:prstGeom>
          <a:solidFill>
            <a:srgbClr val="FFFFFF"/>
          </a:solidFill>
          <a:ln w="9525">
            <a:solidFill>
              <a:srgbClr val="E3E2DC"/>
            </a:solidFill>
          </a:ln>
        </p:spPr>
        <p:txBody>
          <a:bodyPr wrap="square" lIns="0" tIns="0" rIns="0" bIns="0" rtlCol="0" anchor="ctr"/>
          <a:lstStyle/>
          <a:p>
            <a:pPr algn="ctr" indent="0" marL="0">
              <a:buNone/>
            </a:pPr>
            <a:r>
              <a:rPr lang="en-US" sz="1200" dirty="0">
                <a:solidFill>
                  <a:srgbClr val="1B1E1D"/>
                </a:solidFill>
                <a:latin typeface="Calibri" pitchFamily="34" charset="0"/>
                <a:ea typeface="Calibri" pitchFamily="34" charset="-122"/>
                <a:cs typeface="Calibri" pitchFamily="34" charset="-120"/>
              </a:rPr>
              <a:t>T1 Lawyer accountability</a:t>
            </a:r>
            <a:endParaRPr lang="en-US" sz="1200" dirty="0"/>
          </a:p>
        </p:txBody>
      </p:sp>
      <p:sp>
        <p:nvSpPr>
          <p:cNvPr id="15" name="Text 12"/>
          <p:cNvSpPr txBox="1"/>
          <p:nvPr/>
        </p:nvSpPr>
        <p:spPr>
          <a:xfrm>
            <a:off x="548640" y="3182112"/>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 name="Text 13"/>
          <p:cNvSpPr txBox="1"/>
          <p:nvPr/>
        </p:nvSpPr>
        <p:spPr>
          <a:xfrm>
            <a:off x="1097280" y="3163824"/>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Status without reading</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Ask by Voice: Malek says his number and PIN and hears the stage, hearing date and next step. No name is spoken.</a:t>
            </a:r>
            <a:endParaRPr lang="en-US" sz="1500" dirty="0"/>
          </a:p>
        </p:txBody>
      </p:sp>
      <p:sp>
        <p:nvSpPr>
          <p:cNvPr id="17" name="Text 14"/>
          <p:cNvSpPr txBox="1"/>
          <p:nvPr/>
        </p:nvSpPr>
        <p:spPr>
          <a:xfrm>
            <a:off x="548640" y="3986784"/>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5"/>
          <p:cNvSpPr txBox="1"/>
          <p:nvPr/>
        </p:nvSpPr>
        <p:spPr>
          <a:xfrm>
            <a:off x="1097280" y="3968496"/>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Two missed updates</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An overdue alert and a temporary hold on new assignments, pending human review. No misconduct finding.</a:t>
            </a:r>
            <a:endParaRPr lang="en-US" sz="1500" dirty="0"/>
          </a:p>
        </p:txBody>
      </p:sp>
      <p:sp>
        <p:nvSpPr>
          <p:cNvPr id="19" name="Text 16"/>
          <p:cNvSpPr txBox="1"/>
          <p:nvPr/>
        </p:nvSpPr>
        <p:spPr>
          <a:xfrm>
            <a:off x="548640" y="4791456"/>
            <a:ext cx="384048" cy="384048"/>
          </a:xfrm>
          <a:prstGeom prst="ellipse">
            <a:avLst/>
          </a:prstGeom>
          <a:solidFill>
            <a:srgbClr val="28562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1097280" y="4773168"/>
            <a:ext cx="4937760" cy="713232"/>
          </a:xfrm>
          <a:prstGeom prst="rect">
            <a:avLst/>
          </a:prstGeom>
          <a:noFill/>
          <a:ln/>
        </p:spPr>
        <p:txBody>
          <a:bodyPr wrap="square" lIns="0" tIns="0" rIns="0" bIns="0" rtlCol="0" anchor="t"/>
          <a:lstStyle/>
          <a:p>
            <a:pPr indent="0" marL="0">
              <a:spcAft>
                <a:spcPts val="200"/>
              </a:spcAft>
              <a:buNone/>
            </a:pPr>
            <a:r>
              <a:rPr lang="en-US" sz="1500" b="1" dirty="0">
                <a:solidFill>
                  <a:srgbClr val="1B1E1D"/>
                </a:solidFill>
                <a:latin typeface="Calibri" pitchFamily="34" charset="0"/>
                <a:ea typeface="Calibri" pitchFamily="34" charset="-122"/>
                <a:cs typeface="Calibri" pitchFamily="34" charset="-120"/>
              </a:rPr>
              <a:t>Every contact attempt on the record</a:t>
            </a:r>
            <a:endParaRPr lang="en-US" sz="1500" dirty="0"/>
          </a:p>
          <a:p>
            <a:pPr indent="0" marL="0">
              <a:spcAft>
                <a:spcPts val="200"/>
              </a:spcAft>
              <a:buNone/>
            </a:pPr>
            <a:r>
              <a:rPr lang="en-US" sz="1350" dirty="0">
                <a:solidFill>
                  <a:srgbClr val="4E5751"/>
                </a:solidFill>
                <a:latin typeface="Calibri" pitchFamily="34" charset="0"/>
                <a:ea typeface="Calibri" pitchFamily="34" charset="-122"/>
                <a:cs typeface="Calibri" pitchFamily="34" charset="-120"/>
              </a:rPr>
              <a:t>A call answered by the shop owner discloses nothing; the retry and the next attempt are logged.</a:t>
            </a:r>
            <a:endParaRPr lang="en-US" sz="1500" dirty="0"/>
          </a:p>
        </p:txBody>
      </p:sp>
      <p:sp>
        <p:nvSpPr>
          <p:cNvPr id="21" name="Shape 18"/>
          <p:cNvSpPr/>
          <p:nvPr/>
        </p:nvSpPr>
        <p:spPr>
          <a:xfrm>
            <a:off x="6355080" y="1645920"/>
            <a:ext cx="5287975" cy="3108960"/>
          </a:xfrm>
          <a:prstGeom prst="roundRect">
            <a:avLst>
              <a:gd name="adj" fmla="val 3529"/>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pic>
        <p:nvPicPr>
          <p:cNvPr id="22" name="Image 1" descr="Prototype screen: Malek record · /applications/:id">    </p:cNvPr>
          <p:cNvPicPr>
            <a:picLocks noChangeAspect="1"/>
          </p:cNvPicPr>
          <p:nvPr/>
        </p:nvPicPr>
        <p:blipFill>
          <a:blip r:embed="rId2"/>
          <a:stretch>
            <a:fillRect/>
          </a:stretch>
        </p:blipFill>
        <p:spPr>
          <a:xfrm>
            <a:off x="6446520" y="1764592"/>
            <a:ext cx="5105095" cy="2871616"/>
          </a:xfrm>
          <a:prstGeom prst="rect">
            <a:avLst/>
          </a:prstGeom>
        </p:spPr>
      </p:pic>
      <p:sp>
        <p:nvSpPr>
          <p:cNvPr id="23" name="Text 19"/>
          <p:cNvSpPr txBox="1"/>
          <p:nvPr/>
        </p:nvSpPr>
        <p:spPr>
          <a:xfrm>
            <a:off x="6355080" y="4809744"/>
            <a:ext cx="5287975" cy="237744"/>
          </a:xfrm>
          <a:prstGeom prst="rect">
            <a:avLst/>
          </a:prstGeom>
          <a:noFill/>
          <a:ln/>
        </p:spPr>
        <p:txBody>
          <a:bodyPr wrap="square" lIns="0" tIns="0" rIns="0" bIns="0" rtlCol="0" anchor="t"/>
          <a:lstStyle/>
          <a:p>
            <a:pPr indent="0" marL="0">
              <a:buNone/>
            </a:pPr>
            <a:r>
              <a:rPr lang="en-US" sz="1100" dirty="0">
                <a:solidFill>
                  <a:srgbClr val="4E5751"/>
                </a:solidFill>
                <a:latin typeface="Calibri" pitchFamily="34" charset="0"/>
                <a:ea typeface="Calibri" pitchFamily="34" charset="-122"/>
                <a:cs typeface="Calibri" pitchFamily="34" charset="-120"/>
              </a:rPr>
              <a:t>Screen: Malek record · /applications/:id</a:t>
            </a:r>
            <a:endParaRPr lang="en-US" sz="1100" dirty="0"/>
          </a:p>
        </p:txBody>
      </p:sp>
      <p:sp>
        <p:nvSpPr>
          <p:cNvPr id="24" name="Shape 20"/>
          <p:cNvSpPr/>
          <p:nvPr/>
        </p:nvSpPr>
        <p:spPr>
          <a:xfrm>
            <a:off x="548640" y="5669280"/>
            <a:ext cx="11094415" cy="621792"/>
          </a:xfrm>
          <a:prstGeom prst="roundRect">
            <a:avLst>
              <a:gd name="adj" fmla="val 17647"/>
            </a:avLst>
          </a:prstGeom>
          <a:solidFill>
            <a:srgbClr val="EDF3EC"/>
          </a:solidFill>
          <a:ln/>
        </p:spPr>
      </p:sp>
      <p:sp>
        <p:nvSpPr>
          <p:cNvPr id="25" name="Shape 21"/>
          <p:cNvSpPr/>
          <p:nvPr/>
        </p:nvSpPr>
        <p:spPr>
          <a:xfrm>
            <a:off x="694944" y="5788152"/>
            <a:ext cx="384048" cy="384048"/>
          </a:xfrm>
          <a:prstGeom prst="ellipse">
            <a:avLst/>
          </a:prstGeom>
          <a:solidFill>
            <a:srgbClr val="28562D"/>
          </a:solidFill>
          <a:ln/>
        </p:spPr>
      </p:sp>
      <p:pic>
        <p:nvPicPr>
          <p:cNvPr id="26" name="Image 2" descr="preencoded.png">    </p:cNvPr>
          <p:cNvPicPr>
            <a:picLocks noChangeAspect="1"/>
          </p:cNvPicPr>
          <p:nvPr/>
        </p:nvPicPr>
        <p:blipFill>
          <a:blip r:embed="rId3"/>
          <a:stretch>
            <a:fillRect/>
          </a:stretch>
        </p:blipFill>
        <p:spPr>
          <a:xfrm>
            <a:off x="787116" y="5880324"/>
            <a:ext cx="199705" cy="199705"/>
          </a:xfrm>
          <a:prstGeom prst="rect">
            <a:avLst/>
          </a:prstGeom>
        </p:spPr>
      </p:pic>
      <p:sp>
        <p:nvSpPr>
          <p:cNvPr id="27" name="Text 22"/>
          <p:cNvSpPr txBox="1"/>
          <p:nvPr/>
        </p:nvSpPr>
        <p:spPr>
          <a:xfrm>
            <a:off x="1234440" y="5669280"/>
            <a:ext cx="10271455" cy="621792"/>
          </a:xfrm>
          <a:prstGeom prst="rect">
            <a:avLst/>
          </a:prstGeom>
          <a:noFill/>
          <a:ln/>
        </p:spPr>
        <p:txBody>
          <a:bodyPr wrap="square" lIns="0" tIns="0" rIns="0" bIns="0" rtlCol="0" anchor="ctr"/>
          <a:lstStyle/>
          <a:p>
            <a:pPr indent="0" marL="0">
              <a:buNone/>
            </a:pPr>
            <a:r>
              <a:rPr lang="en-US" sz="1450" b="1" dirty="0">
                <a:solidFill>
                  <a:srgbClr val="28562D"/>
                </a:solidFill>
                <a:latin typeface="Calibri" pitchFamily="34" charset="0"/>
                <a:ea typeface="Calibri" pitchFamily="34" charset="-122"/>
                <a:cs typeface="Calibri" pitchFamily="34" charset="-120"/>
              </a:rPr>
              <a:t>Human decides: </a:t>
            </a:r>
            <a:pPr indent="0" marL="0">
              <a:buNone/>
            </a:pPr>
            <a:r>
              <a:rPr lang="en-US" sz="1450" dirty="0">
                <a:solidFill>
                  <a:srgbClr val="1B1E1D"/>
                </a:solidFill>
                <a:latin typeface="Calibri" pitchFamily="34" charset="0"/>
                <a:ea typeface="Calibri" pitchFamily="34" charset="-122"/>
                <a:cs typeface="Calibri" pitchFamily="34" charset="-120"/>
              </a:rPr>
              <a:t>the DLAO officer reviews the hold and any lawyer change. Payments are status records only.</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9F2F2D"/>
                </a:solidFill>
                <a:latin typeface="Calibri" pitchFamily="34" charset="0"/>
                <a:ea typeface="Calibri" pitchFamily="34" charset="-122"/>
                <a:cs typeface="Calibri" pitchFamily="34" charset="-120"/>
              </a:rPr>
              <a:t>BAD DAY · PLANNED FAILURE</a:t>
            </a:r>
            <a:endParaRPr lang="en-US" sz="1200" dirty="0"/>
          </a:p>
        </p:txBody>
      </p:sp>
      <p:sp>
        <p:nvSpPr>
          <p:cNvPr id="3" name="Text 1"/>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600" b="1" dirty="0">
                <a:solidFill>
                  <a:srgbClr val="1B1E1D"/>
                </a:solidFill>
                <a:latin typeface="Cambria" pitchFamily="34" charset="0"/>
                <a:ea typeface="Cambria" pitchFamily="34" charset="-122"/>
                <a:cs typeface="Cambria" pitchFamily="34" charset="-120"/>
              </a:rPr>
              <a:t>The network drops mid-submission</a:t>
            </a:r>
            <a:endParaRPr lang="en-US" sz="3600" dirty="0"/>
          </a:p>
        </p:txBody>
      </p:sp>
      <p:sp>
        <p:nvSpPr>
          <p:cNvPr id="4"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en-US" sz="1500" dirty="0">
                <a:solidFill>
                  <a:srgbClr val="4E5751"/>
                </a:solidFill>
                <a:latin typeface="Calibri" pitchFamily="34" charset="0"/>
                <a:ea typeface="Calibri" pitchFamily="34" charset="-122"/>
                <a:cs typeface="Calibri" pitchFamily="34" charset="-120"/>
              </a:rPr>
              <a:t>Nuching's assisted intake at a UDC (fictional): the operator is offline at the moment of submission.</a:t>
            </a:r>
            <a:endParaRPr lang="en-US" sz="1500" dirty="0"/>
          </a:p>
        </p:txBody>
      </p:sp>
      <p:sp>
        <p:nvSpPr>
          <p:cNvPr id="5" name="Shape 3"/>
          <p:cNvSpPr/>
          <p:nvPr/>
        </p:nvSpPr>
        <p:spPr>
          <a:xfrm>
            <a:off x="2310346" y="2295144"/>
            <a:ext cx="2023796" cy="0"/>
          </a:xfrm>
          <a:prstGeom prst="line">
            <a:avLst/>
          </a:prstGeom>
          <a:noFill/>
          <a:ln w="19050">
            <a:solidFill>
              <a:srgbClr val="9F2F2D"/>
            </a:solidFill>
            <a:prstDash val="solid"/>
            <a:tailEnd type="triangle"/>
          </a:ln>
        </p:spPr>
      </p:sp>
      <p:sp>
        <p:nvSpPr>
          <p:cNvPr id="6" name="Shape 4"/>
          <p:cNvSpPr/>
          <p:nvPr/>
        </p:nvSpPr>
        <p:spPr>
          <a:xfrm>
            <a:off x="1651978" y="2011680"/>
            <a:ext cx="566928" cy="566928"/>
          </a:xfrm>
          <a:prstGeom prst="ellipse">
            <a:avLst/>
          </a:prstGeom>
          <a:solidFill>
            <a:srgbClr val="9F2F2D"/>
          </a:solidFill>
          <a:ln/>
        </p:spPr>
      </p:sp>
      <p:pic>
        <p:nvPicPr>
          <p:cNvPr id="7" name="Image 0" descr="preencoded.png">    </p:cNvPr>
          <p:cNvPicPr>
            <a:picLocks noChangeAspect="1"/>
          </p:cNvPicPr>
          <p:nvPr/>
        </p:nvPicPr>
        <p:blipFill>
          <a:blip r:embed="rId1"/>
          <a:stretch>
            <a:fillRect/>
          </a:stretch>
        </p:blipFill>
        <p:spPr>
          <a:xfrm>
            <a:off x="1788041" y="2147743"/>
            <a:ext cx="294803" cy="294803"/>
          </a:xfrm>
          <a:prstGeom prst="rect">
            <a:avLst/>
          </a:prstGeom>
        </p:spPr>
      </p:pic>
      <p:sp>
        <p:nvSpPr>
          <p:cNvPr id="8" name="Text 5"/>
          <p:cNvSpPr txBox="1"/>
          <p:nvPr/>
        </p:nvSpPr>
        <p:spPr>
          <a:xfrm>
            <a:off x="640080" y="2688336"/>
            <a:ext cx="2590724" cy="310896"/>
          </a:xfrm>
          <a:prstGeom prst="rect">
            <a:avLst/>
          </a:prstGeom>
          <a:noFill/>
          <a:ln/>
        </p:spPr>
        <p:txBody>
          <a:bodyPr wrap="square" lIns="0" tIns="0" rIns="0" bIns="0" rtlCol="0" anchor="t"/>
          <a:lstStyle/>
          <a:p>
            <a:pPr algn="ctr" indent="0" marL="0">
              <a:buNone/>
            </a:pPr>
            <a:r>
              <a:rPr lang="en-US" sz="1500" b="1" dirty="0">
                <a:solidFill>
                  <a:srgbClr val="9F2F2D"/>
                </a:solidFill>
                <a:latin typeface="Calibri" pitchFamily="34" charset="0"/>
                <a:ea typeface="Calibri" pitchFamily="34" charset="-122"/>
                <a:cs typeface="Calibri" pitchFamily="34" charset="-120"/>
              </a:rPr>
              <a:t>Offline</a:t>
            </a:r>
            <a:endParaRPr lang="en-US" sz="1500" dirty="0"/>
          </a:p>
        </p:txBody>
      </p:sp>
      <p:sp>
        <p:nvSpPr>
          <p:cNvPr id="9" name="Text 6"/>
          <p:cNvSpPr txBox="1"/>
          <p:nvPr/>
        </p:nvSpPr>
        <p:spPr>
          <a:xfrm>
            <a:off x="685800" y="3017520"/>
            <a:ext cx="2499284" cy="548640"/>
          </a:xfrm>
          <a:prstGeom prst="rect">
            <a:avLst/>
          </a:prstGeom>
          <a:noFill/>
          <a:ln/>
        </p:spPr>
        <p:txBody>
          <a:bodyPr wrap="square" lIns="0" tIns="0" rIns="0" bIns="0" rtlCol="0" anchor="t"/>
          <a:lstStyle/>
          <a:p>
            <a:pPr algn="ctr" indent="0" marL="0">
              <a:buNone/>
            </a:pPr>
            <a:r>
              <a:rPr lang="en-US" sz="1250" dirty="0">
                <a:solidFill>
                  <a:srgbClr val="4E5751"/>
                </a:solidFill>
                <a:latin typeface="Calibri" pitchFamily="34" charset="0"/>
                <a:ea typeface="Calibri" pitchFamily="34" charset="-122"/>
                <a:cs typeface="Calibri" pitchFamily="34" charset="-120"/>
              </a:rPr>
              <a:t>The connection drops while the UDC operator submits.</a:t>
            </a:r>
            <a:endParaRPr lang="en-US" sz="1250" dirty="0"/>
          </a:p>
        </p:txBody>
      </p:sp>
      <p:sp>
        <p:nvSpPr>
          <p:cNvPr id="10" name="Shape 7"/>
          <p:cNvSpPr/>
          <p:nvPr/>
        </p:nvSpPr>
        <p:spPr>
          <a:xfrm>
            <a:off x="5083950" y="2295144"/>
            <a:ext cx="2023796" cy="0"/>
          </a:xfrm>
          <a:prstGeom prst="line">
            <a:avLst/>
          </a:prstGeom>
          <a:noFill/>
          <a:ln w="19050">
            <a:solidFill>
              <a:srgbClr val="28562D"/>
            </a:solidFill>
            <a:prstDash val="solid"/>
            <a:tailEnd type="triangle"/>
          </a:ln>
        </p:spPr>
      </p:sp>
      <p:sp>
        <p:nvSpPr>
          <p:cNvPr id="11" name="Shape 8"/>
          <p:cNvSpPr/>
          <p:nvPr/>
        </p:nvSpPr>
        <p:spPr>
          <a:xfrm>
            <a:off x="4425582" y="2011680"/>
            <a:ext cx="566928" cy="566928"/>
          </a:xfrm>
          <a:prstGeom prst="ellipse">
            <a:avLst/>
          </a:prstGeom>
          <a:solidFill>
            <a:srgbClr val="28562D"/>
          </a:solidFill>
          <a:ln/>
        </p:spPr>
      </p:sp>
      <p:pic>
        <p:nvPicPr>
          <p:cNvPr id="12" name="Image 1" descr="preencoded.png">    </p:cNvPr>
          <p:cNvPicPr>
            <a:picLocks noChangeAspect="1"/>
          </p:cNvPicPr>
          <p:nvPr/>
        </p:nvPicPr>
        <p:blipFill>
          <a:blip r:embed="rId2"/>
          <a:stretch>
            <a:fillRect/>
          </a:stretch>
        </p:blipFill>
        <p:spPr>
          <a:xfrm>
            <a:off x="4561644" y="2147743"/>
            <a:ext cx="294803" cy="294803"/>
          </a:xfrm>
          <a:prstGeom prst="rect">
            <a:avLst/>
          </a:prstGeom>
        </p:spPr>
      </p:pic>
      <p:sp>
        <p:nvSpPr>
          <p:cNvPr id="13" name="Text 9"/>
          <p:cNvSpPr txBox="1"/>
          <p:nvPr/>
        </p:nvSpPr>
        <p:spPr>
          <a:xfrm>
            <a:off x="3413684" y="2688336"/>
            <a:ext cx="2590724" cy="310896"/>
          </a:xfrm>
          <a:prstGeom prst="rect">
            <a:avLst/>
          </a:prstGeom>
          <a:noFill/>
          <a:ln/>
        </p:spPr>
        <p:txBody>
          <a:bodyPr wrap="square" lIns="0" tIns="0" rIns="0" bIns="0" rtlCol="0" anchor="t"/>
          <a:lstStyle/>
          <a:p>
            <a:pPr algn="ctr" indent="0" marL="0">
              <a:buNone/>
            </a:pPr>
            <a:r>
              <a:rPr lang="en-US" sz="1500" b="1" dirty="0">
                <a:solidFill>
                  <a:srgbClr val="1B1E1D"/>
                </a:solidFill>
                <a:latin typeface="Calibri" pitchFamily="34" charset="0"/>
                <a:ea typeface="Calibri" pitchFamily="34" charset="-122"/>
                <a:cs typeface="Calibri" pitchFamily="34" charset="-120"/>
              </a:rPr>
              <a:t>Encrypted local queue</a:t>
            </a:r>
            <a:endParaRPr lang="en-US" sz="1500" dirty="0"/>
          </a:p>
        </p:txBody>
      </p:sp>
      <p:sp>
        <p:nvSpPr>
          <p:cNvPr id="14" name="Text 10"/>
          <p:cNvSpPr txBox="1"/>
          <p:nvPr/>
        </p:nvSpPr>
        <p:spPr>
          <a:xfrm>
            <a:off x="3459404" y="3017520"/>
            <a:ext cx="2499284" cy="548640"/>
          </a:xfrm>
          <a:prstGeom prst="rect">
            <a:avLst/>
          </a:prstGeom>
          <a:noFill/>
          <a:ln/>
        </p:spPr>
        <p:txBody>
          <a:bodyPr wrap="square" lIns="0" tIns="0" rIns="0" bIns="0" rtlCol="0" anchor="t"/>
          <a:lstStyle/>
          <a:p>
            <a:pPr algn="ctr" indent="0" marL="0">
              <a:buNone/>
            </a:pPr>
            <a:r>
              <a:rPr lang="en-US" sz="1250" dirty="0">
                <a:solidFill>
                  <a:srgbClr val="4E5751"/>
                </a:solidFill>
                <a:latin typeface="Calibri" pitchFamily="34" charset="0"/>
                <a:ea typeface="Calibri" pitchFamily="34" charset="-122"/>
                <a:cs typeface="Calibri" pitchFamily="34" charset="-120"/>
              </a:rPr>
              <a:t>The draft is kept in encrypted browser storage with a mutation ID.</a:t>
            </a:r>
            <a:endParaRPr lang="en-US" sz="1250" dirty="0"/>
          </a:p>
        </p:txBody>
      </p:sp>
      <p:sp>
        <p:nvSpPr>
          <p:cNvPr id="15" name="Shape 11"/>
          <p:cNvSpPr/>
          <p:nvPr/>
        </p:nvSpPr>
        <p:spPr>
          <a:xfrm>
            <a:off x="7857554" y="2295144"/>
            <a:ext cx="2023796" cy="0"/>
          </a:xfrm>
          <a:prstGeom prst="line">
            <a:avLst/>
          </a:prstGeom>
          <a:noFill/>
          <a:ln w="19050">
            <a:solidFill>
              <a:srgbClr val="28562D"/>
            </a:solidFill>
            <a:prstDash val="solid"/>
            <a:tailEnd type="triangle"/>
          </a:ln>
        </p:spPr>
      </p:sp>
      <p:sp>
        <p:nvSpPr>
          <p:cNvPr id="16" name="Shape 12"/>
          <p:cNvSpPr/>
          <p:nvPr/>
        </p:nvSpPr>
        <p:spPr>
          <a:xfrm>
            <a:off x="7199186" y="2011680"/>
            <a:ext cx="566928" cy="566928"/>
          </a:xfrm>
          <a:prstGeom prst="ellipse">
            <a:avLst/>
          </a:prstGeom>
          <a:solidFill>
            <a:srgbClr val="28562D"/>
          </a:solidFill>
          <a:ln/>
        </p:spPr>
      </p:sp>
      <p:pic>
        <p:nvPicPr>
          <p:cNvPr id="17" name="Image 2" descr="preencoded.png">    </p:cNvPr>
          <p:cNvPicPr>
            <a:picLocks noChangeAspect="1"/>
          </p:cNvPicPr>
          <p:nvPr/>
        </p:nvPicPr>
        <p:blipFill>
          <a:blip r:embed="rId3"/>
          <a:stretch>
            <a:fillRect/>
          </a:stretch>
        </p:blipFill>
        <p:spPr>
          <a:xfrm>
            <a:off x="7335248" y="2147743"/>
            <a:ext cx="294803" cy="294803"/>
          </a:xfrm>
          <a:prstGeom prst="rect">
            <a:avLst/>
          </a:prstGeom>
        </p:spPr>
      </p:pic>
      <p:sp>
        <p:nvSpPr>
          <p:cNvPr id="18" name="Text 13"/>
          <p:cNvSpPr txBox="1"/>
          <p:nvPr/>
        </p:nvSpPr>
        <p:spPr>
          <a:xfrm>
            <a:off x="6187288" y="2688336"/>
            <a:ext cx="2590724" cy="310896"/>
          </a:xfrm>
          <a:prstGeom prst="rect">
            <a:avLst/>
          </a:prstGeom>
          <a:noFill/>
          <a:ln/>
        </p:spPr>
        <p:txBody>
          <a:bodyPr wrap="square" lIns="0" tIns="0" rIns="0" bIns="0" rtlCol="0" anchor="t"/>
          <a:lstStyle/>
          <a:p>
            <a:pPr algn="ctr" indent="0" marL="0">
              <a:buNone/>
            </a:pPr>
            <a:r>
              <a:rPr lang="en-US" sz="1500" b="1" dirty="0">
                <a:solidFill>
                  <a:srgbClr val="1B1E1D"/>
                </a:solidFill>
                <a:latin typeface="Calibri" pitchFamily="34" charset="0"/>
                <a:ea typeface="Calibri" pitchFamily="34" charset="-122"/>
                <a:cs typeface="Calibri" pitchFamily="34" charset="-120"/>
              </a:rPr>
              <a:t>Reconnect</a:t>
            </a:r>
            <a:endParaRPr lang="en-US" sz="1500" dirty="0"/>
          </a:p>
        </p:txBody>
      </p:sp>
      <p:sp>
        <p:nvSpPr>
          <p:cNvPr id="19" name="Text 14"/>
          <p:cNvSpPr txBox="1"/>
          <p:nvPr/>
        </p:nvSpPr>
        <p:spPr>
          <a:xfrm>
            <a:off x="6233008" y="3017520"/>
            <a:ext cx="2499284" cy="548640"/>
          </a:xfrm>
          <a:prstGeom prst="rect">
            <a:avLst/>
          </a:prstGeom>
          <a:noFill/>
          <a:ln/>
        </p:spPr>
        <p:txBody>
          <a:bodyPr wrap="square" lIns="0" tIns="0" rIns="0" bIns="0" rtlCol="0" anchor="t"/>
          <a:lstStyle/>
          <a:p>
            <a:pPr algn="ctr" indent="0" marL="0">
              <a:buNone/>
            </a:pPr>
            <a:r>
              <a:rPr lang="en-US" sz="1250" dirty="0">
                <a:solidFill>
                  <a:srgbClr val="4E5751"/>
                </a:solidFill>
                <a:latin typeface="Calibri" pitchFamily="34" charset="0"/>
                <a:ea typeface="Calibri" pitchFamily="34" charset="-122"/>
                <a:cs typeface="Calibri" pitchFamily="34" charset="-120"/>
              </a:rPr>
              <a:t>The queue syncs; a retry reuses the same ID.</a:t>
            </a:r>
            <a:endParaRPr lang="en-US" sz="1250" dirty="0"/>
          </a:p>
        </p:txBody>
      </p:sp>
      <p:sp>
        <p:nvSpPr>
          <p:cNvPr id="20" name="Shape 15"/>
          <p:cNvSpPr/>
          <p:nvPr/>
        </p:nvSpPr>
        <p:spPr>
          <a:xfrm>
            <a:off x="9972789" y="2011680"/>
            <a:ext cx="566928" cy="566928"/>
          </a:xfrm>
          <a:prstGeom prst="ellipse">
            <a:avLst/>
          </a:prstGeom>
          <a:solidFill>
            <a:srgbClr val="28562D"/>
          </a:solidFill>
          <a:ln/>
        </p:spPr>
      </p:sp>
      <p:pic>
        <p:nvPicPr>
          <p:cNvPr id="21" name="Image 3" descr="preencoded.png">    </p:cNvPr>
          <p:cNvPicPr>
            <a:picLocks noChangeAspect="1"/>
          </p:cNvPicPr>
          <p:nvPr/>
        </p:nvPicPr>
        <p:blipFill>
          <a:blip r:embed="rId4"/>
          <a:stretch>
            <a:fillRect/>
          </a:stretch>
        </p:blipFill>
        <p:spPr>
          <a:xfrm>
            <a:off x="10108852" y="2147743"/>
            <a:ext cx="294803" cy="294803"/>
          </a:xfrm>
          <a:prstGeom prst="rect">
            <a:avLst/>
          </a:prstGeom>
        </p:spPr>
      </p:pic>
      <p:sp>
        <p:nvSpPr>
          <p:cNvPr id="22" name="Text 16"/>
          <p:cNvSpPr txBox="1"/>
          <p:nvPr/>
        </p:nvSpPr>
        <p:spPr>
          <a:xfrm>
            <a:off x="8960891" y="2688336"/>
            <a:ext cx="2590724" cy="310896"/>
          </a:xfrm>
          <a:prstGeom prst="rect">
            <a:avLst/>
          </a:prstGeom>
          <a:noFill/>
          <a:ln/>
        </p:spPr>
        <p:txBody>
          <a:bodyPr wrap="square" lIns="0" tIns="0" rIns="0" bIns="0" rtlCol="0" anchor="t"/>
          <a:lstStyle/>
          <a:p>
            <a:pPr algn="ctr" indent="0" marL="0">
              <a:buNone/>
            </a:pPr>
            <a:r>
              <a:rPr lang="en-US" sz="1500" b="1" dirty="0">
                <a:solidFill>
                  <a:srgbClr val="1B1E1D"/>
                </a:solidFill>
                <a:latin typeface="Calibri" pitchFamily="34" charset="0"/>
                <a:ea typeface="Calibri" pitchFamily="34" charset="-122"/>
                <a:cs typeface="Calibri" pitchFamily="34" charset="-120"/>
              </a:rPr>
              <a:t>Exactly one Application</a:t>
            </a:r>
            <a:endParaRPr lang="en-US" sz="1500" dirty="0"/>
          </a:p>
        </p:txBody>
      </p:sp>
      <p:sp>
        <p:nvSpPr>
          <p:cNvPr id="23" name="Text 17"/>
          <p:cNvSpPr txBox="1"/>
          <p:nvPr/>
        </p:nvSpPr>
        <p:spPr>
          <a:xfrm>
            <a:off x="9006611" y="3017520"/>
            <a:ext cx="2499284" cy="548640"/>
          </a:xfrm>
          <a:prstGeom prst="rect">
            <a:avLst/>
          </a:prstGeom>
          <a:noFill/>
          <a:ln/>
        </p:spPr>
        <p:txBody>
          <a:bodyPr wrap="square" lIns="0" tIns="0" rIns="0" bIns="0" rtlCol="0" anchor="t"/>
          <a:lstStyle/>
          <a:p>
            <a:pPr algn="ctr" indent="0" marL="0">
              <a:buNone/>
            </a:pPr>
            <a:r>
              <a:rPr lang="en-US" sz="1250" dirty="0">
                <a:solidFill>
                  <a:srgbClr val="4E5751"/>
                </a:solidFill>
                <a:latin typeface="Calibri" pitchFamily="34" charset="0"/>
                <a:ea typeface="Calibri" pitchFamily="34" charset="-122"/>
                <a:cs typeface="Calibri" pitchFamily="34" charset="-120"/>
              </a:rPr>
              <a:t>No duplicate record, and the local queue clears.</a:t>
            </a:r>
            <a:endParaRPr lang="en-US" sz="1250" dirty="0"/>
          </a:p>
        </p:txBody>
      </p:sp>
      <p:sp>
        <p:nvSpPr>
          <p:cNvPr id="24" name="Shape 18"/>
          <p:cNvSpPr/>
          <p:nvPr/>
        </p:nvSpPr>
        <p:spPr>
          <a:xfrm>
            <a:off x="548640" y="3840480"/>
            <a:ext cx="4206240" cy="2514600"/>
          </a:xfrm>
          <a:prstGeom prst="roundRect">
            <a:avLst>
              <a:gd name="adj" fmla="val 4364"/>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pic>
        <p:nvPicPr>
          <p:cNvPr id="25" name="Image 4" descr="Prototype screen: /assisted · offline">    </p:cNvPr>
          <p:cNvPicPr>
            <a:picLocks noChangeAspect="1"/>
          </p:cNvPicPr>
          <p:nvPr/>
        </p:nvPicPr>
        <p:blipFill>
          <a:blip r:embed="rId5"/>
          <a:stretch>
            <a:fillRect/>
          </a:stretch>
        </p:blipFill>
        <p:spPr>
          <a:xfrm>
            <a:off x="640080" y="3966210"/>
            <a:ext cx="4023360" cy="2263140"/>
          </a:xfrm>
          <a:prstGeom prst="rect">
            <a:avLst/>
          </a:prstGeom>
        </p:spPr>
      </p:pic>
      <p:sp>
        <p:nvSpPr>
          <p:cNvPr id="26" name="Shape 19"/>
          <p:cNvSpPr/>
          <p:nvPr/>
        </p:nvSpPr>
        <p:spPr>
          <a:xfrm>
            <a:off x="5029200" y="3840480"/>
            <a:ext cx="6613855" cy="2514600"/>
          </a:xfrm>
          <a:prstGeom prst="roundRect">
            <a:avLst>
              <a:gd name="adj" fmla="val 4364"/>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27" name="Text 20"/>
          <p:cNvSpPr txBox="1"/>
          <p:nvPr/>
        </p:nvSpPr>
        <p:spPr>
          <a:xfrm>
            <a:off x="5257800" y="3977640"/>
            <a:ext cx="6156655" cy="329184"/>
          </a:xfrm>
          <a:prstGeom prst="rect">
            <a:avLst/>
          </a:prstGeom>
          <a:noFill/>
          <a:ln/>
        </p:spPr>
        <p:txBody>
          <a:bodyPr wrap="square" lIns="0" tIns="0" rIns="0" bIns="0" rtlCol="0" anchor="t"/>
          <a:lstStyle/>
          <a:p>
            <a:pPr indent="0" marL="0">
              <a:buNone/>
            </a:pPr>
            <a:r>
              <a:rPr lang="en-US" sz="1400" b="1" dirty="0">
                <a:solidFill>
                  <a:srgbClr val="1B1E1D"/>
                </a:solidFill>
                <a:latin typeface="Calibri" pitchFamily="34" charset="0"/>
                <a:ea typeface="Calibri" pitchFamily="34" charset="-122"/>
                <a:cs typeface="Calibri" pitchFamily="34" charset="-120"/>
              </a:rPr>
              <a:t>Also automated: the other 11 bad-day checks</a:t>
            </a:r>
            <a:endParaRPr lang="en-US" sz="1400" dirty="0"/>
          </a:p>
        </p:txBody>
      </p:sp>
      <p:sp>
        <p:nvSpPr>
          <p:cNvPr id="28" name="Text 21"/>
          <p:cNvSpPr txBox="1"/>
          <p:nvPr/>
        </p:nvSpPr>
        <p:spPr>
          <a:xfrm>
            <a:off x="5257800" y="4389120"/>
            <a:ext cx="2986888" cy="187452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rgbClr val="4E5751"/>
                </a:solidFill>
                <a:latin typeface="Calibri" pitchFamily="34" charset="0"/>
                <a:ea typeface="Calibri" pitchFamily="34" charset="-122"/>
                <a:cs typeface="Calibri" pitchFamily="34" charset="-120"/>
              </a:rPr>
              <a:t>Wrong person answers: nothing disclosed</a:t>
            </a:r>
            <a:endParaRPr lang="en-US" sz="1250" dirty="0"/>
          </a:p>
          <a:p>
            <a:pPr marL="152400" indent="-152400">
              <a:spcAft>
                <a:spcPts val="700"/>
              </a:spcAft>
              <a:buSzPct val="100000"/>
              <a:buChar char="•"/>
            </a:pPr>
            <a:r>
              <a:rPr lang="en-US" sz="1250" dirty="0">
                <a:solidFill>
                  <a:srgbClr val="4E5751"/>
                </a:solidFill>
                <a:latin typeface="Calibri" pitchFamily="34" charset="0"/>
                <a:ea typeface="Calibri" pitchFamily="34" charset="-122"/>
                <a:cs typeface="Calibri" pitchFamily="34" charset="-120"/>
              </a:rPr>
              <a:t>Keyboard-only voice intake (Ripon)</a:t>
            </a:r>
            <a:endParaRPr lang="en-US" sz="1250" dirty="0"/>
          </a:p>
          <a:p>
            <a:pPr marL="152400" indent="-152400">
              <a:spcAft>
                <a:spcPts val="700"/>
              </a:spcAft>
              <a:buSzPct val="100000"/>
              <a:buChar char="•"/>
            </a:pPr>
            <a:r>
              <a:rPr lang="en-US" sz="1250" dirty="0">
                <a:solidFill>
                  <a:srgbClr val="4E5751"/>
                </a:solidFill>
                <a:latin typeface="Calibri" pitchFamily="34" charset="0"/>
                <a:ea typeface="Calibri" pitchFamily="34" charset="-122"/>
                <a:cs typeface="Calibri" pitchFamily="34" charset="-120"/>
              </a:rPr>
              <a:t>Referral not acknowledged: follow-up task</a:t>
            </a:r>
            <a:endParaRPr lang="en-US" sz="1250" dirty="0"/>
          </a:p>
          <a:p>
            <a:pPr marL="152400" indent="-152400">
              <a:spcAft>
                <a:spcPts val="700"/>
              </a:spcAft>
              <a:buSzPct val="100000"/>
              <a:buChar char="•"/>
            </a:pPr>
            <a:r>
              <a:rPr lang="en-US" sz="1250" dirty="0">
                <a:solidFill>
                  <a:srgbClr val="4E5751"/>
                </a:solidFill>
                <a:latin typeface="Calibri" pitchFamily="34" charset="0"/>
                <a:ea typeface="Calibri" pitchFamily="34" charset="-122"/>
                <a:cs typeface="Calibri" pitchFamily="34" charset="-120"/>
              </a:rPr>
              <a:t>Lawyer misses two updates: hold + review</a:t>
            </a:r>
            <a:endParaRPr lang="en-US" sz="1250" dirty="0"/>
          </a:p>
          <a:p>
            <a:pPr marL="152400" indent="-152400">
              <a:spcAft>
                <a:spcPts val="700"/>
              </a:spcAft>
              <a:buSzPct val="100000"/>
              <a:buChar char="•"/>
            </a:pPr>
            <a:r>
              <a:rPr lang="en-US" sz="1250" dirty="0">
                <a:solidFill>
                  <a:srgbClr val="4E5751"/>
                </a:solidFill>
                <a:latin typeface="Calibri" pitchFamily="34" charset="0"/>
                <a:ea typeface="Calibri" pitchFamily="34" charset="-122"/>
                <a:cs typeface="Calibri" pitchFamily="34" charset="-120"/>
              </a:rPr>
              <a:t>Look-alike duplicate stays separate</a:t>
            </a:r>
            <a:endParaRPr lang="en-US" sz="1250" dirty="0"/>
          </a:p>
          <a:p>
            <a:pPr marL="152400" indent="-152400">
              <a:spcAft>
                <a:spcPts val="700"/>
              </a:spcAft>
              <a:buSzPct val="100000"/>
              <a:buChar char="•"/>
            </a:pPr>
            <a:r>
              <a:rPr lang="en-US" sz="1250" dirty="0">
                <a:solidFill>
                  <a:srgbClr val="4E5751"/>
                </a:solidFill>
                <a:latin typeface="Calibri" pitchFamily="34" charset="0"/>
                <a:ea typeface="Calibri" pitchFamily="34" charset="-122"/>
                <a:cs typeface="Calibri" pitchFamily="34" charset="-120"/>
              </a:rPr>
              <a:t>Triage components disagree: shown</a:t>
            </a:r>
            <a:endParaRPr lang="en-US" sz="1250" dirty="0"/>
          </a:p>
        </p:txBody>
      </p:sp>
      <p:sp>
        <p:nvSpPr>
          <p:cNvPr id="29" name="Text 22"/>
          <p:cNvSpPr txBox="1"/>
          <p:nvPr/>
        </p:nvSpPr>
        <p:spPr>
          <a:xfrm>
            <a:off x="8336128" y="4389120"/>
            <a:ext cx="2986888" cy="187452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rgbClr val="4E5751"/>
                </a:solidFill>
                <a:latin typeface="Calibri" pitchFamily="34" charset="0"/>
                <a:ea typeface="Calibri" pitchFamily="34" charset="-122"/>
                <a:cs typeface="Calibri" pitchFamily="34" charset="-120"/>
              </a:rPr>
              <a:t>Unreadable document is not guessed</a:t>
            </a:r>
            <a:endParaRPr lang="en-US" sz="1250" dirty="0"/>
          </a:p>
          <a:p>
            <a:pPr marL="152400" indent="-152400">
              <a:spcAft>
                <a:spcPts val="700"/>
              </a:spcAft>
              <a:buSzPct val="100000"/>
              <a:buChar char="•"/>
            </a:pPr>
            <a:r>
              <a:rPr lang="en-US" sz="1250" dirty="0">
                <a:solidFill>
                  <a:srgbClr val="4E5751"/>
                </a:solidFill>
                <a:latin typeface="Calibri" pitchFamily="34" charset="0"/>
                <a:ea typeface="Calibri" pitchFamily="34" charset="-122"/>
                <a:cs typeface="Calibri" pitchFamily="34" charset="-120"/>
              </a:rPr>
              <a:t>Offline edit conflict: a human resolves</a:t>
            </a:r>
            <a:endParaRPr lang="en-US" sz="1250" dirty="0"/>
          </a:p>
          <a:p>
            <a:pPr marL="152400" indent="-152400">
              <a:spcAft>
                <a:spcPts val="700"/>
              </a:spcAft>
              <a:buSzPct val="100000"/>
              <a:buChar char="•"/>
            </a:pPr>
            <a:r>
              <a:rPr lang="en-US" sz="1250" dirty="0">
                <a:solidFill>
                  <a:srgbClr val="4E5751"/>
                </a:solidFill>
                <a:latin typeface="Calibri" pitchFamily="34" charset="0"/>
                <a:ea typeface="Calibri" pitchFamily="34" charset="-122"/>
                <a:cs typeface="Calibri" pitchFamily="34" charset="-120"/>
              </a:rPr>
              <a:t>Changed signed copy fails verification</a:t>
            </a:r>
            <a:endParaRPr lang="en-US" sz="1250" dirty="0"/>
          </a:p>
          <a:p>
            <a:pPr marL="152400" indent="-152400">
              <a:spcAft>
                <a:spcPts val="700"/>
              </a:spcAft>
              <a:buSzPct val="100000"/>
              <a:buChar char="•"/>
            </a:pPr>
            <a:r>
              <a:rPr lang="en-US" sz="1250" dirty="0">
                <a:solidFill>
                  <a:srgbClr val="4E5751"/>
                </a:solidFill>
                <a:latin typeface="Calibri" pitchFamily="34" charset="0"/>
                <a:ea typeface="Calibri" pitchFamily="34" charset="-122"/>
                <a:cs typeface="Calibri" pitchFamily="34" charset="-120"/>
              </a:rPr>
              <a:t>Voice AI down: keyboard keeps the draft</a:t>
            </a:r>
            <a:endParaRPr lang="en-US" sz="1250" dirty="0"/>
          </a:p>
          <a:p>
            <a:pPr marL="152400" indent="-152400">
              <a:spcAft>
                <a:spcPts val="700"/>
              </a:spcAft>
              <a:buSzPct val="100000"/>
              <a:buChar char="•"/>
            </a:pPr>
            <a:r>
              <a:rPr lang="en-US" sz="1250" dirty="0">
                <a:solidFill>
                  <a:srgbClr val="4E5751"/>
                </a:solidFill>
                <a:latin typeface="Calibri" pitchFamily="34" charset="0"/>
                <a:ea typeface="Calibri" pitchFamily="34" charset="-122"/>
                <a:cs typeface="Calibri" pitchFamily="34" charset="-120"/>
              </a:rPr>
              <a:t>Wrong role denied restricted evidence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28562D"/>
                </a:solidFill>
                <a:latin typeface="Calibri" pitchFamily="34" charset="0"/>
                <a:ea typeface="Calibri" pitchFamily="34" charset="-122"/>
                <a:cs typeface="Calibri" pitchFamily="34" charset="-120"/>
              </a:rPr>
              <a:t>THE PAYOFF</a:t>
            </a:r>
            <a:endParaRPr lang="en-US" sz="1200" dirty="0"/>
          </a:p>
        </p:txBody>
      </p:sp>
      <p:sp>
        <p:nvSpPr>
          <p:cNvPr id="3" name="Text 1"/>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600" b="1" dirty="0">
                <a:solidFill>
                  <a:srgbClr val="1B1E1D"/>
                </a:solidFill>
                <a:latin typeface="Cambria" pitchFamily="34" charset="0"/>
                <a:ea typeface="Cambria" pitchFamily="34" charset="-122"/>
                <a:cs typeface="Cambria" pitchFamily="34" charset="-120"/>
              </a:rPr>
              <a:t>Less re-work. More reach.</a:t>
            </a:r>
            <a:endParaRPr lang="en-US" sz="3600" dirty="0"/>
          </a:p>
        </p:txBody>
      </p:sp>
      <p:sp>
        <p:nvSpPr>
          <p:cNvPr id="4" name="Shape 2"/>
          <p:cNvSpPr/>
          <p:nvPr/>
        </p:nvSpPr>
        <p:spPr>
          <a:xfrm>
            <a:off x="548640" y="1600200"/>
            <a:ext cx="5410048" cy="4572000"/>
          </a:xfrm>
          <a:prstGeom prst="roundRect">
            <a:avLst>
              <a:gd name="adj" fmla="val 24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822960" y="1856232"/>
            <a:ext cx="512064" cy="512064"/>
          </a:xfrm>
          <a:prstGeom prst="ellipse">
            <a:avLst/>
          </a:prstGeom>
          <a:solidFill>
            <a:srgbClr val="28562D"/>
          </a:solidFill>
          <a:ln/>
        </p:spPr>
      </p:sp>
      <p:pic>
        <p:nvPicPr>
          <p:cNvPr id="6" name="Image 0" descr="preencoded.png">    </p:cNvPr>
          <p:cNvPicPr>
            <a:picLocks noChangeAspect="1"/>
          </p:cNvPicPr>
          <p:nvPr/>
        </p:nvPicPr>
        <p:blipFill>
          <a:blip r:embed="rId1"/>
          <a:stretch>
            <a:fillRect/>
          </a:stretch>
        </p:blipFill>
        <p:spPr>
          <a:xfrm>
            <a:off x="945855" y="1979127"/>
            <a:ext cx="266273" cy="266273"/>
          </a:xfrm>
          <a:prstGeom prst="rect">
            <a:avLst/>
          </a:prstGeom>
        </p:spPr>
      </p:pic>
      <p:sp>
        <p:nvSpPr>
          <p:cNvPr id="7" name="Text 4"/>
          <p:cNvSpPr txBox="1"/>
          <p:nvPr/>
        </p:nvSpPr>
        <p:spPr>
          <a:xfrm>
            <a:off x="1481328" y="1856232"/>
            <a:ext cx="4221328" cy="512064"/>
          </a:xfrm>
          <a:prstGeom prst="rect">
            <a:avLst/>
          </a:prstGeom>
          <a:noFill/>
          <a:ln/>
        </p:spPr>
        <p:txBody>
          <a:bodyPr wrap="square" lIns="0" tIns="0" rIns="0" bIns="0" rtlCol="0" anchor="ctr"/>
          <a:lstStyle/>
          <a:p>
            <a:pPr indent="0" marL="0">
              <a:buNone/>
            </a:pPr>
            <a:r>
              <a:rPr lang="en-US" sz="2200" b="1" dirty="0">
                <a:solidFill>
                  <a:srgbClr val="1B1E1D"/>
                </a:solidFill>
                <a:latin typeface="Cambria" pitchFamily="34" charset="0"/>
                <a:ea typeface="Cambria" pitchFamily="34" charset="-122"/>
                <a:cs typeface="Cambria" pitchFamily="34" charset="-120"/>
              </a:rPr>
              <a:t>For providers</a:t>
            </a:r>
            <a:endParaRPr lang="en-US" sz="2200" dirty="0"/>
          </a:p>
        </p:txBody>
      </p:sp>
      <p:sp>
        <p:nvSpPr>
          <p:cNvPr id="8" name="Shape 5"/>
          <p:cNvSpPr/>
          <p:nvPr/>
        </p:nvSpPr>
        <p:spPr>
          <a:xfrm>
            <a:off x="877824" y="2642616"/>
            <a:ext cx="402336" cy="402336"/>
          </a:xfrm>
          <a:prstGeom prst="ellipse">
            <a:avLst/>
          </a:prstGeom>
          <a:solidFill>
            <a:srgbClr val="EDF3EC"/>
          </a:solidFill>
          <a:ln/>
        </p:spPr>
      </p:sp>
      <p:pic>
        <p:nvPicPr>
          <p:cNvPr id="9" name="Image 1" descr="preencoded.png">    </p:cNvPr>
          <p:cNvPicPr>
            <a:picLocks noChangeAspect="1"/>
          </p:cNvPicPr>
          <p:nvPr/>
        </p:nvPicPr>
        <p:blipFill>
          <a:blip r:embed="rId2"/>
          <a:stretch>
            <a:fillRect/>
          </a:stretch>
        </p:blipFill>
        <p:spPr>
          <a:xfrm>
            <a:off x="974385" y="2739177"/>
            <a:ext cx="209215" cy="209215"/>
          </a:xfrm>
          <a:prstGeom prst="rect">
            <a:avLst/>
          </a:prstGeom>
        </p:spPr>
      </p:pic>
      <p:sp>
        <p:nvSpPr>
          <p:cNvPr id="10" name="Text 6"/>
          <p:cNvSpPr txBox="1"/>
          <p:nvPr/>
        </p:nvSpPr>
        <p:spPr>
          <a:xfrm>
            <a:off x="1481328" y="2606040"/>
            <a:ext cx="4221328" cy="749808"/>
          </a:xfrm>
          <a:prstGeom prst="rect">
            <a:avLst/>
          </a:prstGeom>
          <a:noFill/>
          <a:ln/>
        </p:spPr>
        <p:txBody>
          <a:bodyPr wrap="square" lIns="0" tIns="0" rIns="0" bIns="0" rtlCol="0" anchor="t"/>
          <a:lstStyle/>
          <a:p>
            <a:pPr indent="0" marL="0">
              <a:buNone/>
            </a:pPr>
            <a:r>
              <a:rPr lang="en-US" sz="1550" b="1" dirty="0">
                <a:solidFill>
                  <a:srgbClr val="1B1E1D"/>
                </a:solidFill>
                <a:latin typeface="Calibri" pitchFamily="34" charset="0"/>
                <a:ea typeface="Calibri" pitchFamily="34" charset="-122"/>
                <a:cs typeface="Calibri" pitchFamily="34" charset="-120"/>
              </a:rPr>
              <a:t>The story is entered once</a:t>
            </a:r>
            <a:endParaRPr lang="en-US" sz="1550" dirty="0"/>
          </a:p>
          <a:p>
            <a:pPr indent="0" marL="0">
              <a:buNone/>
            </a:pPr>
            <a:r>
              <a:rPr lang="en-US" sz="1350" dirty="0">
                <a:solidFill>
                  <a:srgbClr val="4E5751"/>
                </a:solidFill>
                <a:latin typeface="Calibri" pitchFamily="34" charset="0"/>
                <a:ea typeface="Calibri" pitchFamily="34" charset="-122"/>
                <a:cs typeface="Calibri" pitchFamily="34" charset="-120"/>
              </a:rPr>
              <a:t>Every role works on the same Application / Case record.</a:t>
            </a:r>
            <a:endParaRPr lang="en-US" sz="1550" dirty="0"/>
          </a:p>
        </p:txBody>
      </p:sp>
      <p:sp>
        <p:nvSpPr>
          <p:cNvPr id="11" name="Shape 7"/>
          <p:cNvSpPr/>
          <p:nvPr/>
        </p:nvSpPr>
        <p:spPr>
          <a:xfrm>
            <a:off x="877824" y="3511296"/>
            <a:ext cx="402336" cy="402336"/>
          </a:xfrm>
          <a:prstGeom prst="ellipse">
            <a:avLst/>
          </a:prstGeom>
          <a:solidFill>
            <a:srgbClr val="EDF3EC"/>
          </a:solidFill>
          <a:ln/>
        </p:spPr>
      </p:sp>
      <p:pic>
        <p:nvPicPr>
          <p:cNvPr id="12" name="Image 2" descr="preencoded.png">    </p:cNvPr>
          <p:cNvPicPr>
            <a:picLocks noChangeAspect="1"/>
          </p:cNvPicPr>
          <p:nvPr/>
        </p:nvPicPr>
        <p:blipFill>
          <a:blip r:embed="rId3"/>
          <a:stretch>
            <a:fillRect/>
          </a:stretch>
        </p:blipFill>
        <p:spPr>
          <a:xfrm>
            <a:off x="974385" y="3607857"/>
            <a:ext cx="209215" cy="209215"/>
          </a:xfrm>
          <a:prstGeom prst="rect">
            <a:avLst/>
          </a:prstGeom>
        </p:spPr>
      </p:pic>
      <p:sp>
        <p:nvSpPr>
          <p:cNvPr id="13" name="Text 8"/>
          <p:cNvSpPr txBox="1"/>
          <p:nvPr/>
        </p:nvSpPr>
        <p:spPr>
          <a:xfrm>
            <a:off x="1481328" y="3474720"/>
            <a:ext cx="4221328" cy="749808"/>
          </a:xfrm>
          <a:prstGeom prst="rect">
            <a:avLst/>
          </a:prstGeom>
          <a:noFill/>
          <a:ln/>
        </p:spPr>
        <p:txBody>
          <a:bodyPr wrap="square" lIns="0" tIns="0" rIns="0" bIns="0" rtlCol="0" anchor="t"/>
          <a:lstStyle/>
          <a:p>
            <a:pPr indent="0" marL="0">
              <a:buNone/>
            </a:pPr>
            <a:r>
              <a:rPr lang="en-US" sz="1550" b="1" dirty="0">
                <a:solidFill>
                  <a:srgbClr val="1B1E1D"/>
                </a:solidFill>
                <a:latin typeface="Calibri" pitchFamily="34" charset="0"/>
                <a:ea typeface="Calibri" pitchFamily="34" charset="-122"/>
                <a:cs typeface="Calibri" pitchFamily="34" charset="-120"/>
              </a:rPr>
              <a:t>The next action is visible</a:t>
            </a:r>
            <a:endParaRPr lang="en-US" sz="1550" dirty="0"/>
          </a:p>
          <a:p>
            <a:pPr indent="0" marL="0">
              <a:buNone/>
            </a:pPr>
            <a:r>
              <a:rPr lang="en-US" sz="1350" dirty="0">
                <a:solidFill>
                  <a:srgbClr val="4E5751"/>
                </a:solidFill>
                <a:latin typeface="Calibri" pitchFamily="34" charset="0"/>
                <a:ea typeface="Calibri" pitchFamily="34" charset="-122"/>
                <a:cs typeface="Calibri" pitchFamily="34" charset="-120"/>
              </a:rPr>
              <a:t>The queue shows owner, flag reasons, age and next step.</a:t>
            </a:r>
            <a:endParaRPr lang="en-US" sz="1550" dirty="0"/>
          </a:p>
        </p:txBody>
      </p:sp>
      <p:sp>
        <p:nvSpPr>
          <p:cNvPr id="14" name="Shape 9"/>
          <p:cNvSpPr/>
          <p:nvPr/>
        </p:nvSpPr>
        <p:spPr>
          <a:xfrm>
            <a:off x="877824" y="4379976"/>
            <a:ext cx="402336" cy="402336"/>
          </a:xfrm>
          <a:prstGeom prst="ellipse">
            <a:avLst/>
          </a:prstGeom>
          <a:solidFill>
            <a:srgbClr val="EDF3EC"/>
          </a:solidFill>
          <a:ln/>
        </p:spPr>
      </p:sp>
      <p:pic>
        <p:nvPicPr>
          <p:cNvPr id="15" name="Image 3" descr="preencoded.png">    </p:cNvPr>
          <p:cNvPicPr>
            <a:picLocks noChangeAspect="1"/>
          </p:cNvPicPr>
          <p:nvPr/>
        </p:nvPicPr>
        <p:blipFill>
          <a:blip r:embed="rId4"/>
          <a:stretch>
            <a:fillRect/>
          </a:stretch>
        </p:blipFill>
        <p:spPr>
          <a:xfrm>
            <a:off x="974385" y="4476537"/>
            <a:ext cx="209215" cy="209215"/>
          </a:xfrm>
          <a:prstGeom prst="rect">
            <a:avLst/>
          </a:prstGeom>
        </p:spPr>
      </p:pic>
      <p:sp>
        <p:nvSpPr>
          <p:cNvPr id="16" name="Text 10"/>
          <p:cNvSpPr txBox="1"/>
          <p:nvPr/>
        </p:nvSpPr>
        <p:spPr>
          <a:xfrm>
            <a:off x="1481328" y="4343400"/>
            <a:ext cx="4221328" cy="749808"/>
          </a:xfrm>
          <a:prstGeom prst="rect">
            <a:avLst/>
          </a:prstGeom>
          <a:noFill/>
          <a:ln/>
        </p:spPr>
        <p:txBody>
          <a:bodyPr wrap="square" lIns="0" tIns="0" rIns="0" bIns="0" rtlCol="0" anchor="t"/>
          <a:lstStyle/>
          <a:p>
            <a:pPr indent="0" marL="0">
              <a:buNone/>
            </a:pPr>
            <a:r>
              <a:rPr lang="en-US" sz="1550" b="1" dirty="0">
                <a:solidFill>
                  <a:srgbClr val="1B1E1D"/>
                </a:solidFill>
                <a:latin typeface="Calibri" pitchFamily="34" charset="0"/>
                <a:ea typeface="Calibri" pitchFamily="34" charset="-122"/>
                <a:cs typeface="Calibri" pitchFamily="34" charset="-120"/>
              </a:rPr>
              <a:t>Briefings cite their sources</a:t>
            </a:r>
            <a:endParaRPr lang="en-US" sz="1550" dirty="0"/>
          </a:p>
          <a:p>
            <a:pPr indent="0" marL="0">
              <a:buNone/>
            </a:pPr>
            <a:r>
              <a:rPr lang="en-US" sz="1350" dirty="0">
                <a:solidFill>
                  <a:srgbClr val="4E5751"/>
                </a:solidFill>
                <a:latin typeface="Calibri" pitchFamily="34" charset="0"/>
                <a:ea typeface="Calibri" pitchFamily="34" charset="-122"/>
                <a:cs typeface="Calibri" pitchFamily="34" charset="-120"/>
              </a:rPr>
              <a:t>Each summary point links to its document and line.</a:t>
            </a:r>
            <a:endParaRPr lang="en-US" sz="1550" dirty="0"/>
          </a:p>
        </p:txBody>
      </p:sp>
      <p:sp>
        <p:nvSpPr>
          <p:cNvPr id="17" name="Shape 11"/>
          <p:cNvSpPr/>
          <p:nvPr/>
        </p:nvSpPr>
        <p:spPr>
          <a:xfrm>
            <a:off x="877824" y="5248656"/>
            <a:ext cx="402336" cy="402336"/>
          </a:xfrm>
          <a:prstGeom prst="ellipse">
            <a:avLst/>
          </a:prstGeom>
          <a:solidFill>
            <a:srgbClr val="EDF3EC"/>
          </a:solidFill>
          <a:ln/>
        </p:spPr>
      </p:sp>
      <p:pic>
        <p:nvPicPr>
          <p:cNvPr id="18" name="Image 4" descr="preencoded.png">    </p:cNvPr>
          <p:cNvPicPr>
            <a:picLocks noChangeAspect="1"/>
          </p:cNvPicPr>
          <p:nvPr/>
        </p:nvPicPr>
        <p:blipFill>
          <a:blip r:embed="rId5"/>
          <a:stretch>
            <a:fillRect/>
          </a:stretch>
        </p:blipFill>
        <p:spPr>
          <a:xfrm>
            <a:off x="974385" y="5345217"/>
            <a:ext cx="209215" cy="209215"/>
          </a:xfrm>
          <a:prstGeom prst="rect">
            <a:avLst/>
          </a:prstGeom>
        </p:spPr>
      </p:pic>
      <p:sp>
        <p:nvSpPr>
          <p:cNvPr id="19" name="Text 12"/>
          <p:cNvSpPr txBox="1"/>
          <p:nvPr/>
        </p:nvSpPr>
        <p:spPr>
          <a:xfrm>
            <a:off x="1481328" y="5212080"/>
            <a:ext cx="4221328" cy="749808"/>
          </a:xfrm>
          <a:prstGeom prst="rect">
            <a:avLst/>
          </a:prstGeom>
          <a:noFill/>
          <a:ln/>
        </p:spPr>
        <p:txBody>
          <a:bodyPr wrap="square" lIns="0" tIns="0" rIns="0" bIns="0" rtlCol="0" anchor="t"/>
          <a:lstStyle/>
          <a:p>
            <a:pPr indent="0" marL="0">
              <a:buNone/>
            </a:pPr>
            <a:r>
              <a:rPr lang="en-US" sz="1550" b="1" dirty="0">
                <a:solidFill>
                  <a:srgbClr val="1B1E1D"/>
                </a:solidFill>
                <a:latin typeface="Calibri" pitchFamily="34" charset="0"/>
                <a:ea typeface="Calibri" pitchFamily="34" charset="-122"/>
                <a:cs typeface="Calibri" pitchFamily="34" charset="-120"/>
              </a:rPr>
              <a:t>Overdue work surfaces itself</a:t>
            </a:r>
            <a:endParaRPr lang="en-US" sz="1550" dirty="0"/>
          </a:p>
          <a:p>
            <a:pPr indent="0" marL="0">
              <a:buNone/>
            </a:pPr>
            <a:r>
              <a:rPr lang="en-US" sz="1350" dirty="0">
                <a:solidFill>
                  <a:srgbClr val="4E5751"/>
                </a:solidFill>
                <a:latin typeface="Calibri" pitchFamily="34" charset="0"/>
                <a:ea typeface="Calibri" pitchFamily="34" charset="-122"/>
                <a:cs typeface="Calibri" pitchFamily="34" charset="-120"/>
              </a:rPr>
              <a:t>Late referrals and lawyer updates create follow-up tasks.</a:t>
            </a:r>
            <a:endParaRPr lang="en-US" sz="1550" dirty="0"/>
          </a:p>
        </p:txBody>
      </p:sp>
      <p:sp>
        <p:nvSpPr>
          <p:cNvPr id="20" name="Shape 13"/>
          <p:cNvSpPr/>
          <p:nvPr/>
        </p:nvSpPr>
        <p:spPr>
          <a:xfrm>
            <a:off x="6233008" y="1600200"/>
            <a:ext cx="5410048" cy="4572000"/>
          </a:xfrm>
          <a:prstGeom prst="roundRect">
            <a:avLst>
              <a:gd name="adj" fmla="val 24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21" name="Shape 14"/>
          <p:cNvSpPr/>
          <p:nvPr/>
        </p:nvSpPr>
        <p:spPr>
          <a:xfrm>
            <a:off x="6507328" y="1856232"/>
            <a:ext cx="512064" cy="512064"/>
          </a:xfrm>
          <a:prstGeom prst="ellipse">
            <a:avLst/>
          </a:prstGeom>
          <a:solidFill>
            <a:srgbClr val="28562D"/>
          </a:solidFill>
          <a:ln/>
        </p:spPr>
      </p:sp>
      <p:pic>
        <p:nvPicPr>
          <p:cNvPr id="22" name="Image 5" descr="preencoded.png">    </p:cNvPr>
          <p:cNvPicPr>
            <a:picLocks noChangeAspect="1"/>
          </p:cNvPicPr>
          <p:nvPr/>
        </p:nvPicPr>
        <p:blipFill>
          <a:blip r:embed="rId6"/>
          <a:stretch>
            <a:fillRect/>
          </a:stretch>
        </p:blipFill>
        <p:spPr>
          <a:xfrm>
            <a:off x="6630223" y="1979127"/>
            <a:ext cx="266273" cy="266273"/>
          </a:xfrm>
          <a:prstGeom prst="rect">
            <a:avLst/>
          </a:prstGeom>
        </p:spPr>
      </p:pic>
      <p:sp>
        <p:nvSpPr>
          <p:cNvPr id="23" name="Text 15"/>
          <p:cNvSpPr txBox="1"/>
          <p:nvPr/>
        </p:nvSpPr>
        <p:spPr>
          <a:xfrm>
            <a:off x="7165696" y="1856232"/>
            <a:ext cx="4221328" cy="512064"/>
          </a:xfrm>
          <a:prstGeom prst="rect">
            <a:avLst/>
          </a:prstGeom>
          <a:noFill/>
          <a:ln/>
        </p:spPr>
        <p:txBody>
          <a:bodyPr wrap="square" lIns="0" tIns="0" rIns="0" bIns="0" rtlCol="0" anchor="ctr"/>
          <a:lstStyle/>
          <a:p>
            <a:pPr indent="0" marL="0">
              <a:buNone/>
            </a:pPr>
            <a:r>
              <a:rPr lang="en-US" sz="2200" b="1" dirty="0">
                <a:solidFill>
                  <a:srgbClr val="1B1E1D"/>
                </a:solidFill>
                <a:latin typeface="Cambria" pitchFamily="34" charset="0"/>
                <a:ea typeface="Cambria" pitchFamily="34" charset="-122"/>
                <a:cs typeface="Cambria" pitchFamily="34" charset="-120"/>
              </a:rPr>
              <a:t>For citizens</a:t>
            </a:r>
            <a:endParaRPr lang="en-US" sz="2200" dirty="0"/>
          </a:p>
        </p:txBody>
      </p:sp>
      <p:sp>
        <p:nvSpPr>
          <p:cNvPr id="24" name="Shape 16"/>
          <p:cNvSpPr/>
          <p:nvPr/>
        </p:nvSpPr>
        <p:spPr>
          <a:xfrm>
            <a:off x="6562192" y="2642616"/>
            <a:ext cx="402336" cy="402336"/>
          </a:xfrm>
          <a:prstGeom prst="ellipse">
            <a:avLst/>
          </a:prstGeom>
          <a:solidFill>
            <a:srgbClr val="EDF3EC"/>
          </a:solidFill>
          <a:ln/>
        </p:spPr>
      </p:sp>
      <p:pic>
        <p:nvPicPr>
          <p:cNvPr id="25" name="Image 6" descr="preencoded.png">    </p:cNvPr>
          <p:cNvPicPr>
            <a:picLocks noChangeAspect="1"/>
          </p:cNvPicPr>
          <p:nvPr/>
        </p:nvPicPr>
        <p:blipFill>
          <a:blip r:embed="rId7"/>
          <a:stretch>
            <a:fillRect/>
          </a:stretch>
        </p:blipFill>
        <p:spPr>
          <a:xfrm>
            <a:off x="6658752" y="2739177"/>
            <a:ext cx="209215" cy="209215"/>
          </a:xfrm>
          <a:prstGeom prst="rect">
            <a:avLst/>
          </a:prstGeom>
        </p:spPr>
      </p:pic>
      <p:sp>
        <p:nvSpPr>
          <p:cNvPr id="26" name="Text 17"/>
          <p:cNvSpPr txBox="1"/>
          <p:nvPr/>
        </p:nvSpPr>
        <p:spPr>
          <a:xfrm>
            <a:off x="7165696" y="2606040"/>
            <a:ext cx="4221328" cy="749808"/>
          </a:xfrm>
          <a:prstGeom prst="rect">
            <a:avLst/>
          </a:prstGeom>
          <a:noFill/>
          <a:ln/>
        </p:spPr>
        <p:txBody>
          <a:bodyPr wrap="square" lIns="0" tIns="0" rIns="0" bIns="0" rtlCol="0" anchor="t"/>
          <a:lstStyle/>
          <a:p>
            <a:pPr indent="0" marL="0">
              <a:buNone/>
            </a:pPr>
            <a:r>
              <a:rPr lang="en-US" sz="1550" b="1" dirty="0">
                <a:solidFill>
                  <a:srgbClr val="1B1E1D"/>
                </a:solidFill>
                <a:latin typeface="Calibri" pitchFamily="34" charset="0"/>
                <a:ea typeface="Calibri" pitchFamily="34" charset="-122"/>
                <a:cs typeface="Calibri" pitchFamily="34" charset="-120"/>
              </a:rPr>
              <a:t>Bangla voice, no reading needed</a:t>
            </a:r>
            <a:endParaRPr lang="en-US" sz="1550" dirty="0"/>
          </a:p>
          <a:p>
            <a:pPr indent="0" marL="0">
              <a:buNone/>
            </a:pPr>
            <a:r>
              <a:rPr lang="en-US" sz="1350" dirty="0">
                <a:solidFill>
                  <a:srgbClr val="4E5751"/>
                </a:solidFill>
                <a:latin typeface="Calibri" pitchFamily="34" charset="0"/>
                <a:ea typeface="Calibri" pitchFamily="34" charset="-122"/>
                <a:cs typeface="Calibri" pitchFamily="34" charset="-120"/>
              </a:rPr>
              <a:t>A web simulation of a 16699 call, with read-back.</a:t>
            </a:r>
            <a:endParaRPr lang="en-US" sz="1550" dirty="0"/>
          </a:p>
        </p:txBody>
      </p:sp>
      <p:sp>
        <p:nvSpPr>
          <p:cNvPr id="27" name="Shape 18"/>
          <p:cNvSpPr/>
          <p:nvPr/>
        </p:nvSpPr>
        <p:spPr>
          <a:xfrm>
            <a:off x="6562192" y="3511296"/>
            <a:ext cx="402336" cy="402336"/>
          </a:xfrm>
          <a:prstGeom prst="ellipse">
            <a:avLst/>
          </a:prstGeom>
          <a:solidFill>
            <a:srgbClr val="EDF3EC"/>
          </a:solidFill>
          <a:ln/>
        </p:spPr>
      </p:sp>
      <p:pic>
        <p:nvPicPr>
          <p:cNvPr id="28" name="Image 7" descr="preencoded.png">    </p:cNvPr>
          <p:cNvPicPr>
            <a:picLocks noChangeAspect="1"/>
          </p:cNvPicPr>
          <p:nvPr/>
        </p:nvPicPr>
        <p:blipFill>
          <a:blip r:embed="rId8"/>
          <a:stretch>
            <a:fillRect/>
          </a:stretch>
        </p:blipFill>
        <p:spPr>
          <a:xfrm>
            <a:off x="6658752" y="3607857"/>
            <a:ext cx="209215" cy="209215"/>
          </a:xfrm>
          <a:prstGeom prst="rect">
            <a:avLst/>
          </a:prstGeom>
        </p:spPr>
      </p:pic>
      <p:sp>
        <p:nvSpPr>
          <p:cNvPr id="29" name="Text 19"/>
          <p:cNvSpPr txBox="1"/>
          <p:nvPr/>
        </p:nvSpPr>
        <p:spPr>
          <a:xfrm>
            <a:off x="7165696" y="3474720"/>
            <a:ext cx="4221328" cy="749808"/>
          </a:xfrm>
          <a:prstGeom prst="rect">
            <a:avLst/>
          </a:prstGeom>
          <a:noFill/>
          <a:ln/>
        </p:spPr>
        <p:txBody>
          <a:bodyPr wrap="square" lIns="0" tIns="0" rIns="0" bIns="0" rtlCol="0" anchor="t"/>
          <a:lstStyle/>
          <a:p>
            <a:pPr indent="0" marL="0">
              <a:buNone/>
            </a:pPr>
            <a:r>
              <a:rPr lang="en-US" sz="1550" b="1" dirty="0">
                <a:solidFill>
                  <a:srgbClr val="1B1E1D"/>
                </a:solidFill>
                <a:latin typeface="Calibri" pitchFamily="34" charset="0"/>
                <a:ea typeface="Calibri" pitchFamily="34" charset="-122"/>
                <a:cs typeface="Calibri" pitchFamily="34" charset="-120"/>
              </a:rPr>
              <a:t>Help at a UDC</a:t>
            </a:r>
            <a:endParaRPr lang="en-US" sz="1550" dirty="0"/>
          </a:p>
          <a:p>
            <a:pPr indent="0" marL="0">
              <a:buNone/>
            </a:pPr>
            <a:r>
              <a:rPr lang="en-US" sz="1350" dirty="0">
                <a:solidFill>
                  <a:srgbClr val="4E5751"/>
                </a:solidFill>
                <a:latin typeface="Calibri" pitchFamily="34" charset="0"/>
                <a:ea typeface="Calibri" pitchFamily="34" charset="-122"/>
                <a:cs typeface="Calibri" pitchFamily="34" charset="-120"/>
              </a:rPr>
              <a:t>The original words and the translation are both kept.</a:t>
            </a:r>
            <a:endParaRPr lang="en-US" sz="1550" dirty="0"/>
          </a:p>
        </p:txBody>
      </p:sp>
      <p:sp>
        <p:nvSpPr>
          <p:cNvPr id="30" name="Shape 20"/>
          <p:cNvSpPr/>
          <p:nvPr/>
        </p:nvSpPr>
        <p:spPr>
          <a:xfrm>
            <a:off x="6562192" y="4379976"/>
            <a:ext cx="402336" cy="402336"/>
          </a:xfrm>
          <a:prstGeom prst="ellipse">
            <a:avLst/>
          </a:prstGeom>
          <a:solidFill>
            <a:srgbClr val="EDF3EC"/>
          </a:solidFill>
          <a:ln/>
        </p:spPr>
      </p:sp>
      <p:pic>
        <p:nvPicPr>
          <p:cNvPr id="31" name="Image 8" descr="preencoded.png">    </p:cNvPr>
          <p:cNvPicPr>
            <a:picLocks noChangeAspect="1"/>
          </p:cNvPicPr>
          <p:nvPr/>
        </p:nvPicPr>
        <p:blipFill>
          <a:blip r:embed="rId9"/>
          <a:stretch>
            <a:fillRect/>
          </a:stretch>
        </p:blipFill>
        <p:spPr>
          <a:xfrm>
            <a:off x="6658752" y="4476537"/>
            <a:ext cx="209215" cy="209215"/>
          </a:xfrm>
          <a:prstGeom prst="rect">
            <a:avLst/>
          </a:prstGeom>
        </p:spPr>
      </p:pic>
      <p:sp>
        <p:nvSpPr>
          <p:cNvPr id="32" name="Text 21"/>
          <p:cNvSpPr txBox="1"/>
          <p:nvPr/>
        </p:nvSpPr>
        <p:spPr>
          <a:xfrm>
            <a:off x="7165696" y="4343400"/>
            <a:ext cx="4221328" cy="749808"/>
          </a:xfrm>
          <a:prstGeom prst="rect">
            <a:avLst/>
          </a:prstGeom>
          <a:noFill/>
          <a:ln/>
        </p:spPr>
        <p:txBody>
          <a:bodyPr wrap="square" lIns="0" tIns="0" rIns="0" bIns="0" rtlCol="0" anchor="t"/>
          <a:lstStyle/>
          <a:p>
            <a:pPr indent="0" marL="0">
              <a:buNone/>
            </a:pPr>
            <a:r>
              <a:rPr lang="en-US" sz="1550" b="1" dirty="0">
                <a:solidFill>
                  <a:srgbClr val="1B1E1D"/>
                </a:solidFill>
                <a:latin typeface="Calibri" pitchFamily="34" charset="0"/>
                <a:ea typeface="Calibri" pitchFamily="34" charset="-122"/>
                <a:cs typeface="Calibri" pitchFamily="34" charset="-120"/>
              </a:rPr>
              <a:t>Safe contact</a:t>
            </a:r>
            <a:endParaRPr lang="en-US" sz="1550" dirty="0"/>
          </a:p>
          <a:p>
            <a:pPr indent="0" marL="0">
              <a:buNone/>
            </a:pPr>
            <a:r>
              <a:rPr lang="en-US" sz="1350" dirty="0">
                <a:solidFill>
                  <a:srgbClr val="4E5751"/>
                </a:solidFill>
                <a:latin typeface="Calibri" pitchFamily="34" charset="0"/>
                <a:ea typeface="Calibri" pitchFamily="34" charset="-122"/>
                <a:cs typeface="Calibri" pitchFamily="34" charset="-120"/>
              </a:rPr>
              <a:t>If the wrong person answers, nothing is disclosed.</a:t>
            </a:r>
            <a:endParaRPr lang="en-US" sz="1550" dirty="0"/>
          </a:p>
        </p:txBody>
      </p:sp>
      <p:sp>
        <p:nvSpPr>
          <p:cNvPr id="33" name="Shape 22"/>
          <p:cNvSpPr/>
          <p:nvPr/>
        </p:nvSpPr>
        <p:spPr>
          <a:xfrm>
            <a:off x="6562192" y="5248656"/>
            <a:ext cx="402336" cy="402336"/>
          </a:xfrm>
          <a:prstGeom prst="ellipse">
            <a:avLst/>
          </a:prstGeom>
          <a:solidFill>
            <a:srgbClr val="EDF3EC"/>
          </a:solidFill>
          <a:ln/>
        </p:spPr>
      </p:sp>
      <p:pic>
        <p:nvPicPr>
          <p:cNvPr id="34" name="Image 9" descr="preencoded.png">    </p:cNvPr>
          <p:cNvPicPr>
            <a:picLocks noChangeAspect="1"/>
          </p:cNvPicPr>
          <p:nvPr/>
        </p:nvPicPr>
        <p:blipFill>
          <a:blip r:embed="rId10"/>
          <a:stretch>
            <a:fillRect/>
          </a:stretch>
        </p:blipFill>
        <p:spPr>
          <a:xfrm>
            <a:off x="6658752" y="5345217"/>
            <a:ext cx="209215" cy="209215"/>
          </a:xfrm>
          <a:prstGeom prst="rect">
            <a:avLst/>
          </a:prstGeom>
        </p:spPr>
      </p:pic>
      <p:sp>
        <p:nvSpPr>
          <p:cNvPr id="35" name="Text 23"/>
          <p:cNvSpPr txBox="1"/>
          <p:nvPr/>
        </p:nvSpPr>
        <p:spPr>
          <a:xfrm>
            <a:off x="7165696" y="5212080"/>
            <a:ext cx="4221328" cy="749808"/>
          </a:xfrm>
          <a:prstGeom prst="rect">
            <a:avLst/>
          </a:prstGeom>
          <a:noFill/>
          <a:ln/>
        </p:spPr>
        <p:txBody>
          <a:bodyPr wrap="square" lIns="0" tIns="0" rIns="0" bIns="0" rtlCol="0" anchor="t"/>
          <a:lstStyle/>
          <a:p>
            <a:pPr indent="0" marL="0">
              <a:buNone/>
            </a:pPr>
            <a:r>
              <a:rPr lang="en-US" sz="1550" b="1" dirty="0">
                <a:solidFill>
                  <a:srgbClr val="1B1E1D"/>
                </a:solidFill>
                <a:latin typeface="Calibri" pitchFamily="34" charset="0"/>
                <a:ea typeface="Calibri" pitchFamily="34" charset="-122"/>
                <a:cs typeface="Calibri" pitchFamily="34" charset="-120"/>
              </a:rPr>
              <a:t>Works on weak networks</a:t>
            </a:r>
            <a:endParaRPr lang="en-US" sz="1550" dirty="0"/>
          </a:p>
          <a:p>
            <a:pPr indent="0" marL="0">
              <a:buNone/>
            </a:pPr>
            <a:r>
              <a:rPr lang="en-US" sz="1350" dirty="0">
                <a:solidFill>
                  <a:srgbClr val="4E5751"/>
                </a:solidFill>
                <a:latin typeface="Calibri" pitchFamily="34" charset="0"/>
                <a:ea typeface="Calibri" pitchFamily="34" charset="-122"/>
                <a:cs typeface="Calibri" pitchFamily="34" charset="-120"/>
              </a:rPr>
              <a:t>Offline drafts and a light mode for low data.</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28562D"/>
                </a:solidFill>
                <a:latin typeface="Calibri" pitchFamily="34" charset="0"/>
                <a:ea typeface="Calibri" pitchFamily="34" charset="-122"/>
                <a:cs typeface="Calibri" pitchFamily="34" charset="-120"/>
              </a:rPr>
              <a:t>FEASIBILITY</a:t>
            </a:r>
            <a:endParaRPr lang="en-US" sz="1200" dirty="0"/>
          </a:p>
        </p:txBody>
      </p:sp>
      <p:sp>
        <p:nvSpPr>
          <p:cNvPr id="3" name="Text 1"/>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600" b="1" dirty="0">
                <a:solidFill>
                  <a:srgbClr val="1B1E1D"/>
                </a:solidFill>
                <a:latin typeface="Cambria" pitchFamily="34" charset="0"/>
                <a:ea typeface="Cambria" pitchFamily="34" charset="-122"/>
                <a:cs typeface="Cambria" pitchFamily="34" charset="-120"/>
              </a:rPr>
              <a:t>Fits DLAS today. Ready to grow.</a:t>
            </a:r>
            <a:endParaRPr lang="en-US" sz="3600" dirty="0"/>
          </a:p>
        </p:txBody>
      </p:sp>
      <p:sp>
        <p:nvSpPr>
          <p:cNvPr id="4" name="Shape 2"/>
          <p:cNvSpPr/>
          <p:nvPr/>
        </p:nvSpPr>
        <p:spPr>
          <a:xfrm>
            <a:off x="548640" y="1600200"/>
            <a:ext cx="5432908" cy="2194560"/>
          </a:xfrm>
          <a:prstGeom prst="roundRect">
            <a:avLst>
              <a:gd name="adj" fmla="val 50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77240" y="1801368"/>
            <a:ext cx="438912" cy="438912"/>
          </a:xfrm>
          <a:prstGeom prst="ellipse">
            <a:avLst/>
          </a:prstGeom>
          <a:solidFill>
            <a:srgbClr val="28562D"/>
          </a:solidFill>
          <a:ln/>
        </p:spPr>
      </p:sp>
      <p:pic>
        <p:nvPicPr>
          <p:cNvPr id="6" name="Image 0" descr="preencoded.png">    </p:cNvPr>
          <p:cNvPicPr>
            <a:picLocks noChangeAspect="1"/>
          </p:cNvPicPr>
          <p:nvPr/>
        </p:nvPicPr>
        <p:blipFill>
          <a:blip r:embed="rId1"/>
          <a:stretch>
            <a:fillRect/>
          </a:stretch>
        </p:blipFill>
        <p:spPr>
          <a:xfrm>
            <a:off x="882579" y="1906707"/>
            <a:ext cx="228234" cy="228234"/>
          </a:xfrm>
          <a:prstGeom prst="rect">
            <a:avLst/>
          </a:prstGeom>
        </p:spPr>
      </p:pic>
      <p:sp>
        <p:nvSpPr>
          <p:cNvPr id="7" name="Text 4"/>
          <p:cNvSpPr txBox="1"/>
          <p:nvPr/>
        </p:nvSpPr>
        <p:spPr>
          <a:xfrm>
            <a:off x="1353312" y="1801368"/>
            <a:ext cx="4427068" cy="438912"/>
          </a:xfrm>
          <a:prstGeom prst="rect">
            <a:avLst/>
          </a:prstGeom>
          <a:noFill/>
          <a:ln/>
        </p:spPr>
        <p:txBody>
          <a:bodyPr wrap="square" lIns="0" tIns="0" rIns="0" bIns="0" rtlCol="0" anchor="ctr"/>
          <a:lstStyle/>
          <a:p>
            <a:pPr indent="0" marL="0">
              <a:buNone/>
            </a:pPr>
            <a:r>
              <a:rPr lang="en-US" sz="1800" b="1" dirty="0">
                <a:solidFill>
                  <a:srgbClr val="1B1E1D"/>
                </a:solidFill>
                <a:latin typeface="Calibri" pitchFamily="34" charset="0"/>
                <a:ea typeface="Calibri" pitchFamily="34" charset="-122"/>
                <a:cs typeface="Calibri" pitchFamily="34" charset="-120"/>
              </a:rPr>
              <a:t>Fits the DLAS workflow</a:t>
            </a:r>
            <a:endParaRPr lang="en-US" sz="1800" dirty="0"/>
          </a:p>
        </p:txBody>
      </p:sp>
      <p:sp>
        <p:nvSpPr>
          <p:cNvPr id="8" name="Text 5"/>
          <p:cNvSpPr txBox="1"/>
          <p:nvPr/>
        </p:nvSpPr>
        <p:spPr>
          <a:xfrm>
            <a:off x="822960" y="2386584"/>
            <a:ext cx="4929988" cy="128016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4E5751"/>
                </a:solidFill>
                <a:latin typeface="Calibri" pitchFamily="34" charset="0"/>
                <a:ea typeface="Calibri" pitchFamily="34" charset="-122"/>
                <a:cs typeface="Calibri" pitchFamily="34" charset="-120"/>
              </a:rPr>
              <a:t>Mirrors the real process: Application → DLAO acceptance → Case</a:t>
            </a:r>
            <a:endParaRPr lang="en-US" sz="1350" dirty="0"/>
          </a:p>
          <a:p>
            <a:pPr marL="177800" indent="-177800">
              <a:spcAft>
                <a:spcPts val="500"/>
              </a:spcAft>
              <a:buSzPct val="100000"/>
              <a:buChar char="•"/>
            </a:pPr>
            <a:r>
              <a:rPr lang="en-US" sz="1350" dirty="0">
                <a:solidFill>
                  <a:srgbClr val="4E5751"/>
                </a:solidFill>
                <a:latin typeface="Calibri" pitchFamily="34" charset="0"/>
                <a:ea typeface="Calibri" pitchFamily="34" charset="-122"/>
                <a:cs typeface="Calibri" pitchFamily="34" charset="-120"/>
              </a:rPr>
              <a:t>One record for every door and every provider role</a:t>
            </a:r>
            <a:endParaRPr lang="en-US" sz="1350" dirty="0"/>
          </a:p>
          <a:p>
            <a:pPr marL="177800" indent="-177800">
              <a:spcAft>
                <a:spcPts val="500"/>
              </a:spcAft>
              <a:buSzPct val="100000"/>
              <a:buChar char="•"/>
            </a:pPr>
            <a:r>
              <a:rPr lang="en-US" sz="1350" dirty="0">
                <a:solidFill>
                  <a:srgbClr val="4E5751"/>
                </a:solidFill>
                <a:latin typeface="Calibri" pitchFamily="34" charset="0"/>
                <a:ea typeface="Calibri" pitchFamily="34" charset="-122"/>
                <a:cs typeface="Calibri" pitchFamily="34" charset="-120"/>
              </a:rPr>
              <a:t>Humans keep every final decision; AI only suggests or summarises</a:t>
            </a:r>
            <a:endParaRPr lang="en-US" sz="1350" dirty="0"/>
          </a:p>
        </p:txBody>
      </p:sp>
      <p:sp>
        <p:nvSpPr>
          <p:cNvPr id="9" name="Shape 6"/>
          <p:cNvSpPr/>
          <p:nvPr/>
        </p:nvSpPr>
        <p:spPr>
          <a:xfrm>
            <a:off x="6210148" y="1600200"/>
            <a:ext cx="5432908" cy="2194560"/>
          </a:xfrm>
          <a:prstGeom prst="roundRect">
            <a:avLst>
              <a:gd name="adj" fmla="val 50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10" name="Shape 7"/>
          <p:cNvSpPr/>
          <p:nvPr/>
        </p:nvSpPr>
        <p:spPr>
          <a:xfrm>
            <a:off x="6438748" y="1801368"/>
            <a:ext cx="438912" cy="438912"/>
          </a:xfrm>
          <a:prstGeom prst="ellipse">
            <a:avLst/>
          </a:prstGeom>
          <a:solidFill>
            <a:srgbClr val="28562D"/>
          </a:solidFill>
          <a:ln/>
        </p:spPr>
      </p:sp>
      <p:pic>
        <p:nvPicPr>
          <p:cNvPr id="11" name="Image 1" descr="preencoded.png">    </p:cNvPr>
          <p:cNvPicPr>
            <a:picLocks noChangeAspect="1"/>
          </p:cNvPicPr>
          <p:nvPr/>
        </p:nvPicPr>
        <p:blipFill>
          <a:blip r:embed="rId2"/>
          <a:stretch>
            <a:fillRect/>
          </a:stretch>
        </p:blipFill>
        <p:spPr>
          <a:xfrm>
            <a:off x="6544086" y="1906707"/>
            <a:ext cx="228234" cy="228234"/>
          </a:xfrm>
          <a:prstGeom prst="rect">
            <a:avLst/>
          </a:prstGeom>
        </p:spPr>
      </p:pic>
      <p:sp>
        <p:nvSpPr>
          <p:cNvPr id="12" name="Text 8"/>
          <p:cNvSpPr txBox="1"/>
          <p:nvPr/>
        </p:nvSpPr>
        <p:spPr>
          <a:xfrm>
            <a:off x="7014820" y="1801368"/>
            <a:ext cx="4427068" cy="438912"/>
          </a:xfrm>
          <a:prstGeom prst="rect">
            <a:avLst/>
          </a:prstGeom>
          <a:noFill/>
          <a:ln/>
        </p:spPr>
        <p:txBody>
          <a:bodyPr wrap="square" lIns="0" tIns="0" rIns="0" bIns="0" rtlCol="0" anchor="ctr"/>
          <a:lstStyle/>
          <a:p>
            <a:pPr indent="0" marL="0">
              <a:buNone/>
            </a:pPr>
            <a:r>
              <a:rPr lang="en-US" sz="1800" b="1" dirty="0">
                <a:solidFill>
                  <a:srgbClr val="1B1E1D"/>
                </a:solidFill>
                <a:latin typeface="Calibri" pitchFamily="34" charset="0"/>
                <a:ea typeface="Calibri" pitchFamily="34" charset="-122"/>
                <a:cs typeface="Calibri" pitchFamily="34" charset="-120"/>
              </a:rPr>
              <a:t>Built on a common stack</a:t>
            </a:r>
            <a:endParaRPr lang="en-US" sz="1800" dirty="0"/>
          </a:p>
        </p:txBody>
      </p:sp>
      <p:sp>
        <p:nvSpPr>
          <p:cNvPr id="13" name="Text 9"/>
          <p:cNvSpPr txBox="1"/>
          <p:nvPr/>
        </p:nvSpPr>
        <p:spPr>
          <a:xfrm>
            <a:off x="6484468" y="2386584"/>
            <a:ext cx="4929988" cy="128016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4E5751"/>
                </a:solidFill>
                <a:latin typeface="Calibri" pitchFamily="34" charset="0"/>
                <a:ea typeface="Calibri" pitchFamily="34" charset="-122"/>
                <a:cs typeface="Calibri" pitchFamily="34" charset="-120"/>
              </a:rPr>
              <a:t>MERN in plain JavaScript: MongoDB, Express, React PWA, Node</a:t>
            </a:r>
            <a:endParaRPr lang="en-US" sz="1350" dirty="0"/>
          </a:p>
          <a:p>
            <a:pPr marL="177800" indent="-177800">
              <a:spcAft>
                <a:spcPts val="500"/>
              </a:spcAft>
              <a:buSzPct val="100000"/>
              <a:buChar char="•"/>
            </a:pPr>
            <a:r>
              <a:rPr lang="en-US" sz="1350" dirty="0">
                <a:solidFill>
                  <a:srgbClr val="4E5751"/>
                </a:solidFill>
                <a:latin typeface="Calibri" pitchFamily="34" charset="0"/>
                <a:ea typeface="Calibri" pitchFamily="34" charset="-122"/>
                <a:cs typeface="Calibri" pitchFamily="34" charset="-120"/>
              </a:rPr>
              <a:t>Web frontend on Vercel</a:t>
            </a:r>
            <a:endParaRPr lang="en-US" sz="1350" dirty="0"/>
          </a:p>
          <a:p>
            <a:pPr marL="177800" indent="-177800">
              <a:spcAft>
                <a:spcPts val="500"/>
              </a:spcAft>
              <a:buSzPct val="100000"/>
              <a:buChar char="•"/>
            </a:pPr>
            <a:r>
              <a:rPr lang="en-US" sz="1350" dirty="0">
                <a:solidFill>
                  <a:srgbClr val="4E5751"/>
                </a:solidFill>
                <a:latin typeface="Calibri" pitchFamily="34" charset="0"/>
                <a:ea typeface="Calibri" pitchFamily="34" charset="-122"/>
                <a:cs typeface="Calibri" pitchFamily="34" charset="-120"/>
              </a:rPr>
              <a:t>Optional AI, with manual and rule-based fallbacks</a:t>
            </a:r>
            <a:endParaRPr lang="en-US" sz="1350" dirty="0"/>
          </a:p>
        </p:txBody>
      </p:sp>
      <p:sp>
        <p:nvSpPr>
          <p:cNvPr id="14" name="Shape 10"/>
          <p:cNvSpPr/>
          <p:nvPr/>
        </p:nvSpPr>
        <p:spPr>
          <a:xfrm>
            <a:off x="548640" y="3977640"/>
            <a:ext cx="5432908" cy="2194560"/>
          </a:xfrm>
          <a:prstGeom prst="roundRect">
            <a:avLst>
              <a:gd name="adj" fmla="val 50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15" name="Shape 11"/>
          <p:cNvSpPr/>
          <p:nvPr/>
        </p:nvSpPr>
        <p:spPr>
          <a:xfrm>
            <a:off x="777240" y="4178808"/>
            <a:ext cx="438912" cy="438912"/>
          </a:xfrm>
          <a:prstGeom prst="ellipse">
            <a:avLst/>
          </a:prstGeom>
          <a:solidFill>
            <a:srgbClr val="28562D"/>
          </a:solidFill>
          <a:ln/>
        </p:spPr>
      </p:sp>
      <p:pic>
        <p:nvPicPr>
          <p:cNvPr id="16" name="Image 2" descr="preencoded.png">    </p:cNvPr>
          <p:cNvPicPr>
            <a:picLocks noChangeAspect="1"/>
          </p:cNvPicPr>
          <p:nvPr/>
        </p:nvPicPr>
        <p:blipFill>
          <a:blip r:embed="rId3"/>
          <a:stretch>
            <a:fillRect/>
          </a:stretch>
        </p:blipFill>
        <p:spPr>
          <a:xfrm>
            <a:off x="882579" y="4284147"/>
            <a:ext cx="228234" cy="228234"/>
          </a:xfrm>
          <a:prstGeom prst="rect">
            <a:avLst/>
          </a:prstGeom>
        </p:spPr>
      </p:pic>
      <p:sp>
        <p:nvSpPr>
          <p:cNvPr id="17" name="Text 12"/>
          <p:cNvSpPr txBox="1"/>
          <p:nvPr/>
        </p:nvSpPr>
        <p:spPr>
          <a:xfrm>
            <a:off x="1353312" y="4178808"/>
            <a:ext cx="4427068" cy="438912"/>
          </a:xfrm>
          <a:prstGeom prst="rect">
            <a:avLst/>
          </a:prstGeom>
          <a:noFill/>
          <a:ln/>
        </p:spPr>
        <p:txBody>
          <a:bodyPr wrap="square" lIns="0" tIns="0" rIns="0" bIns="0" rtlCol="0" anchor="ctr"/>
          <a:lstStyle/>
          <a:p>
            <a:pPr indent="0" marL="0">
              <a:buNone/>
            </a:pPr>
            <a:r>
              <a:rPr lang="en-US" sz="1800" b="1" dirty="0">
                <a:solidFill>
                  <a:srgbClr val="1B1E1D"/>
                </a:solidFill>
                <a:latin typeface="Calibri" pitchFamily="34" charset="0"/>
                <a:ea typeface="Calibri" pitchFamily="34" charset="-122"/>
                <a:cs typeface="Calibri" pitchFamily="34" charset="-120"/>
              </a:rPr>
              <a:t>What scaling needs</a:t>
            </a:r>
            <a:endParaRPr lang="en-US" sz="1800" dirty="0"/>
          </a:p>
        </p:txBody>
      </p:sp>
      <p:sp>
        <p:nvSpPr>
          <p:cNvPr id="18" name="Text 13"/>
          <p:cNvSpPr txBox="1"/>
          <p:nvPr/>
        </p:nvSpPr>
        <p:spPr>
          <a:xfrm>
            <a:off x="822960" y="4764024"/>
            <a:ext cx="4929988" cy="128016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4E5751"/>
                </a:solidFill>
                <a:latin typeface="Calibri" pitchFamily="34" charset="0"/>
                <a:ea typeface="Calibri" pitchFamily="34" charset="-122"/>
                <a:cs typeface="Calibri" pitchFamily="34" charset="-120"/>
              </a:rPr>
              <a:t>Real 16699 telephony integration</a:t>
            </a:r>
            <a:endParaRPr lang="en-US" sz="1350" dirty="0"/>
          </a:p>
          <a:p>
            <a:pPr marL="177800" indent="-177800">
              <a:spcAft>
                <a:spcPts val="500"/>
              </a:spcAft>
              <a:buSzPct val="100000"/>
              <a:buChar char="•"/>
            </a:pPr>
            <a:r>
              <a:rPr lang="en-US" sz="1350" dirty="0">
                <a:solidFill>
                  <a:srgbClr val="4E5751"/>
                </a:solidFill>
                <a:latin typeface="Calibri" pitchFamily="34" charset="0"/>
                <a:ea typeface="Calibri" pitchFamily="34" charset="-122"/>
                <a:cs typeface="Calibri" pitchFamily="34" charset="-120"/>
              </a:rPr>
              <a:t>An always-on timer service for deadlines</a:t>
            </a:r>
            <a:endParaRPr lang="en-US" sz="1350" dirty="0"/>
          </a:p>
          <a:p>
            <a:pPr marL="177800" indent="-177800">
              <a:spcAft>
                <a:spcPts val="500"/>
              </a:spcAft>
              <a:buSzPct val="100000"/>
              <a:buChar char="•"/>
            </a:pPr>
            <a:r>
              <a:rPr lang="en-US" sz="1350" dirty="0">
                <a:solidFill>
                  <a:srgbClr val="4E5751"/>
                </a:solidFill>
                <a:latin typeface="Calibri" pitchFamily="34" charset="0"/>
                <a:ea typeface="Calibri" pitchFamily="34" charset="-122"/>
                <a:cs typeface="Calibri" pitchFamily="34" charset="-120"/>
              </a:rPr>
              <a:t>Distributed rate limiting</a:t>
            </a:r>
            <a:endParaRPr lang="en-US" sz="1350" dirty="0"/>
          </a:p>
          <a:p>
            <a:pPr marL="177800" indent="-177800">
              <a:spcAft>
                <a:spcPts val="500"/>
              </a:spcAft>
              <a:buSzPct val="100000"/>
              <a:buChar char="•"/>
            </a:pPr>
            <a:r>
              <a:rPr lang="en-US" sz="1350" dirty="0">
                <a:solidFill>
                  <a:srgbClr val="4E5751"/>
                </a:solidFill>
                <a:latin typeface="Calibri" pitchFamily="34" charset="0"/>
                <a:ea typeface="Calibri" pitchFamily="34" charset="-122"/>
                <a:cs typeface="Calibri" pitchFamily="34" charset="-120"/>
              </a:rPr>
              <a:t>Law-team approval of placeholder policies</a:t>
            </a:r>
            <a:endParaRPr lang="en-US" sz="1350" dirty="0"/>
          </a:p>
        </p:txBody>
      </p:sp>
      <p:sp>
        <p:nvSpPr>
          <p:cNvPr id="19" name="Shape 14"/>
          <p:cNvSpPr/>
          <p:nvPr/>
        </p:nvSpPr>
        <p:spPr>
          <a:xfrm>
            <a:off x="6210148" y="3977640"/>
            <a:ext cx="5432908" cy="2194560"/>
          </a:xfrm>
          <a:prstGeom prst="roundRect">
            <a:avLst>
              <a:gd name="adj" fmla="val 5000"/>
            </a:avLst>
          </a:prstGeom>
          <a:solidFill>
            <a:srgbClr val="FFFFFF"/>
          </a:solidFill>
          <a:ln w="9525">
            <a:solidFill>
              <a:srgbClr val="E3E2DC"/>
            </a:solidFill>
            <a:prstDash val="solid"/>
          </a:ln>
          <a:effectLst>
            <a:outerShdw sx="100000" sy="100000" kx="0" ky="0" algn="bl" rotWithShape="0" blurRad="101600" dist="25400" dir="5400000">
              <a:srgbClr val="000000">
                <a:alpha val="10000"/>
              </a:srgbClr>
            </a:outerShdw>
          </a:effectLst>
        </p:spPr>
      </p:sp>
      <p:sp>
        <p:nvSpPr>
          <p:cNvPr id="20" name="Shape 15"/>
          <p:cNvSpPr/>
          <p:nvPr/>
        </p:nvSpPr>
        <p:spPr>
          <a:xfrm>
            <a:off x="6438748" y="4178808"/>
            <a:ext cx="438912" cy="438912"/>
          </a:xfrm>
          <a:prstGeom prst="ellipse">
            <a:avLst/>
          </a:prstGeom>
          <a:solidFill>
            <a:srgbClr val="28562D"/>
          </a:solidFill>
          <a:ln/>
        </p:spPr>
      </p:sp>
      <p:pic>
        <p:nvPicPr>
          <p:cNvPr id="21" name="Image 3" descr="preencoded.png">    </p:cNvPr>
          <p:cNvPicPr>
            <a:picLocks noChangeAspect="1"/>
          </p:cNvPicPr>
          <p:nvPr/>
        </p:nvPicPr>
        <p:blipFill>
          <a:blip r:embed="rId4"/>
          <a:stretch>
            <a:fillRect/>
          </a:stretch>
        </p:blipFill>
        <p:spPr>
          <a:xfrm>
            <a:off x="6544086" y="4284147"/>
            <a:ext cx="228234" cy="228234"/>
          </a:xfrm>
          <a:prstGeom prst="rect">
            <a:avLst/>
          </a:prstGeom>
        </p:spPr>
      </p:pic>
      <p:sp>
        <p:nvSpPr>
          <p:cNvPr id="22" name="Text 16"/>
          <p:cNvSpPr txBox="1"/>
          <p:nvPr/>
        </p:nvSpPr>
        <p:spPr>
          <a:xfrm>
            <a:off x="7014820" y="4178808"/>
            <a:ext cx="4427068" cy="438912"/>
          </a:xfrm>
          <a:prstGeom prst="rect">
            <a:avLst/>
          </a:prstGeom>
          <a:noFill/>
          <a:ln/>
        </p:spPr>
        <p:txBody>
          <a:bodyPr wrap="square" lIns="0" tIns="0" rIns="0" bIns="0" rtlCol="0" anchor="ctr"/>
          <a:lstStyle/>
          <a:p>
            <a:pPr indent="0" marL="0">
              <a:buNone/>
            </a:pPr>
            <a:r>
              <a:rPr lang="en-US" sz="1800" b="1" dirty="0">
                <a:solidFill>
                  <a:srgbClr val="1B1E1D"/>
                </a:solidFill>
                <a:latin typeface="Calibri" pitchFamily="34" charset="0"/>
                <a:ea typeface="Calibri" pitchFamily="34" charset="-122"/>
                <a:cs typeface="Calibri" pitchFamily="34" charset="-120"/>
              </a:rPr>
              <a:t>How a pilot is measured</a:t>
            </a:r>
            <a:endParaRPr lang="en-US" sz="1800" dirty="0"/>
          </a:p>
        </p:txBody>
      </p:sp>
      <p:sp>
        <p:nvSpPr>
          <p:cNvPr id="23" name="Text 17"/>
          <p:cNvSpPr txBox="1"/>
          <p:nvPr/>
        </p:nvSpPr>
        <p:spPr>
          <a:xfrm>
            <a:off x="6484468" y="4690872"/>
            <a:ext cx="4929988" cy="256032"/>
          </a:xfrm>
          <a:prstGeom prst="rect">
            <a:avLst/>
          </a:prstGeom>
          <a:noFill/>
          <a:ln/>
        </p:spPr>
        <p:txBody>
          <a:bodyPr wrap="square" lIns="0" tIns="0" rIns="0" bIns="0" rtlCol="0" anchor="t"/>
          <a:lstStyle/>
          <a:p>
            <a:pPr indent="0" marL="0">
              <a:buNone/>
            </a:pPr>
            <a:r>
              <a:rPr lang="en-US" sz="1150" dirty="0">
                <a:solidFill>
                  <a:srgbClr val="4E5751"/>
                </a:solidFill>
                <a:latin typeface="Calibri" pitchFamily="34" charset="0"/>
                <a:ea typeface="Calibri" pitchFamily="34" charset="-122"/>
                <a:cs typeface="Calibri" pitchFamily="34" charset="-120"/>
              </a:rPr>
              <a:t>Five success indicators — no values claimed yet</a:t>
            </a:r>
            <a:endParaRPr lang="en-US" sz="1150" dirty="0"/>
          </a:p>
        </p:txBody>
      </p:sp>
      <p:sp>
        <p:nvSpPr>
          <p:cNvPr id="24" name="Text 18"/>
          <p:cNvSpPr txBox="1"/>
          <p:nvPr/>
        </p:nvSpPr>
        <p:spPr>
          <a:xfrm>
            <a:off x="6484468" y="4983480"/>
            <a:ext cx="1542745" cy="457200"/>
          </a:xfrm>
          <a:prstGeom prst="roundRect">
            <a:avLst>
              <a:gd name="adj" fmla="val 16000"/>
            </a:avLst>
          </a:prstGeom>
          <a:solidFill>
            <a:srgbClr val="EDF3EC"/>
          </a:solidFill>
          <a:ln/>
        </p:spPr>
        <p:txBody>
          <a:bodyPr wrap="square" lIns="76200" tIns="0" rIns="76200" bIns="0" rtlCol="0" anchor="ctr"/>
          <a:lstStyle/>
          <a:p>
            <a:pPr algn="ctr" indent="0" marL="0">
              <a:buNone/>
            </a:pPr>
            <a:r>
              <a:rPr lang="en-US" sz="1250" b="1" dirty="0">
                <a:solidFill>
                  <a:srgbClr val="28562D"/>
                </a:solidFill>
                <a:latin typeface="Calibri" pitchFamily="34" charset="0"/>
                <a:ea typeface="Calibri" pitchFamily="34" charset="-122"/>
                <a:cs typeface="Calibri" pitchFamily="34" charset="-120"/>
              </a:rPr>
              <a:t>Safe-contact compliance</a:t>
            </a:r>
            <a:endParaRPr lang="en-US" sz="1250" dirty="0"/>
          </a:p>
        </p:txBody>
      </p:sp>
      <p:sp>
        <p:nvSpPr>
          <p:cNvPr id="25" name="Text 19"/>
          <p:cNvSpPr txBox="1"/>
          <p:nvPr/>
        </p:nvSpPr>
        <p:spPr>
          <a:xfrm>
            <a:off x="8155229" y="4983480"/>
            <a:ext cx="1542745" cy="457200"/>
          </a:xfrm>
          <a:prstGeom prst="roundRect">
            <a:avLst>
              <a:gd name="adj" fmla="val 16000"/>
            </a:avLst>
          </a:prstGeom>
          <a:solidFill>
            <a:srgbClr val="EDF3EC"/>
          </a:solidFill>
          <a:ln/>
        </p:spPr>
        <p:txBody>
          <a:bodyPr wrap="square" lIns="76200" tIns="0" rIns="76200" bIns="0" rtlCol="0" anchor="ctr"/>
          <a:lstStyle/>
          <a:p>
            <a:pPr algn="ctr" indent="0" marL="0">
              <a:buNone/>
            </a:pPr>
            <a:r>
              <a:rPr lang="en-US" sz="1250" b="1" dirty="0">
                <a:solidFill>
                  <a:srgbClr val="28562D"/>
                </a:solidFill>
                <a:latin typeface="Calibri" pitchFamily="34" charset="0"/>
                <a:ea typeface="Calibri" pitchFamily="34" charset="-122"/>
                <a:cs typeface="Calibri" pitchFamily="34" charset="-120"/>
              </a:rPr>
              <a:t>One-record continuity</a:t>
            </a:r>
            <a:endParaRPr lang="en-US" sz="1250" dirty="0"/>
          </a:p>
        </p:txBody>
      </p:sp>
      <p:sp>
        <p:nvSpPr>
          <p:cNvPr id="26" name="Text 20"/>
          <p:cNvSpPr txBox="1"/>
          <p:nvPr/>
        </p:nvSpPr>
        <p:spPr>
          <a:xfrm>
            <a:off x="9825990" y="4983480"/>
            <a:ext cx="1542745" cy="457200"/>
          </a:xfrm>
          <a:prstGeom prst="roundRect">
            <a:avLst>
              <a:gd name="adj" fmla="val 16000"/>
            </a:avLst>
          </a:prstGeom>
          <a:solidFill>
            <a:srgbClr val="EDF3EC"/>
          </a:solidFill>
          <a:ln/>
        </p:spPr>
        <p:txBody>
          <a:bodyPr wrap="square" lIns="76200" tIns="0" rIns="76200" bIns="0" rtlCol="0" anchor="ctr"/>
          <a:lstStyle/>
          <a:p>
            <a:pPr algn="ctr" indent="0" marL="0">
              <a:buNone/>
            </a:pPr>
            <a:r>
              <a:rPr lang="en-US" sz="1250" b="1" dirty="0">
                <a:solidFill>
                  <a:srgbClr val="28562D"/>
                </a:solidFill>
                <a:latin typeface="Calibri" pitchFamily="34" charset="0"/>
                <a:ea typeface="Calibri" pitchFamily="34" charset="-122"/>
                <a:cs typeface="Calibri" pitchFamily="34" charset="-120"/>
              </a:rPr>
              <a:t>Accessible completion</a:t>
            </a:r>
            <a:endParaRPr lang="en-US" sz="1250" dirty="0"/>
          </a:p>
        </p:txBody>
      </p:sp>
      <p:sp>
        <p:nvSpPr>
          <p:cNvPr id="27" name="Text 21"/>
          <p:cNvSpPr txBox="1"/>
          <p:nvPr/>
        </p:nvSpPr>
        <p:spPr>
          <a:xfrm>
            <a:off x="6484468" y="5532120"/>
            <a:ext cx="1542745" cy="457200"/>
          </a:xfrm>
          <a:prstGeom prst="roundRect">
            <a:avLst>
              <a:gd name="adj" fmla="val 16000"/>
            </a:avLst>
          </a:prstGeom>
          <a:solidFill>
            <a:srgbClr val="EDF3EC"/>
          </a:solidFill>
          <a:ln/>
        </p:spPr>
        <p:txBody>
          <a:bodyPr wrap="square" lIns="76200" tIns="0" rIns="76200" bIns="0" rtlCol="0" anchor="ctr"/>
          <a:lstStyle/>
          <a:p>
            <a:pPr algn="ctr" indent="0" marL="0">
              <a:buNone/>
            </a:pPr>
            <a:r>
              <a:rPr lang="en-US" sz="1250" b="1" dirty="0">
                <a:solidFill>
                  <a:srgbClr val="28562D"/>
                </a:solidFill>
                <a:latin typeface="Calibri" pitchFamily="34" charset="0"/>
                <a:ea typeface="Calibri" pitchFamily="34" charset="-122"/>
                <a:cs typeface="Calibri" pitchFamily="34" charset="-120"/>
              </a:rPr>
              <a:t>Tracked responsibility</a:t>
            </a:r>
            <a:endParaRPr lang="en-US" sz="1250" dirty="0"/>
          </a:p>
        </p:txBody>
      </p:sp>
      <p:sp>
        <p:nvSpPr>
          <p:cNvPr id="28" name="Text 22"/>
          <p:cNvSpPr txBox="1"/>
          <p:nvPr/>
        </p:nvSpPr>
        <p:spPr>
          <a:xfrm>
            <a:off x="8155229" y="5532120"/>
            <a:ext cx="1542745" cy="457200"/>
          </a:xfrm>
          <a:prstGeom prst="roundRect">
            <a:avLst>
              <a:gd name="adj" fmla="val 16000"/>
            </a:avLst>
          </a:prstGeom>
          <a:solidFill>
            <a:srgbClr val="EDF3EC"/>
          </a:solidFill>
          <a:ln/>
        </p:spPr>
        <p:txBody>
          <a:bodyPr wrap="square" lIns="76200" tIns="0" rIns="76200" bIns="0" rtlCol="0" anchor="ctr"/>
          <a:lstStyle/>
          <a:p>
            <a:pPr algn="ctr" indent="0" marL="0">
              <a:buNone/>
            </a:pPr>
            <a:r>
              <a:rPr lang="en-US" sz="1250" b="1" dirty="0">
                <a:solidFill>
                  <a:srgbClr val="28562D"/>
                </a:solidFill>
                <a:latin typeface="Calibri" pitchFamily="34" charset="0"/>
                <a:ea typeface="Calibri" pitchFamily="34" charset="-122"/>
                <a:cs typeface="Calibri" pitchFamily="34" charset="-120"/>
              </a:rPr>
              <a:t>Resilient recovery</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8562D"/>
        </a:solidFill>
      </p:bgPr>
    </p:bg>
    <p:spTree>
      <p:nvGrpSpPr>
        <p:cNvPr id="1" name=""/>
        <p:cNvGrpSpPr/>
        <p:nvPr/>
      </p:nvGrpSpPr>
      <p:grpSpPr>
        <a:xfrm>
          <a:off x="0" y="0"/>
          <a:ext cx="0" cy="0"/>
          <a:chOff x="0" y="0"/>
          <a:chExt cx="0" cy="0"/>
        </a:xfrm>
      </p:grpSpPr>
      <p:sp>
        <p:nvSpPr>
          <p:cNvPr id="2" name="Text 0"/>
          <p:cNvSpPr txBox="1"/>
          <p:nvPr/>
        </p:nvSpPr>
        <p:spPr>
          <a:xfrm>
            <a:off x="640080" y="1005840"/>
            <a:ext cx="6400800" cy="292608"/>
          </a:xfrm>
          <a:prstGeom prst="rect">
            <a:avLst/>
          </a:prstGeom>
          <a:noFill/>
          <a:ln/>
        </p:spPr>
        <p:txBody>
          <a:bodyPr wrap="square" lIns="0" tIns="0" rIns="0" bIns="0" rtlCol="0" anchor="t"/>
          <a:lstStyle/>
          <a:p>
            <a:pPr indent="0" marL="0">
              <a:buNone/>
            </a:pPr>
            <a:r>
              <a:rPr lang="en-US" sz="1300" b="1" spc="200" kern="0" dirty="0">
                <a:solidFill>
                  <a:srgbClr val="EDF3EC"/>
                </a:solidFill>
                <a:latin typeface="Calibri" pitchFamily="34" charset="0"/>
                <a:ea typeface="Calibri" pitchFamily="34" charset="-122"/>
                <a:cs typeface="Calibri" pitchFamily="34" charset="-120"/>
              </a:rPr>
              <a:t>QUESTIONS</a:t>
            </a:r>
            <a:endParaRPr lang="en-US" sz="1300" dirty="0"/>
          </a:p>
        </p:txBody>
      </p:sp>
      <p:sp>
        <p:nvSpPr>
          <p:cNvPr id="3" name="Text 1"/>
          <p:cNvSpPr txBox="1"/>
          <p:nvPr/>
        </p:nvSpPr>
        <p:spPr>
          <a:xfrm>
            <a:off x="640080" y="1371600"/>
            <a:ext cx="676656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Try it yourself</a:t>
            </a:r>
            <a:endParaRPr lang="en-US" sz="4400" dirty="0"/>
          </a:p>
        </p:txBody>
      </p:sp>
      <p:sp>
        <p:nvSpPr>
          <p:cNvPr id="4" name="Text 2"/>
          <p:cNvSpPr txBox="1"/>
          <p:nvPr/>
        </p:nvSpPr>
        <p:spPr>
          <a:xfrm>
            <a:off x="640080" y="2514600"/>
            <a:ext cx="676656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legal-tech-rosy.vercel.app</a:t>
            </a:r>
            <a:endParaRPr lang="en-US" sz="3000" dirty="0"/>
          </a:p>
        </p:txBody>
      </p:sp>
      <p:sp>
        <p:nvSpPr>
          <p:cNvPr id="5" name="Text 3"/>
          <p:cNvSpPr txBox="1"/>
          <p:nvPr/>
        </p:nvSpPr>
        <p:spPr>
          <a:xfrm>
            <a:off x="640080" y="3429000"/>
            <a:ext cx="6766560" cy="457200"/>
          </a:xfrm>
          <a:prstGeom prst="rect">
            <a:avLst/>
          </a:prstGeom>
          <a:noFill/>
          <a:ln/>
        </p:spPr>
        <p:txBody>
          <a:bodyPr wrap="square" lIns="0" tIns="0" rIns="0" bIns="0" rtlCol="0" anchor="t"/>
          <a:lstStyle/>
          <a:p>
            <a:pPr indent="0" marL="0">
              <a:buNone/>
            </a:pPr>
            <a:r>
              <a:rPr lang="en-US" sz="2200" dirty="0">
                <a:solidFill>
                  <a:srgbClr val="EDF3EC"/>
                </a:solidFill>
                <a:latin typeface="Calibri" pitchFamily="34" charset="0"/>
                <a:ea typeface="Calibri" pitchFamily="34" charset="-122"/>
                <a:cs typeface="Calibri" pitchFamily="34" charset="-120"/>
              </a:rPr>
              <a:t>Ask us about any of the 23 items.</a:t>
            </a:r>
            <a:endParaRPr lang="en-US" sz="2200" dirty="0"/>
          </a:p>
        </p:txBody>
      </p:sp>
      <p:sp>
        <p:nvSpPr>
          <p:cNvPr id="6" name="Text 4"/>
          <p:cNvSpPr txBox="1"/>
          <p:nvPr/>
        </p:nvSpPr>
        <p:spPr>
          <a:xfrm>
            <a:off x="640080" y="5806440"/>
            <a:ext cx="6766560" cy="320040"/>
          </a:xfrm>
          <a:prstGeom prst="rect">
            <a:avLst/>
          </a:prstGeom>
          <a:noFill/>
          <a:ln/>
        </p:spPr>
        <p:txBody>
          <a:bodyPr wrap="square" lIns="0" tIns="0" rIns="0" bIns="0" rtlCol="0" anchor="t"/>
          <a:lstStyle/>
          <a:p>
            <a:pPr indent="0" marL="0">
              <a:buNone/>
            </a:pPr>
            <a:r>
              <a:rPr lang="en-US" sz="1300" dirty="0">
                <a:solidFill>
                  <a:srgbClr val="EDF3EC"/>
                </a:solidFill>
                <a:latin typeface="Calibri" pitchFamily="34" charset="0"/>
                <a:ea typeface="Calibri" pitchFamily="34" charset="-122"/>
                <a:cs typeface="Calibri" pitchFamily="34" charset="-120"/>
              </a:rPr>
              <a:t>Fictional data only · 16699 is a web simulation</a:t>
            </a:r>
            <a:endParaRPr lang="en-US" sz="1300" dirty="0"/>
          </a:p>
        </p:txBody>
      </p:sp>
      <p:sp>
        <p:nvSpPr>
          <p:cNvPr id="7" name="Shape 5"/>
          <p:cNvSpPr/>
          <p:nvPr/>
        </p:nvSpPr>
        <p:spPr>
          <a:xfrm>
            <a:off x="7635240" y="1097280"/>
            <a:ext cx="4005072" cy="4005072"/>
          </a:xfrm>
          <a:prstGeom prst="roundRect">
            <a:avLst>
              <a:gd name="adj" fmla="val 4566"/>
            </a:avLst>
          </a:prstGeom>
          <a:solidFill>
            <a:srgbClr val="FFFFFF"/>
          </a:solidFill>
          <a:ln/>
        </p:spPr>
      </p:sp>
      <p:pic>
        <p:nvPicPr>
          <p:cNvPr id="8" name="Image 0" descr="QR code for legal-tech-rosy.vercel.app">
            <a:hlinkClick r:id="rId2" tooltip="legal-tech-rosy.vercel.app"/>
          </p:cNvPr>
          <p:cNvPicPr>
            <a:picLocks noChangeAspect="1"/>
          </p:cNvPicPr>
          <p:nvPr/>
        </p:nvPicPr>
        <p:blipFill>
          <a:blip r:embed="rId1"/>
          <a:stretch>
            <a:fillRect/>
          </a:stretch>
        </p:blipFill>
        <p:spPr>
          <a:xfrm>
            <a:off x="7982712" y="1444752"/>
            <a:ext cx="3310128" cy="3310128"/>
          </a:xfrm>
          <a:prstGeom prst="rect">
            <a:avLst/>
          </a:prstGeom>
        </p:spPr>
      </p:pic>
      <p:sp>
        <p:nvSpPr>
          <p:cNvPr id="9" name="Text 6"/>
          <p:cNvSpPr txBox="1"/>
          <p:nvPr/>
        </p:nvSpPr>
        <p:spPr>
          <a:xfrm>
            <a:off x="7635240" y="5230368"/>
            <a:ext cx="4005072" cy="329184"/>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Scan to open the prototype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28562D"/>
                </a:solidFill>
                <a:latin typeface="Calibri" pitchFamily="34" charset="0"/>
                <a:ea typeface="Calibri" pitchFamily="34" charset="-122"/>
                <a:cs typeface="Calibri" pitchFamily="34" charset="-120"/>
              </a:rPr>
              <a:t>BACKUP · 23-ITEM MAP · 1 OF 2</a:t>
            </a:r>
            <a:endParaRPr lang="en-US" sz="1200" dirty="0"/>
          </a:p>
        </p:txBody>
      </p:sp>
      <p:sp>
        <p:nvSpPr>
          <p:cNvPr id="3" name="Text 1"/>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B1E1D"/>
                </a:solidFill>
                <a:latin typeface="Cambria" pitchFamily="34" charset="0"/>
                <a:ea typeface="Cambria" pitchFamily="34" charset="-122"/>
                <a:cs typeface="Cambria" pitchFamily="34" charset="-120"/>
              </a:rPr>
              <a:t>Where each item lives: citizens and providers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514600"/>
                <a:gridCol w="1417320"/>
                <a:gridCol w="3063240"/>
                <a:gridCol w="2926080"/>
                <a:gridCol w="1170432"/>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2856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 the pitch</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2856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Page / route</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2856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Automated test</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2856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28562D"/>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A1 Moyuri</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BF3DB"/>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1</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BF3DB"/>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/voice; officer record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BF3DB"/>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tests/e2e/step4.spec.js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BF3DB"/>
                    </a:solidFill>
                  </a:tcPr>
                </a:tc>
                <a:tc>
                  <a:txBody>
                    <a:bodyPr/>
                    <a:lstStyle/>
                    <a:p>
                      <a:pPr indent="0" marL="0">
                        <a:buNone/>
                      </a:pPr>
                      <a:r>
                        <a:rPr lang="en-US" sz="1150" b="1" dirty="0">
                          <a:solidFill>
                            <a:srgbClr val="956400"/>
                          </a:solidFill>
                          <a:latin typeface="Calibri" pitchFamily="34" charset="0"/>
                          <a:ea typeface="Calibri" pitchFamily="34" charset="-122"/>
                          <a:cs typeface="Calibri" pitchFamily="34" charset="-120"/>
                        </a:rPr>
                        <a:t>Pending</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BF3DB"/>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A2 Ripon</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BF3DB"/>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1</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BF3DB"/>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/voice (keypad IVR)</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BF3DB"/>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tests/e2e/step4.spec.js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BF3DB"/>
                    </a:solidFill>
                  </a:tcPr>
                </a:tc>
                <a:tc>
                  <a:txBody>
                    <a:bodyPr/>
                    <a:lstStyle/>
                    <a:p>
                      <a:pPr indent="0" marL="0">
                        <a:buNone/>
                      </a:pPr>
                      <a:r>
                        <a:rPr lang="en-US" sz="1150" b="1" dirty="0">
                          <a:solidFill>
                            <a:srgbClr val="956400"/>
                          </a:solidFill>
                          <a:latin typeface="Calibri" pitchFamily="34" charset="0"/>
                          <a:ea typeface="Calibri" pitchFamily="34" charset="-122"/>
                          <a:cs typeface="Calibri" pitchFamily="34" charset="-120"/>
                        </a:rPr>
                        <a:t>Pending</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BF3DB"/>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A3 Nabila</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5</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/applications/:id; referrals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tests/e2e/step8.spec.js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A4 Nuching</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2, Bad Day</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/assisted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tests/e2e/step7.spec.js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A5 Malek</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6</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/cases/:id; Track → Ask by Voice</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step9.spec.js; voice-status.spec.js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B1 DLAO officer</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Flows 3–5</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 /applications/:id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step3, 6, 8, 10, 11 .spec.js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B2 Mediator</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4</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/applications/:id (mediation)</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tests/e2e/step12.spec.js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B3 16699 helpline</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Flows 1, 6</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 /voice; status lookup</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step3, 4, 6 .spec.js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B4 UDC entrepreneur</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2</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/assisted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tests/e2e/step7.spec.js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B5 Panel lawyer</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6</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/cases/:id; lawyer worklist</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tests/e2e/step9.spec.js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B6 Receiving DLAO</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5</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/referrals/:id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tests/e2e/step8.spec.js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B7 Case support</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3</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 search and reconstruction</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tests/e2e/step6.spec.js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989320"/>
            <a:ext cx="11094415" cy="457200"/>
          </a:xfrm>
          <a:prstGeom prst="rect">
            <a:avLst/>
          </a:prstGeom>
          <a:noFill/>
          <a:ln/>
        </p:spPr>
        <p:txBody>
          <a:bodyPr wrap="square" lIns="0" tIns="0" rIns="0" bIns="0" rtlCol="0" anchor="t"/>
          <a:lstStyle/>
          <a:p>
            <a:pPr indent="0" marL="0">
              <a:buNone/>
            </a:pPr>
            <a:r>
              <a:rPr lang="en-US" sz="1250" b="1" dirty="0">
                <a:solidFill>
                  <a:srgbClr val="956400"/>
                </a:solidFill>
                <a:latin typeface="Calibri" pitchFamily="34" charset="0"/>
                <a:ea typeface="Calibri" pitchFamily="34" charset="-122"/>
                <a:cs typeface="Calibri" pitchFamily="34" charset="-120"/>
              </a:rPr>
              <a:t>Pending — </a:t>
            </a:r>
            <a:pPr indent="0" marL="0">
              <a:buNone/>
            </a:pPr>
            <a:r>
              <a:rPr lang="en-US" sz="1250" dirty="0">
                <a:solidFill>
                  <a:srgbClr val="956400"/>
                </a:solidFill>
                <a:latin typeface="Calibri" pitchFamily="34" charset="0"/>
                <a:ea typeface="Calibri" pitchFamily="34" charset="-122"/>
                <a:cs typeface="Calibri" pitchFamily="34" charset="-120"/>
              </a:rPr>
              <a:t>A1: Moyuri's own confirm / correct screen is not built yet. A2: validation with a blind user has not been done; a keyboard-only test exists.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28562D"/>
                </a:solidFill>
                <a:latin typeface="Calibri" pitchFamily="34" charset="0"/>
                <a:ea typeface="Calibri" pitchFamily="34" charset="-122"/>
                <a:cs typeface="Calibri" pitchFamily="34" charset="-120"/>
              </a:rPr>
              <a:t>BACKUP · 23-ITEM MAP · 2 OF 2</a:t>
            </a:r>
            <a:endParaRPr lang="en-US" sz="1200" dirty="0"/>
          </a:p>
        </p:txBody>
      </p:sp>
      <p:sp>
        <p:nvSpPr>
          <p:cNvPr id="3" name="Text 1"/>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B1E1D"/>
                </a:solidFill>
                <a:latin typeface="Cambria" pitchFamily="34" charset="0"/>
                <a:ea typeface="Cambria" pitchFamily="34" charset="-122"/>
                <a:cs typeface="Cambria" pitchFamily="34" charset="-120"/>
              </a:rPr>
              <a:t>Where each item lives: technical challenges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514600"/>
                <a:gridCol w="1417320"/>
                <a:gridCol w="3063240"/>
                <a:gridCol w="2926080"/>
                <a:gridCol w="1170432"/>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2856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 the pitch</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2856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Page / route</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2856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Automated test</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2856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28562D"/>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T1 Lawyer accountability</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6</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Lawyer change, hold review, payments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tests/e2e/step9.spec.js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T2 Jurisdiction ping-pong</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5</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Referral panel; routing decision</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tests/e2e/step8.spec.js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T3 Related incidents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3</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/incidents/:groupId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tests/e2e/step10.spec.js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T4 Duplicate review</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3</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Duplicate review panel</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tests/e2e/step10.spec.js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T5 Bangla intake agent</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1</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/voice</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tests/e2e/step5.spec.js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T6 Document agent</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2</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Briefing on /applications/:id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tests/e2e/step7.spec.js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T7 Settlement draft</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4</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Mediation panel</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tests/e2e/step12.spec.js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T8 Multi-agent triage</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3</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Triage panel</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tests/e2e/step11.spec.js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T9 Offline sync</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Bad Day</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/assisted (offline)</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tests/e2e/step7.spec.js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T10 Low-bandwidth PWA</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2</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Light mode; service worker</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step7.spec.js; pwa/offline.spec.js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1E1D"/>
                          </a:solidFill>
                          <a:latin typeface="Calibri" pitchFamily="34" charset="0"/>
                          <a:ea typeface="Calibri" pitchFamily="34" charset="-122"/>
                          <a:cs typeface="Calibri" pitchFamily="34" charset="-120"/>
                        </a:rPr>
                        <a:t>T11 E-signature</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Flow 4</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/mediation/sign; verifier</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dirty="0">
                          <a:solidFill>
                            <a:srgbClr val="4E5751"/>
                          </a:solidFill>
                          <a:latin typeface="Calibri" pitchFamily="34" charset="0"/>
                          <a:ea typeface="Calibri" pitchFamily="34" charset="-122"/>
                          <a:cs typeface="Calibri" pitchFamily="34" charset="-120"/>
                        </a:rPr>
                        <a:t>tests/e2e/step12.spec.js</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c>
                  <a:txBody>
                    <a:bodyPr/>
                    <a:lstStyle/>
                    <a:p>
                      <a:pPr indent="0" marL="0">
                        <a:buNone/>
                      </a:pPr>
                      <a:r>
                        <a:rPr lang="en-US" sz="1150" b="1" dirty="0">
                          <a:solidFill>
                            <a:srgbClr val="28562D"/>
                          </a:solidFill>
                          <a:latin typeface="Calibri" pitchFamily="34" charset="0"/>
                          <a:ea typeface="Calibri" pitchFamily="34" charset="-122"/>
                          <a:cs typeface="Calibri" pitchFamily="34" charset="-120"/>
                        </a:rPr>
                        <a:t>Implemented</a:t>
                      </a:r>
                      <a:endParaRPr lang="en-US" sz="1150" dirty="0">
                        <a:latin typeface="Calibri" charset="0"/>
                        <a:ea typeface="Calibri" charset="0"/>
                        <a:cs typeface="Calibri" charset="0"/>
                      </a:endParaRPr>
                    </a:p>
                  </a:txBody>
                  <a:tcPr marL="91440" marR="91440" marT="18288" marB="18288" anchor="ctr">
                    <a:lnL w="9525" cap="flat" cmpd="sng" algn="ctr">
                      <a:solidFill>
                        <a:srgbClr val="E3E2DC"/>
                      </a:solidFill>
                      <a:prstDash val="solid"/>
                      <a:round/>
                      <a:headEnd type="none" w="med" len="med"/>
                      <a:tailEnd type="none" w="med" len="med"/>
                    </a:lnL>
                    <a:lnR w="9525" cap="flat" cmpd="sng" algn="ctr">
                      <a:solidFill>
                        <a:srgbClr val="E3E2DC"/>
                      </a:solidFill>
                      <a:prstDash val="solid"/>
                      <a:round/>
                      <a:headEnd type="none" w="med" len="med"/>
                      <a:tailEnd type="none" w="med" len="med"/>
                    </a:lnR>
                    <a:lnT w="9525" cap="flat" cmpd="sng" algn="ctr">
                      <a:solidFill>
                        <a:srgbClr val="E3E2DC"/>
                      </a:solidFill>
                      <a:prstDash val="solid"/>
                      <a:round/>
                      <a:headEnd type="none" w="med" len="med"/>
                      <a:tailEnd type="none" w="med" len="med"/>
                    </a:lnT>
                    <a:lnB w="9525" cap="flat" cmpd="sng" algn="ctr">
                      <a:solidFill>
                        <a:srgbClr val="E3E2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11480"/>
            <a:ext cx="6400800" cy="274320"/>
          </a:xfrm>
          <a:prstGeom prst="rect">
            <a:avLst/>
          </a:prstGeom>
          <a:noFill/>
          <a:ln/>
        </p:spPr>
        <p:txBody>
          <a:bodyPr wrap="square" lIns="0" tIns="0" rIns="0" bIns="0" rtlCol="0" anchor="t"/>
          <a:lstStyle/>
          <a:p>
            <a:pPr indent="0" marL="0">
              <a:buNone/>
            </a:pPr>
            <a:r>
              <a:rPr lang="en-US" sz="1200" b="1" spc="200" kern="0" dirty="0">
                <a:solidFill>
                  <a:srgbClr val="28562D"/>
                </a:solidFill>
                <a:latin typeface="Calibri" pitchFamily="34" charset="0"/>
                <a:ea typeface="Calibri" pitchFamily="34" charset="-122"/>
                <a:cs typeface="Calibri" pitchFamily="34" charset="-120"/>
              </a:rPr>
              <a:t>BACKUP · WHAT WE DO NOT CLAIM</a:t>
            </a:r>
            <a:endParaRPr lang="en-US" sz="1200" dirty="0"/>
          </a:p>
        </p:txBody>
      </p:sp>
      <p:sp>
        <p:nvSpPr>
          <p:cNvPr id="3" name="Text 1"/>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600" b="1" dirty="0">
                <a:solidFill>
                  <a:srgbClr val="1B1E1D"/>
                </a:solidFill>
                <a:latin typeface="Cambria" pitchFamily="34" charset="0"/>
                <a:ea typeface="Cambria" pitchFamily="34" charset="-122"/>
                <a:cs typeface="Cambria" pitchFamily="34" charset="-120"/>
              </a:rPr>
              <a:t>Honest limits</a:t>
            </a:r>
            <a:endParaRPr lang="en-US" sz="3600" dirty="0"/>
          </a:p>
        </p:txBody>
      </p:sp>
      <p:sp>
        <p:nvSpPr>
          <p:cNvPr id="4" name="Shape 2"/>
          <p:cNvSpPr/>
          <p:nvPr/>
        </p:nvSpPr>
        <p:spPr>
          <a:xfrm>
            <a:off x="548640" y="1600200"/>
            <a:ext cx="5432908" cy="932688"/>
          </a:xfrm>
          <a:prstGeom prst="roundRect">
            <a:avLst>
              <a:gd name="adj" fmla="val 11765"/>
            </a:avLst>
          </a:prstGeom>
          <a:solidFill>
            <a:srgbClr val="FFFFFF"/>
          </a:solidFill>
          <a:ln w="9525">
            <a:solidFill>
              <a:srgbClr val="E3E2DC"/>
            </a:solidFill>
            <a:prstDash val="solid"/>
          </a:ln>
        </p:spPr>
      </p:sp>
      <p:sp>
        <p:nvSpPr>
          <p:cNvPr id="5" name="Shape 3"/>
          <p:cNvSpPr/>
          <p:nvPr/>
        </p:nvSpPr>
        <p:spPr>
          <a:xfrm>
            <a:off x="749808" y="1819656"/>
            <a:ext cx="475488" cy="475488"/>
          </a:xfrm>
          <a:prstGeom prst="ellipse">
            <a:avLst/>
          </a:prstGeom>
          <a:solidFill>
            <a:srgbClr val="4E5751"/>
          </a:solidFill>
          <a:ln/>
        </p:spPr>
      </p:sp>
      <p:pic>
        <p:nvPicPr>
          <p:cNvPr id="6" name="Image 0" descr="preencoded.png">    </p:cNvPr>
          <p:cNvPicPr>
            <a:picLocks noChangeAspect="1"/>
          </p:cNvPicPr>
          <p:nvPr/>
        </p:nvPicPr>
        <p:blipFill>
          <a:blip r:embed="rId1"/>
          <a:stretch>
            <a:fillRect/>
          </a:stretch>
        </p:blipFill>
        <p:spPr>
          <a:xfrm>
            <a:off x="863925" y="1933773"/>
            <a:ext cx="247254" cy="247254"/>
          </a:xfrm>
          <a:prstGeom prst="rect">
            <a:avLst/>
          </a:prstGeom>
        </p:spPr>
      </p:pic>
      <p:sp>
        <p:nvSpPr>
          <p:cNvPr id="7" name="Text 4"/>
          <p:cNvSpPr txBox="1"/>
          <p:nvPr/>
        </p:nvSpPr>
        <p:spPr>
          <a:xfrm>
            <a:off x="1389888" y="1691640"/>
            <a:ext cx="4408780" cy="749808"/>
          </a:xfrm>
          <a:prstGeom prst="rect">
            <a:avLst/>
          </a:prstGeom>
          <a:noFill/>
          <a:ln/>
        </p:spPr>
        <p:txBody>
          <a:bodyPr wrap="square" lIns="0" tIns="0" rIns="0" bIns="0" rtlCol="0" anchor="ctr"/>
          <a:lstStyle/>
          <a:p>
            <a:pPr indent="0" marL="0">
              <a:buNone/>
            </a:pPr>
            <a:r>
              <a:rPr lang="en-US" sz="1500" b="1" dirty="0">
                <a:solidFill>
                  <a:srgbClr val="1B1E1D"/>
                </a:solidFill>
                <a:latin typeface="Calibri" pitchFamily="34" charset="0"/>
                <a:ea typeface="Calibri" pitchFamily="34" charset="-122"/>
                <a:cs typeface="Calibri" pitchFamily="34" charset="-120"/>
              </a:rPr>
              <a:t>16699 is simulated</a:t>
            </a:r>
            <a:endParaRPr lang="en-US" sz="1500" dirty="0"/>
          </a:p>
          <a:p>
            <a:pPr indent="0" marL="0">
              <a:buNone/>
            </a:pPr>
            <a:r>
              <a:rPr lang="en-US" sz="1250" dirty="0">
                <a:solidFill>
                  <a:srgbClr val="4E5751"/>
                </a:solidFill>
                <a:latin typeface="Calibri" pitchFamily="34" charset="0"/>
                <a:ea typeface="Calibri" pitchFamily="34" charset="-122"/>
                <a:cs typeface="Calibri" pitchFamily="34" charset="-120"/>
              </a:rPr>
              <a:t>A web simulation of the call. No real calls, SMS, telecom link or government systems.</a:t>
            </a:r>
            <a:endParaRPr lang="en-US" sz="1500" dirty="0"/>
          </a:p>
        </p:txBody>
      </p:sp>
      <p:sp>
        <p:nvSpPr>
          <p:cNvPr id="8" name="Shape 5"/>
          <p:cNvSpPr/>
          <p:nvPr/>
        </p:nvSpPr>
        <p:spPr>
          <a:xfrm>
            <a:off x="6210148" y="1600200"/>
            <a:ext cx="5432908" cy="932688"/>
          </a:xfrm>
          <a:prstGeom prst="roundRect">
            <a:avLst>
              <a:gd name="adj" fmla="val 11765"/>
            </a:avLst>
          </a:prstGeom>
          <a:solidFill>
            <a:srgbClr val="FFFFFF"/>
          </a:solidFill>
          <a:ln w="9525">
            <a:solidFill>
              <a:srgbClr val="E3E2DC"/>
            </a:solidFill>
            <a:prstDash val="solid"/>
          </a:ln>
        </p:spPr>
      </p:sp>
      <p:sp>
        <p:nvSpPr>
          <p:cNvPr id="9" name="Shape 6"/>
          <p:cNvSpPr/>
          <p:nvPr/>
        </p:nvSpPr>
        <p:spPr>
          <a:xfrm>
            <a:off x="6411316" y="1819656"/>
            <a:ext cx="475488" cy="475488"/>
          </a:xfrm>
          <a:prstGeom prst="ellipse">
            <a:avLst/>
          </a:prstGeom>
          <a:solidFill>
            <a:srgbClr val="4E5751"/>
          </a:solidFill>
          <a:ln/>
        </p:spPr>
      </p:sp>
      <p:pic>
        <p:nvPicPr>
          <p:cNvPr id="10" name="Image 1" descr="preencoded.png">    </p:cNvPr>
          <p:cNvPicPr>
            <a:picLocks noChangeAspect="1"/>
          </p:cNvPicPr>
          <p:nvPr/>
        </p:nvPicPr>
        <p:blipFill>
          <a:blip r:embed="rId2"/>
          <a:stretch>
            <a:fillRect/>
          </a:stretch>
        </p:blipFill>
        <p:spPr>
          <a:xfrm>
            <a:off x="6525433" y="1933773"/>
            <a:ext cx="247254" cy="247254"/>
          </a:xfrm>
          <a:prstGeom prst="rect">
            <a:avLst/>
          </a:prstGeom>
        </p:spPr>
      </p:pic>
      <p:sp>
        <p:nvSpPr>
          <p:cNvPr id="11" name="Text 7"/>
          <p:cNvSpPr txBox="1"/>
          <p:nvPr/>
        </p:nvSpPr>
        <p:spPr>
          <a:xfrm>
            <a:off x="7051396" y="1691640"/>
            <a:ext cx="4408780" cy="749808"/>
          </a:xfrm>
          <a:prstGeom prst="rect">
            <a:avLst/>
          </a:prstGeom>
          <a:noFill/>
          <a:ln/>
        </p:spPr>
        <p:txBody>
          <a:bodyPr wrap="square" lIns="0" tIns="0" rIns="0" bIns="0" rtlCol="0" anchor="ctr"/>
          <a:lstStyle/>
          <a:p>
            <a:pPr indent="0" marL="0">
              <a:buNone/>
            </a:pPr>
            <a:r>
              <a:rPr lang="en-US" sz="1500" b="1" dirty="0">
                <a:solidFill>
                  <a:srgbClr val="1B1E1D"/>
                </a:solidFill>
                <a:latin typeface="Calibri" pitchFamily="34" charset="0"/>
                <a:ea typeface="Calibri" pitchFamily="34" charset="-122"/>
                <a:cs typeface="Calibri" pitchFamily="34" charset="-120"/>
              </a:rPr>
              <a:t>Fictional data only</a:t>
            </a:r>
            <a:endParaRPr lang="en-US" sz="1500" dirty="0"/>
          </a:p>
          <a:p>
            <a:pPr indent="0" marL="0">
              <a:buNone/>
            </a:pPr>
            <a:r>
              <a:rPr lang="en-US" sz="1250" dirty="0">
                <a:solidFill>
                  <a:srgbClr val="4E5751"/>
                </a:solidFill>
                <a:latin typeface="Calibri" pitchFamily="34" charset="0"/>
                <a:ea typeface="Calibri" pitchFamily="34" charset="-122"/>
                <a:cs typeface="Calibri" pitchFamily="34" charset="-120"/>
              </a:rPr>
              <a:t>No real beneficiaries, NID numbers, cases or payments are used.</a:t>
            </a:r>
            <a:endParaRPr lang="en-US" sz="1500" dirty="0"/>
          </a:p>
        </p:txBody>
      </p:sp>
      <p:sp>
        <p:nvSpPr>
          <p:cNvPr id="12" name="Shape 8"/>
          <p:cNvSpPr/>
          <p:nvPr/>
        </p:nvSpPr>
        <p:spPr>
          <a:xfrm>
            <a:off x="548640" y="2715768"/>
            <a:ext cx="5432908" cy="932688"/>
          </a:xfrm>
          <a:prstGeom prst="roundRect">
            <a:avLst>
              <a:gd name="adj" fmla="val 11765"/>
            </a:avLst>
          </a:prstGeom>
          <a:solidFill>
            <a:srgbClr val="FBF3DB"/>
          </a:solidFill>
          <a:ln w="9525">
            <a:solidFill>
              <a:srgbClr val="E3E2DC"/>
            </a:solidFill>
            <a:prstDash val="solid"/>
          </a:ln>
        </p:spPr>
      </p:sp>
      <p:sp>
        <p:nvSpPr>
          <p:cNvPr id="13" name="Shape 9"/>
          <p:cNvSpPr/>
          <p:nvPr/>
        </p:nvSpPr>
        <p:spPr>
          <a:xfrm>
            <a:off x="749808" y="2935224"/>
            <a:ext cx="475488" cy="475488"/>
          </a:xfrm>
          <a:prstGeom prst="ellipse">
            <a:avLst/>
          </a:prstGeom>
          <a:solidFill>
            <a:srgbClr val="956400"/>
          </a:solidFill>
          <a:ln/>
        </p:spPr>
      </p:sp>
      <p:pic>
        <p:nvPicPr>
          <p:cNvPr id="14" name="Image 2" descr="preencoded.png">    </p:cNvPr>
          <p:cNvPicPr>
            <a:picLocks noChangeAspect="1"/>
          </p:cNvPicPr>
          <p:nvPr/>
        </p:nvPicPr>
        <p:blipFill>
          <a:blip r:embed="rId3"/>
          <a:stretch>
            <a:fillRect/>
          </a:stretch>
        </p:blipFill>
        <p:spPr>
          <a:xfrm>
            <a:off x="863925" y="3049341"/>
            <a:ext cx="247254" cy="247254"/>
          </a:xfrm>
          <a:prstGeom prst="rect">
            <a:avLst/>
          </a:prstGeom>
        </p:spPr>
      </p:pic>
      <p:sp>
        <p:nvSpPr>
          <p:cNvPr id="15" name="Text 10"/>
          <p:cNvSpPr txBox="1"/>
          <p:nvPr/>
        </p:nvSpPr>
        <p:spPr>
          <a:xfrm>
            <a:off x="1389888" y="2807208"/>
            <a:ext cx="4408780" cy="749808"/>
          </a:xfrm>
          <a:prstGeom prst="rect">
            <a:avLst/>
          </a:prstGeom>
          <a:noFill/>
          <a:ln/>
        </p:spPr>
        <p:txBody>
          <a:bodyPr wrap="square" lIns="0" tIns="0" rIns="0" bIns="0" rtlCol="0" anchor="ctr"/>
          <a:lstStyle/>
          <a:p>
            <a:pPr indent="0" marL="0">
              <a:buNone/>
            </a:pPr>
            <a:r>
              <a:rPr lang="en-US" sz="1500" b="1" dirty="0">
                <a:solidFill>
                  <a:srgbClr val="956400"/>
                </a:solidFill>
                <a:latin typeface="Calibri" pitchFamily="34" charset="0"/>
                <a:ea typeface="Calibri" pitchFamily="34" charset="-122"/>
                <a:cs typeface="Calibri" pitchFamily="34" charset="-120"/>
              </a:rPr>
              <a:t>Blind-user test pending</a:t>
            </a:r>
            <a:endParaRPr lang="en-US" sz="1500" dirty="0"/>
          </a:p>
          <a:p>
            <a:pPr indent="0" marL="0">
              <a:buNone/>
            </a:pPr>
            <a:r>
              <a:rPr lang="en-US" sz="1250" dirty="0">
                <a:solidFill>
                  <a:srgbClr val="4E5751"/>
                </a:solidFill>
                <a:latin typeface="Calibri" pitchFamily="34" charset="0"/>
                <a:ea typeface="Calibri" pitchFamily="34" charset="-122"/>
                <a:cs typeface="Calibri" pitchFamily="34" charset="-120"/>
              </a:rPr>
              <a:t>Ripon's call passes a keyboard-only test; a blind user has not yet validated it.</a:t>
            </a:r>
            <a:endParaRPr lang="en-US" sz="1500" dirty="0"/>
          </a:p>
        </p:txBody>
      </p:sp>
      <p:sp>
        <p:nvSpPr>
          <p:cNvPr id="16" name="Shape 11"/>
          <p:cNvSpPr/>
          <p:nvPr/>
        </p:nvSpPr>
        <p:spPr>
          <a:xfrm>
            <a:off x="6210148" y="2715768"/>
            <a:ext cx="5432908" cy="932688"/>
          </a:xfrm>
          <a:prstGeom prst="roundRect">
            <a:avLst>
              <a:gd name="adj" fmla="val 11765"/>
            </a:avLst>
          </a:prstGeom>
          <a:solidFill>
            <a:srgbClr val="FBF3DB"/>
          </a:solidFill>
          <a:ln w="9525">
            <a:solidFill>
              <a:srgbClr val="E3E2DC"/>
            </a:solidFill>
            <a:prstDash val="solid"/>
          </a:ln>
        </p:spPr>
      </p:sp>
      <p:sp>
        <p:nvSpPr>
          <p:cNvPr id="17" name="Shape 12"/>
          <p:cNvSpPr/>
          <p:nvPr/>
        </p:nvSpPr>
        <p:spPr>
          <a:xfrm>
            <a:off x="6411316" y="2935224"/>
            <a:ext cx="475488" cy="475488"/>
          </a:xfrm>
          <a:prstGeom prst="ellipse">
            <a:avLst/>
          </a:prstGeom>
          <a:solidFill>
            <a:srgbClr val="956400"/>
          </a:solidFill>
          <a:ln/>
        </p:spPr>
      </p:sp>
      <p:pic>
        <p:nvPicPr>
          <p:cNvPr id="18" name="Image 3" descr="preencoded.png">    </p:cNvPr>
          <p:cNvPicPr>
            <a:picLocks noChangeAspect="1"/>
          </p:cNvPicPr>
          <p:nvPr/>
        </p:nvPicPr>
        <p:blipFill>
          <a:blip r:embed="rId4"/>
          <a:stretch>
            <a:fillRect/>
          </a:stretch>
        </p:blipFill>
        <p:spPr>
          <a:xfrm>
            <a:off x="6525433" y="3049341"/>
            <a:ext cx="247254" cy="247254"/>
          </a:xfrm>
          <a:prstGeom prst="rect">
            <a:avLst/>
          </a:prstGeom>
        </p:spPr>
      </p:pic>
      <p:sp>
        <p:nvSpPr>
          <p:cNvPr id="19" name="Text 13"/>
          <p:cNvSpPr txBox="1"/>
          <p:nvPr/>
        </p:nvSpPr>
        <p:spPr>
          <a:xfrm>
            <a:off x="7051396" y="2807208"/>
            <a:ext cx="4408780" cy="749808"/>
          </a:xfrm>
          <a:prstGeom prst="rect">
            <a:avLst/>
          </a:prstGeom>
          <a:noFill/>
          <a:ln/>
        </p:spPr>
        <p:txBody>
          <a:bodyPr wrap="square" lIns="0" tIns="0" rIns="0" bIns="0" rtlCol="0" anchor="ctr"/>
          <a:lstStyle/>
          <a:p>
            <a:pPr indent="0" marL="0">
              <a:buNone/>
            </a:pPr>
            <a:r>
              <a:rPr lang="en-US" sz="1500" b="1" dirty="0">
                <a:solidFill>
                  <a:srgbClr val="956400"/>
                </a:solidFill>
                <a:latin typeface="Calibri" pitchFamily="34" charset="0"/>
                <a:ea typeface="Calibri" pitchFamily="34" charset="-122"/>
                <a:cs typeface="Calibri" pitchFamily="34" charset="-120"/>
              </a:rPr>
              <a:t>Applicant self-confirmation pending</a:t>
            </a:r>
            <a:endParaRPr lang="en-US" sz="1500" dirty="0"/>
          </a:p>
          <a:p>
            <a:pPr indent="0" marL="0">
              <a:buNone/>
            </a:pPr>
            <a:r>
              <a:rPr lang="en-US" sz="1250" dirty="0">
                <a:solidFill>
                  <a:srgbClr val="4E5751"/>
                </a:solidFill>
                <a:latin typeface="Calibri" pitchFamily="34" charset="0"/>
                <a:ea typeface="Calibri" pitchFamily="34" charset="-122"/>
                <a:cs typeface="Calibri" pitchFamily="34" charset="-120"/>
              </a:rPr>
              <a:t>Moyuri cannot yet confirm or correct Ripon's report herself; it stays marked unconfirmed.</a:t>
            </a:r>
            <a:endParaRPr lang="en-US" sz="1500" dirty="0"/>
          </a:p>
        </p:txBody>
      </p:sp>
      <p:sp>
        <p:nvSpPr>
          <p:cNvPr id="20" name="Shape 14"/>
          <p:cNvSpPr/>
          <p:nvPr/>
        </p:nvSpPr>
        <p:spPr>
          <a:xfrm>
            <a:off x="548640" y="3831336"/>
            <a:ext cx="5432908" cy="932688"/>
          </a:xfrm>
          <a:prstGeom prst="roundRect">
            <a:avLst>
              <a:gd name="adj" fmla="val 11765"/>
            </a:avLst>
          </a:prstGeom>
          <a:solidFill>
            <a:srgbClr val="FBF3DB"/>
          </a:solidFill>
          <a:ln w="9525">
            <a:solidFill>
              <a:srgbClr val="E3E2DC"/>
            </a:solidFill>
            <a:prstDash val="solid"/>
          </a:ln>
        </p:spPr>
      </p:sp>
      <p:sp>
        <p:nvSpPr>
          <p:cNvPr id="21" name="Shape 15"/>
          <p:cNvSpPr/>
          <p:nvPr/>
        </p:nvSpPr>
        <p:spPr>
          <a:xfrm>
            <a:off x="749808" y="4050792"/>
            <a:ext cx="475488" cy="475488"/>
          </a:xfrm>
          <a:prstGeom prst="ellipse">
            <a:avLst/>
          </a:prstGeom>
          <a:solidFill>
            <a:srgbClr val="956400"/>
          </a:solidFill>
          <a:ln/>
        </p:spPr>
      </p:sp>
      <p:pic>
        <p:nvPicPr>
          <p:cNvPr id="22" name="Image 4" descr="preencoded.png">    </p:cNvPr>
          <p:cNvPicPr>
            <a:picLocks noChangeAspect="1"/>
          </p:cNvPicPr>
          <p:nvPr/>
        </p:nvPicPr>
        <p:blipFill>
          <a:blip r:embed="rId5"/>
          <a:stretch>
            <a:fillRect/>
          </a:stretch>
        </p:blipFill>
        <p:spPr>
          <a:xfrm>
            <a:off x="863925" y="4164909"/>
            <a:ext cx="247254" cy="247254"/>
          </a:xfrm>
          <a:prstGeom prst="rect">
            <a:avLst/>
          </a:prstGeom>
        </p:spPr>
      </p:pic>
      <p:sp>
        <p:nvSpPr>
          <p:cNvPr id="23" name="Text 16"/>
          <p:cNvSpPr txBox="1"/>
          <p:nvPr/>
        </p:nvSpPr>
        <p:spPr>
          <a:xfrm>
            <a:off x="1389888" y="3922776"/>
            <a:ext cx="4408780" cy="749808"/>
          </a:xfrm>
          <a:prstGeom prst="rect">
            <a:avLst/>
          </a:prstGeom>
          <a:noFill/>
          <a:ln/>
        </p:spPr>
        <p:txBody>
          <a:bodyPr wrap="square" lIns="0" tIns="0" rIns="0" bIns="0" rtlCol="0" anchor="ctr"/>
          <a:lstStyle/>
          <a:p>
            <a:pPr indent="0" marL="0">
              <a:buNone/>
            </a:pPr>
            <a:r>
              <a:rPr lang="en-US" sz="1500" b="1" dirty="0">
                <a:solidFill>
                  <a:srgbClr val="956400"/>
                </a:solidFill>
                <a:latin typeface="Calibri" pitchFamily="34" charset="0"/>
                <a:ea typeface="Calibri" pitchFamily="34" charset="-122"/>
                <a:cs typeface="Calibri" pitchFamily="34" charset="-120"/>
              </a:rPr>
              <a:t>Law-team approvals pending</a:t>
            </a:r>
            <a:endParaRPr lang="en-US" sz="1500" dirty="0"/>
          </a:p>
          <a:p>
            <a:pPr indent="0" marL="0">
              <a:buNone/>
            </a:pPr>
            <a:r>
              <a:rPr lang="en-US" sz="1250" dirty="0">
                <a:solidFill>
                  <a:srgbClr val="4E5751"/>
                </a:solidFill>
                <a:latin typeface="Calibri" pitchFamily="34" charset="0"/>
                <a:ea typeface="Calibri" pitchFamily="34" charset="-122"/>
                <a:cs typeface="Calibri" pitchFamily="34" charset="-120"/>
              </a:rPr>
              <a:t>Urgency criteria, thresholds, caller-verification wording and settlement template wording.</a:t>
            </a:r>
            <a:endParaRPr lang="en-US" sz="1500" dirty="0"/>
          </a:p>
        </p:txBody>
      </p:sp>
      <p:sp>
        <p:nvSpPr>
          <p:cNvPr id="24" name="Shape 17"/>
          <p:cNvSpPr/>
          <p:nvPr/>
        </p:nvSpPr>
        <p:spPr>
          <a:xfrm>
            <a:off x="6210148" y="3831336"/>
            <a:ext cx="5432908" cy="932688"/>
          </a:xfrm>
          <a:prstGeom prst="roundRect">
            <a:avLst>
              <a:gd name="adj" fmla="val 11765"/>
            </a:avLst>
          </a:prstGeom>
          <a:solidFill>
            <a:srgbClr val="FFFFFF"/>
          </a:solidFill>
          <a:ln w="9525">
            <a:solidFill>
              <a:srgbClr val="E3E2DC"/>
            </a:solidFill>
            <a:prstDash val="solid"/>
          </a:ln>
        </p:spPr>
      </p:sp>
      <p:sp>
        <p:nvSpPr>
          <p:cNvPr id="25" name="Shape 18"/>
          <p:cNvSpPr/>
          <p:nvPr/>
        </p:nvSpPr>
        <p:spPr>
          <a:xfrm>
            <a:off x="6411316" y="4050792"/>
            <a:ext cx="475488" cy="475488"/>
          </a:xfrm>
          <a:prstGeom prst="ellipse">
            <a:avLst/>
          </a:prstGeom>
          <a:solidFill>
            <a:srgbClr val="4E5751"/>
          </a:solidFill>
          <a:ln/>
        </p:spPr>
      </p:sp>
      <p:pic>
        <p:nvPicPr>
          <p:cNvPr id="26" name="Image 5" descr="preencoded.png">    </p:cNvPr>
          <p:cNvPicPr>
            <a:picLocks noChangeAspect="1"/>
          </p:cNvPicPr>
          <p:nvPr/>
        </p:nvPicPr>
        <p:blipFill>
          <a:blip r:embed="rId6"/>
          <a:stretch>
            <a:fillRect/>
          </a:stretch>
        </p:blipFill>
        <p:spPr>
          <a:xfrm>
            <a:off x="6525433" y="4164909"/>
            <a:ext cx="247254" cy="247254"/>
          </a:xfrm>
          <a:prstGeom prst="rect">
            <a:avLst/>
          </a:prstGeom>
        </p:spPr>
      </p:pic>
      <p:sp>
        <p:nvSpPr>
          <p:cNvPr id="27" name="Text 19"/>
          <p:cNvSpPr txBox="1"/>
          <p:nvPr/>
        </p:nvSpPr>
        <p:spPr>
          <a:xfrm>
            <a:off x="7051396" y="3922776"/>
            <a:ext cx="4408780" cy="749808"/>
          </a:xfrm>
          <a:prstGeom prst="rect">
            <a:avLst/>
          </a:prstGeom>
          <a:noFill/>
          <a:ln/>
        </p:spPr>
        <p:txBody>
          <a:bodyPr wrap="square" lIns="0" tIns="0" rIns="0" bIns="0" rtlCol="0" anchor="ctr"/>
          <a:lstStyle/>
          <a:p>
            <a:pPr indent="0" marL="0">
              <a:buNone/>
            </a:pPr>
            <a:r>
              <a:rPr lang="en-US" sz="1500" b="1" dirty="0">
                <a:solidFill>
                  <a:srgbClr val="1B1E1D"/>
                </a:solidFill>
                <a:latin typeface="Calibri" pitchFamily="34" charset="0"/>
                <a:ea typeface="Calibri" pitchFamily="34" charset="-122"/>
                <a:cs typeface="Calibri" pitchFamily="34" charset="-120"/>
              </a:rPr>
              <a:t>Signature is not enforceability</a:t>
            </a:r>
            <a:endParaRPr lang="en-US" sz="1500" dirty="0"/>
          </a:p>
          <a:p>
            <a:pPr indent="0" marL="0">
              <a:buNone/>
            </a:pPr>
            <a:r>
              <a:rPr lang="en-US" sz="1250" dirty="0">
                <a:solidFill>
                  <a:srgbClr val="4E5751"/>
                </a:solidFill>
                <a:latin typeface="Calibri" pitchFamily="34" charset="0"/>
                <a:ea typeface="Calibri" pitchFamily="34" charset="-122"/>
                <a:cs typeface="Calibri" pitchFamily="34" charset="-120"/>
              </a:rPr>
              <a:t>E-signatures are integrity-verifiable; alone they do not prove identity or legal effect.</a:t>
            </a:r>
            <a:endParaRPr lang="en-US" sz="1500" dirty="0"/>
          </a:p>
        </p:txBody>
      </p:sp>
      <p:sp>
        <p:nvSpPr>
          <p:cNvPr id="28" name="Shape 20"/>
          <p:cNvSpPr/>
          <p:nvPr/>
        </p:nvSpPr>
        <p:spPr>
          <a:xfrm>
            <a:off x="548640" y="4946904"/>
            <a:ext cx="5432908" cy="932688"/>
          </a:xfrm>
          <a:prstGeom prst="roundRect">
            <a:avLst>
              <a:gd name="adj" fmla="val 11765"/>
            </a:avLst>
          </a:prstGeom>
          <a:solidFill>
            <a:srgbClr val="FFFFFF"/>
          </a:solidFill>
          <a:ln w="9525">
            <a:solidFill>
              <a:srgbClr val="E3E2DC"/>
            </a:solidFill>
            <a:prstDash val="solid"/>
          </a:ln>
        </p:spPr>
      </p:sp>
      <p:sp>
        <p:nvSpPr>
          <p:cNvPr id="29" name="Shape 21"/>
          <p:cNvSpPr/>
          <p:nvPr/>
        </p:nvSpPr>
        <p:spPr>
          <a:xfrm>
            <a:off x="749808" y="5166360"/>
            <a:ext cx="475488" cy="475488"/>
          </a:xfrm>
          <a:prstGeom prst="ellipse">
            <a:avLst/>
          </a:prstGeom>
          <a:solidFill>
            <a:srgbClr val="4E5751"/>
          </a:solidFill>
          <a:ln/>
        </p:spPr>
      </p:sp>
      <p:pic>
        <p:nvPicPr>
          <p:cNvPr id="30" name="Image 6" descr="preencoded.png">    </p:cNvPr>
          <p:cNvPicPr>
            <a:picLocks noChangeAspect="1"/>
          </p:cNvPicPr>
          <p:nvPr/>
        </p:nvPicPr>
        <p:blipFill>
          <a:blip r:embed="rId7"/>
          <a:stretch>
            <a:fillRect/>
          </a:stretch>
        </p:blipFill>
        <p:spPr>
          <a:xfrm>
            <a:off x="863925" y="5280477"/>
            <a:ext cx="247254" cy="247254"/>
          </a:xfrm>
          <a:prstGeom prst="rect">
            <a:avLst/>
          </a:prstGeom>
        </p:spPr>
      </p:pic>
      <p:sp>
        <p:nvSpPr>
          <p:cNvPr id="31" name="Text 22"/>
          <p:cNvSpPr txBox="1"/>
          <p:nvPr/>
        </p:nvSpPr>
        <p:spPr>
          <a:xfrm>
            <a:off x="1389888" y="5038344"/>
            <a:ext cx="4408780" cy="749808"/>
          </a:xfrm>
          <a:prstGeom prst="rect">
            <a:avLst/>
          </a:prstGeom>
          <a:noFill/>
          <a:ln/>
        </p:spPr>
        <p:txBody>
          <a:bodyPr wrap="square" lIns="0" tIns="0" rIns="0" bIns="0" rtlCol="0" anchor="ctr"/>
          <a:lstStyle/>
          <a:p>
            <a:pPr indent="0" marL="0">
              <a:buNone/>
            </a:pPr>
            <a:r>
              <a:rPr lang="en-US" sz="1500" b="1" dirty="0">
                <a:solidFill>
                  <a:srgbClr val="1B1E1D"/>
                </a:solidFill>
                <a:latin typeface="Calibri" pitchFamily="34" charset="0"/>
                <a:ea typeface="Calibri" pitchFamily="34" charset="-122"/>
                <a:cs typeface="Calibri" pitchFamily="34" charset="-120"/>
              </a:rPr>
              <a:t>Certification is not a decree</a:t>
            </a:r>
            <a:endParaRPr lang="en-US" sz="1500" dirty="0"/>
          </a:p>
          <a:p>
            <a:pPr indent="0" marL="0">
              <a:buNone/>
            </a:pPr>
            <a:r>
              <a:rPr lang="en-US" sz="1250" dirty="0">
                <a:solidFill>
                  <a:srgbClr val="4E5751"/>
                </a:solidFill>
                <a:latin typeface="Calibri" pitchFamily="34" charset="0"/>
                <a:ea typeface="Calibri" pitchFamily="34" charset="-122"/>
                <a:cs typeface="Calibri" pitchFamily="34" charset="-120"/>
              </a:rPr>
              <a:t>The CLAO certification is recorded; it is not presented as a court decree.</a:t>
            </a:r>
            <a:endParaRPr lang="en-US" sz="1500" dirty="0"/>
          </a:p>
        </p:txBody>
      </p:sp>
      <p:sp>
        <p:nvSpPr>
          <p:cNvPr id="32" name="Shape 23"/>
          <p:cNvSpPr/>
          <p:nvPr/>
        </p:nvSpPr>
        <p:spPr>
          <a:xfrm>
            <a:off x="6210148" y="4946904"/>
            <a:ext cx="5432908" cy="932688"/>
          </a:xfrm>
          <a:prstGeom prst="roundRect">
            <a:avLst>
              <a:gd name="adj" fmla="val 11765"/>
            </a:avLst>
          </a:prstGeom>
          <a:solidFill>
            <a:srgbClr val="FFFFFF"/>
          </a:solidFill>
          <a:ln w="9525">
            <a:solidFill>
              <a:srgbClr val="E3E2DC"/>
            </a:solidFill>
            <a:prstDash val="solid"/>
          </a:ln>
        </p:spPr>
      </p:sp>
      <p:sp>
        <p:nvSpPr>
          <p:cNvPr id="33" name="Shape 24"/>
          <p:cNvSpPr/>
          <p:nvPr/>
        </p:nvSpPr>
        <p:spPr>
          <a:xfrm>
            <a:off x="6411316" y="5166360"/>
            <a:ext cx="475488" cy="475488"/>
          </a:xfrm>
          <a:prstGeom prst="ellipse">
            <a:avLst/>
          </a:prstGeom>
          <a:solidFill>
            <a:srgbClr val="4E5751"/>
          </a:solidFill>
          <a:ln/>
        </p:spPr>
      </p:sp>
      <p:pic>
        <p:nvPicPr>
          <p:cNvPr id="34" name="Image 7" descr="preencoded.png">    </p:cNvPr>
          <p:cNvPicPr>
            <a:picLocks noChangeAspect="1"/>
          </p:cNvPicPr>
          <p:nvPr/>
        </p:nvPicPr>
        <p:blipFill>
          <a:blip r:embed="rId8"/>
          <a:stretch>
            <a:fillRect/>
          </a:stretch>
        </p:blipFill>
        <p:spPr>
          <a:xfrm>
            <a:off x="6525433" y="5280477"/>
            <a:ext cx="247254" cy="247254"/>
          </a:xfrm>
          <a:prstGeom prst="rect">
            <a:avLst/>
          </a:prstGeom>
        </p:spPr>
      </p:pic>
      <p:sp>
        <p:nvSpPr>
          <p:cNvPr id="35" name="Text 25"/>
          <p:cNvSpPr txBox="1"/>
          <p:nvPr/>
        </p:nvSpPr>
        <p:spPr>
          <a:xfrm>
            <a:off x="7051396" y="5038344"/>
            <a:ext cx="4408780" cy="749808"/>
          </a:xfrm>
          <a:prstGeom prst="rect">
            <a:avLst/>
          </a:prstGeom>
          <a:noFill/>
          <a:ln/>
        </p:spPr>
        <p:txBody>
          <a:bodyPr wrap="square" lIns="0" tIns="0" rIns="0" bIns="0" rtlCol="0" anchor="ctr"/>
          <a:lstStyle/>
          <a:p>
            <a:pPr indent="0" marL="0">
              <a:buNone/>
            </a:pPr>
            <a:r>
              <a:rPr lang="en-US" sz="1500" b="1" dirty="0">
                <a:solidFill>
                  <a:srgbClr val="1B1E1D"/>
                </a:solidFill>
                <a:latin typeface="Calibri" pitchFamily="34" charset="0"/>
                <a:ea typeface="Calibri" pitchFamily="34" charset="-122"/>
                <a:cs typeface="Calibri" pitchFamily="34" charset="-120"/>
              </a:rPr>
              <a:t>Text documents only</a:t>
            </a:r>
            <a:endParaRPr lang="en-US" sz="1500" dirty="0"/>
          </a:p>
          <a:p>
            <a:pPr indent="0" marL="0">
              <a:buNone/>
            </a:pPr>
            <a:r>
              <a:rPr lang="en-US" sz="1250" dirty="0">
                <a:solidFill>
                  <a:srgbClr val="4E5751"/>
                </a:solidFill>
                <a:latin typeface="Calibri" pitchFamily="34" charset="0"/>
                <a:ea typeface="Calibri" pitchFamily="34" charset="-122"/>
                <a:cs typeface="Calibri" pitchFamily="34" charset="-120"/>
              </a:rPr>
              <a:t>The document agent reads text files; no scanned PDFs or OCR.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DLAS — Digital Legal Aid System</dc:title>
  <dc:subject>PptxGenJS Presentation</dc:subject>
  <dc:creator>PptxGenJS</dc:creator>
  <cp:lastModifiedBy>PptxGenJS</cp:lastModifiedBy>
  <cp:revision>1</cp:revision>
  <dcterms:created xsi:type="dcterms:W3CDTF">2026-09-26T22:06:17Z</dcterms:created>
  <dcterms:modified xsi:type="dcterms:W3CDTF">2026-09-26T22:06:17Z</dcterms:modified>
</cp:coreProperties>
</file>